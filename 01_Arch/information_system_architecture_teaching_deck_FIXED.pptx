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4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3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17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21792"/>
            <a:ext cx="1874519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50" b="1">
                <a:solidFill>
                  <a:srgbClr val="2F80ED"/>
                </a:solidFill>
                <a:latin typeface="Calibri"/>
              </a:defRPr>
            </a:pPr>
            <a:r>
              <a:t>TEACHING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5897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83153"/>
                </a:solidFill>
                <a:latin typeface="Calibri"/>
              </a:rPr>
              <a:t>Information Systems</a:t>
            </a:r>
          </a:p>
          <a:p>
            <a:r>
              <a:rPr sz="3000" b="1">
                <a:solidFill>
                  <a:srgbClr val="2F80ED"/>
                </a:solidFill>
                <a:latin typeface="Calibri"/>
              </a:rPr>
              <a:t>Components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17520"/>
            <a:ext cx="516636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2F80ED"/>
                </a:solidFill>
                <a:latin typeface="Calibri"/>
              </a:rPr>
              <a:t>• </a:t>
            </a:r>
            <a:r>
              <a:rPr sz="1400" b="1">
                <a:solidFill>
                  <a:srgbClr val="263238"/>
                </a:solidFill>
                <a:latin typeface="Calibri"/>
              </a:rPr>
              <a:t>Big picture:</a:t>
            </a:r>
            <a:r>
              <a:rPr sz="1400" b="0">
                <a:solidFill>
                  <a:srgbClr val="263238"/>
                </a:solidFill>
                <a:latin typeface="Calibri"/>
              </a:rPr>
              <a:t> how people, data, software, hardware, and networks work together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2F80ED"/>
                </a:solidFill>
                <a:latin typeface="Calibri"/>
              </a:rPr>
              <a:t>• </a:t>
            </a:r>
            <a:r>
              <a:rPr sz="1400" b="1">
                <a:solidFill>
                  <a:srgbClr val="263238"/>
                </a:solidFill>
                <a:latin typeface="Calibri"/>
              </a:rPr>
              <a:t>Modern architecture:</a:t>
            </a:r>
            <a:r>
              <a:rPr sz="1400" b="0">
                <a:solidFill>
                  <a:srgbClr val="263238"/>
                </a:solidFill>
                <a:latin typeface="Calibri"/>
              </a:rPr>
              <a:t> client, frontend, network, backend, server, and database</a:t>
            </a:r>
          </a:p>
          <a:p>
            <a:pPr algn="l">
              <a:spcAft>
                <a:spcPts val="100"/>
              </a:spcAft>
            </a:pPr>
            <a:r>
              <a:rPr sz="1400" b="1">
                <a:solidFill>
                  <a:srgbClr val="2F80ED"/>
                </a:solidFill>
                <a:latin typeface="Calibri"/>
              </a:rPr>
              <a:t>• </a:t>
            </a:r>
            <a:r>
              <a:rPr sz="1400" b="1">
                <a:solidFill>
                  <a:srgbClr val="263238"/>
                </a:solidFill>
                <a:latin typeface="Calibri"/>
              </a:rPr>
              <a:t>Practical lens:</a:t>
            </a:r>
            <a:r>
              <a:rPr sz="1400" b="0">
                <a:solidFill>
                  <a:srgbClr val="263238"/>
                </a:solidFill>
                <a:latin typeface="Calibri"/>
              </a:rPr>
              <a:t> browser, UI, CLI, apps, HTTP/TCP, programming, and algorithms</a:t>
            </a:r>
          </a:p>
        </p:txBody>
      </p:sp>
      <p:sp>
        <p:nvSpPr>
          <p:cNvPr id="9" name="Oval 8"/>
          <p:cNvSpPr/>
          <p:nvPr/>
        </p:nvSpPr>
        <p:spPr>
          <a:xfrm>
            <a:off x="8110727" y="2715768"/>
            <a:ext cx="1609344" cy="1609344"/>
          </a:xfrm>
          <a:prstGeom prst="ellipse">
            <a:avLst/>
          </a:prstGeom>
          <a:solidFill>
            <a:srgbClr val="183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200400"/>
            <a:ext cx="1188720" cy="6400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Information</a:t>
            </a:r>
            <a:br/>
            <a:r>
              <a:t>System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7616952" y="1581912"/>
            <a:ext cx="1298448" cy="1938528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60920" y="132588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1399032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0" y="1911095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People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915400" y="1490472"/>
            <a:ext cx="1261872" cy="2029968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921240" y="123444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oft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2" y="1307592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92640" y="1819656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Software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15400" y="3520440"/>
            <a:ext cx="1627632" cy="1170432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287000" y="443484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507992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5020055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Data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7662671" y="3520440"/>
            <a:ext cx="1252729" cy="1810512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406640" y="507492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9792" y="5148072"/>
            <a:ext cx="420624" cy="4206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178040" y="5660136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Network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6976872" y="3319272"/>
            <a:ext cx="1938528" cy="201168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720840" y="306324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3136392"/>
            <a:ext cx="420624" cy="4206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2240" y="3648456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Server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15400" y="3520440"/>
            <a:ext cx="713232" cy="2221992"/>
          </a:xfrm>
          <a:prstGeom prst="line">
            <a:avLst/>
          </a:prstGeom>
          <a:ln w="17780">
            <a:solidFill>
              <a:srgbClr val="B8C7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372600" y="5486400"/>
            <a:ext cx="566928" cy="56692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5752" y="5559552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144000" y="6071616"/>
            <a:ext cx="1024128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1">
                <a:solidFill>
                  <a:srgbClr val="183153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Learning map: the large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A simple mental model for connecting the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874519"/>
            <a:ext cx="1627632" cy="1298448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039112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664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Users / 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Need information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76856" y="2523744"/>
            <a:ext cx="219456" cy="0"/>
          </a:xfrm>
          <a:prstGeom prst="line">
            <a:avLst/>
          </a:prstGeom>
          <a:ln w="2794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423160" y="2450591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96896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60320" y="1874519"/>
            <a:ext cx="1627632" cy="1298448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2039112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79192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Client 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UI, CLI, browser, apps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15384" y="2523744"/>
            <a:ext cx="219456" cy="0"/>
          </a:xfrm>
          <a:prstGeom prst="line">
            <a:avLst/>
          </a:prstGeom>
          <a:ln w="2794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361688" y="2450591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35424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98848" y="1874519"/>
            <a:ext cx="1627632" cy="1298448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2039112"/>
            <a:ext cx="512064" cy="5120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17720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HTTP, TCP/IP, APIs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53912" y="2523744"/>
            <a:ext cx="219456" cy="0"/>
          </a:xfrm>
          <a:prstGeom prst="line">
            <a:avLst/>
          </a:prstGeom>
          <a:ln w="2794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300216" y="2450591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73952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1874519"/>
            <a:ext cx="1627632" cy="1298448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4304" y="2039112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56248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Server Side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Backend processing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92440" y="2523744"/>
            <a:ext cx="219456" cy="0"/>
          </a:xfrm>
          <a:prstGeom prst="line">
            <a:avLst/>
          </a:prstGeom>
          <a:ln w="2794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5400000">
            <a:off x="8238744" y="2450591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5904" y="1874519"/>
            <a:ext cx="1627632" cy="1298448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2832" y="2039112"/>
            <a:ext cx="512064" cy="5120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494776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85632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Databases, files, logs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030967" y="2523744"/>
            <a:ext cx="219457" cy="0"/>
          </a:xfrm>
          <a:prstGeom prst="line">
            <a:avLst/>
          </a:prstGeom>
          <a:ln w="2794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5400000">
            <a:off x="10177272" y="2450591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51008" y="1920239"/>
            <a:ext cx="162763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314432" y="1874519"/>
            <a:ext cx="1627632" cy="1298448"/>
          </a:xfrm>
          <a:prstGeom prst="roundRect">
            <a:avLst/>
          </a:prstGeom>
          <a:solidFill>
            <a:srgbClr val="FEEEEE"/>
          </a:solidFill>
          <a:ln w="1016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decis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0" y="2039112"/>
            <a:ext cx="512064" cy="51206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433304" y="2624327"/>
            <a:ext cx="1389888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2862072"/>
            <a:ext cx="140817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0">
                <a:solidFill>
                  <a:srgbClr val="667085"/>
                </a:solidFill>
                <a:latin typeface="Calibri"/>
              </a:defRPr>
            </a:pPr>
            <a:r>
              <a:t>Reports and decisions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6" y="4206240"/>
            <a:ext cx="10378440" cy="123444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14400" y="4160520"/>
            <a:ext cx="103784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234440" y="4498848"/>
            <a:ext cx="132588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80160" y="4562856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2F80ED"/>
                </a:solidFill>
                <a:latin typeface="Calibri"/>
              </a:defRPr>
            </a:pPr>
            <a:r>
              <a:t>Input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24328" y="4736592"/>
            <a:ext cx="457200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3008376" y="4663440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200400" y="4498848"/>
            <a:ext cx="132588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46120" y="4562856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00A6A6"/>
                </a:solidFill>
                <a:latin typeface="Calibri"/>
              </a:defRPr>
            </a:pPr>
            <a:r>
              <a:t>Processing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590288" y="4736592"/>
            <a:ext cx="457200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 rot="5400000">
            <a:off x="4974336" y="4663440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166360" y="4498848"/>
            <a:ext cx="132588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0" y="4562856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Storage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56248" y="4736592"/>
            <a:ext cx="457200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6940296" y="4663440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32319" y="4498848"/>
            <a:ext cx="132588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78039" y="4562856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2994A"/>
                </a:solidFill>
                <a:latin typeface="Calibri"/>
              </a:defRPr>
            </a:pPr>
            <a:r>
              <a:t>Output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522207" y="4736592"/>
            <a:ext cx="457200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Isosceles Triangle 64"/>
          <p:cNvSpPr/>
          <p:nvPr/>
        </p:nvSpPr>
        <p:spPr>
          <a:xfrm rot="5400000">
            <a:off x="8906255" y="4663440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98280" y="4498848"/>
            <a:ext cx="132588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0" y="4562856"/>
            <a:ext cx="1234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7B61FF"/>
                </a:solidFill>
                <a:latin typeface="Calibri"/>
              </a:defRPr>
            </a:pPr>
            <a:r>
              <a:t>Feedback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15568" y="5166360"/>
            <a:ext cx="9966960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0">
                <a:solidFill>
                  <a:srgbClr val="667085"/>
                </a:solidFill>
                <a:latin typeface="Calibri"/>
              </a:defRPr>
            </a:pPr>
            <a:r>
              <a:t>Core cycle: data enters, is processed, stored, delivered, and improved through feedback.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Major components of an information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These pieces work together; none is useful in isolation.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73352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627632"/>
            <a:ext cx="3063240" cy="1060704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8096" y="177393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1851660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80744" y="178308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2066543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Physical devices: computers, servers, routers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1673352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1627632"/>
            <a:ext cx="3063240" cy="1060704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98264" y="177393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oft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988" y="1851660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0912" y="178308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2066543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Programs, operating systems, enterprise 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18703" y="1673352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82127" y="1627632"/>
            <a:ext cx="3063240" cy="1060704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8431" y="177393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155" y="1851660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1080" y="178308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066543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Raw facts organized into useful information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136391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" y="3090672"/>
            <a:ext cx="3063240" cy="1060704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8096" y="323697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314700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80744" y="324612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People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Users, managers, analysts, IT specialists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8536" y="3136391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51960" y="3090672"/>
            <a:ext cx="3063240" cy="1060704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98264" y="323697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ro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3314700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10912" y="324612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Processes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10912" y="3529584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Rules, workflows, procedures, approvals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18703" y="3136391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82127" y="3090672"/>
            <a:ext cx="3063240" cy="1060704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28431" y="323697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netwo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6155" y="3314700"/>
            <a:ext cx="347472" cy="3474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41080" y="324612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529584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Internet, Wi-Fi, LAN, APIs, communication links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88536" y="4599432"/>
            <a:ext cx="3063240" cy="1060704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251960" y="4553712"/>
            <a:ext cx="3063240" cy="1060704"/>
          </a:xfrm>
          <a:prstGeom prst="roundRect">
            <a:avLst/>
          </a:prstGeom>
          <a:solidFill>
            <a:srgbClr val="FEEEEE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98264" y="4700016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ecur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5988" y="4777740"/>
            <a:ext cx="347472" cy="34747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010912" y="4709160"/>
            <a:ext cx="219456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10912" y="4992624"/>
            <a:ext cx="2194560" cy="557783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40" b="0">
                <a:solidFill>
                  <a:srgbClr val="667085"/>
                </a:solidFill>
                <a:latin typeface="Calibri"/>
              </a:defRPr>
            </a:pPr>
            <a:r>
              <a:t>Access control, encryption, backups, audit logs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83153"/>
                </a:solidFill>
                <a:latin typeface="Calibri"/>
              </a:defRPr>
            </a:pPr>
            <a:r>
              <a:t>Useful information emerges when components are coordinated.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Common architecture: layered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A three-tier model plus network communication.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" y="1645920"/>
            <a:ext cx="4709160" cy="868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4709160" cy="868680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73936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81912" y="1755648"/>
            <a:ext cx="37490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Presentation Layer /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39112"/>
            <a:ext cx="37490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libri"/>
              </a:defRPr>
            </a:pPr>
            <a:r>
              <a:t>UI, CLI, browser, mobile app, desktop app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31820" y="2496312"/>
            <a:ext cx="0" cy="146303"/>
          </a:xfrm>
          <a:prstGeom prst="line">
            <a:avLst/>
          </a:prstGeom>
          <a:ln w="22860">
            <a:solidFill>
              <a:srgbClr val="9EA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3058668" y="2569463"/>
            <a:ext cx="146304" cy="146304"/>
          </a:xfrm>
          <a:prstGeom prst="triangle">
            <a:avLst/>
          </a:prstGeom>
          <a:solidFill>
            <a:srgbClr val="9EA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" y="2724911"/>
            <a:ext cx="4709160" cy="868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679191"/>
            <a:ext cx="4709160" cy="868680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52927"/>
            <a:ext cx="475488" cy="4754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81912" y="2834639"/>
            <a:ext cx="37490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Network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118103"/>
            <a:ext cx="37490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libri"/>
              </a:defRPr>
            </a:pPr>
            <a:r>
              <a:t>HTTP/HTTPS, TCP/IP, APIs, internet/LAN/Wi-Fi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31820" y="3575303"/>
            <a:ext cx="0" cy="146304"/>
          </a:xfrm>
          <a:prstGeom prst="line">
            <a:avLst/>
          </a:prstGeom>
          <a:ln w="22860">
            <a:solidFill>
              <a:srgbClr val="9EA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3058668" y="3648455"/>
            <a:ext cx="146304" cy="146304"/>
          </a:xfrm>
          <a:prstGeom prst="triangle">
            <a:avLst/>
          </a:prstGeom>
          <a:solidFill>
            <a:srgbClr val="9EA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" y="3803903"/>
            <a:ext cx="4709160" cy="868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758183"/>
            <a:ext cx="4709160" cy="868680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ack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3192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81912" y="3913631"/>
            <a:ext cx="37490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Application Layer / 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197096"/>
            <a:ext cx="37490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libri"/>
              </a:defRPr>
            </a:pPr>
            <a:r>
              <a:t>Business logic, programs, algorithms, authentication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31820" y="4654296"/>
            <a:ext cx="0" cy="146303"/>
          </a:xfrm>
          <a:prstGeom prst="line">
            <a:avLst/>
          </a:prstGeom>
          <a:ln w="22860">
            <a:solidFill>
              <a:srgbClr val="9EA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0800000">
            <a:off x="3058668" y="4727447"/>
            <a:ext cx="146304" cy="146304"/>
          </a:xfrm>
          <a:prstGeom prst="triangle">
            <a:avLst/>
          </a:prstGeom>
          <a:solidFill>
            <a:srgbClr val="9EA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6" y="4882896"/>
            <a:ext cx="4709160" cy="868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4837176"/>
            <a:ext cx="4709160" cy="868680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010912"/>
            <a:ext cx="475488" cy="4754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81912" y="4992624"/>
            <a:ext cx="37490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81912" y="5276088"/>
            <a:ext cx="37490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libri"/>
              </a:defRPr>
            </a:pPr>
            <a:r>
              <a:t>Database, files, cloud storage, data warehouse, logs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37376" y="1691640"/>
            <a:ext cx="4937760" cy="43434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1883664"/>
            <a:ext cx="4297680" cy="3200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600" b="1">
                <a:solidFill>
                  <a:srgbClr val="183153"/>
                </a:solidFill>
                <a:latin typeface="Calibri"/>
              </a:defRPr>
            </a:pPr>
            <a:r>
              <a:t>Layer responsibilities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12280" y="2514600"/>
            <a:ext cx="132588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2F80ED"/>
                </a:solidFill>
                <a:latin typeface="Calibri"/>
              </a:defRPr>
            </a:pPr>
            <a:r>
              <a:t>Frontend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47888" y="2660904"/>
            <a:ext cx="365760" cy="0"/>
          </a:xfrm>
          <a:prstGeom prst="line">
            <a:avLst/>
          </a:prstGeom>
          <a:ln w="19050">
            <a:solidFill>
              <a:srgbClr val="B6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8540496" y="2587752"/>
            <a:ext cx="146304" cy="146304"/>
          </a:xfrm>
          <a:prstGeom prst="triangle">
            <a:avLst/>
          </a:prstGeom>
          <a:solidFill>
            <a:srgbClr val="B6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2505456"/>
            <a:ext cx="210312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30" b="0">
                <a:solidFill>
                  <a:srgbClr val="263238"/>
                </a:solidFill>
                <a:latin typeface="Calibri"/>
              </a:defRPr>
            </a:pPr>
            <a:r>
              <a:t>collects input + shows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12280" y="3172968"/>
            <a:ext cx="132588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00A6A6"/>
                </a:solidFill>
                <a:latin typeface="Calibri"/>
              </a:defRPr>
            </a:pPr>
            <a:r>
              <a:t>Network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247888" y="3319272"/>
            <a:ext cx="365760" cy="0"/>
          </a:xfrm>
          <a:prstGeom prst="line">
            <a:avLst/>
          </a:prstGeom>
          <a:ln w="19050">
            <a:solidFill>
              <a:srgbClr val="B6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8540496" y="3246120"/>
            <a:ext cx="146304" cy="146304"/>
          </a:xfrm>
          <a:prstGeom prst="triangle">
            <a:avLst/>
          </a:prstGeom>
          <a:solidFill>
            <a:srgbClr val="B6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3163824"/>
            <a:ext cx="210312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30" b="0">
                <a:solidFill>
                  <a:srgbClr val="263238"/>
                </a:solidFill>
                <a:latin typeface="Calibri"/>
              </a:defRPr>
            </a:pPr>
            <a:r>
              <a:t>moves requests + responses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3831335"/>
            <a:ext cx="132588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7B61FF"/>
                </a:solidFill>
                <a:latin typeface="Calibri"/>
              </a:defRPr>
            </a:pPr>
            <a:r>
              <a:t>Backend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247888" y="3977639"/>
            <a:ext cx="365760" cy="0"/>
          </a:xfrm>
          <a:prstGeom prst="line">
            <a:avLst/>
          </a:prstGeom>
          <a:ln w="19050">
            <a:solidFill>
              <a:srgbClr val="B6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8540496" y="3904487"/>
            <a:ext cx="146304" cy="146304"/>
          </a:xfrm>
          <a:prstGeom prst="triangle">
            <a:avLst/>
          </a:prstGeom>
          <a:solidFill>
            <a:srgbClr val="B6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32520" y="3822191"/>
            <a:ext cx="210312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30" b="0">
                <a:solidFill>
                  <a:srgbClr val="263238"/>
                </a:solidFill>
                <a:latin typeface="Calibri"/>
              </a:defRPr>
            </a:pPr>
            <a:r>
              <a:t>applies rules + runs algorithms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12280" y="4489704"/>
            <a:ext cx="132588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27AE60"/>
                </a:solidFill>
                <a:latin typeface="Calibri"/>
              </a:defRPr>
            </a:pPr>
            <a:r>
              <a:t>Data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47888" y="4636008"/>
            <a:ext cx="365760" cy="0"/>
          </a:xfrm>
          <a:prstGeom prst="line">
            <a:avLst/>
          </a:prstGeom>
          <a:ln w="19050">
            <a:solidFill>
              <a:srgbClr val="B6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8540496" y="4562856"/>
            <a:ext cx="146304" cy="146304"/>
          </a:xfrm>
          <a:prstGeom prst="triangle">
            <a:avLst/>
          </a:prstGeom>
          <a:solidFill>
            <a:srgbClr val="B6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32520" y="4480560"/>
            <a:ext cx="210312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30" b="0">
                <a:solidFill>
                  <a:srgbClr val="263238"/>
                </a:solidFill>
                <a:latin typeface="Calibri"/>
              </a:defRPr>
            </a:pPr>
            <a:r>
              <a:t>stores facts + history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5440680"/>
            <a:ext cx="4114800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0">
                <a:solidFill>
                  <a:srgbClr val="667085"/>
                </a:solidFill>
                <a:latin typeface="Calibri"/>
              </a:defRPr>
            </a:pPr>
            <a:r>
              <a:t>Most real systems use variations of this model.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CLIENT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Client side: where users interact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A client is any tool that sends requests and displays responses.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709928"/>
            <a:ext cx="4709160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4709160" cy="1417320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1810512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1888236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2184" y="1819656"/>
            <a:ext cx="38404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2103120"/>
            <a:ext cx="3840480" cy="9144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  <a:latin typeface="Calibri"/>
              </a:defRPr>
            </a:pPr>
            <a:r>
              <a:t>Visual interface: buttons, forms, menus,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709928"/>
            <a:ext cx="4709160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664208"/>
            <a:ext cx="4709160" cy="1417320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45936" y="1810512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888236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58584" y="1819656"/>
            <a:ext cx="38404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2103120"/>
            <a:ext cx="3840480" cy="9144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  <a:latin typeface="Calibri"/>
              </a:defRPr>
            </a:pPr>
            <a:r>
              <a:t>Text interface: commands, scripts, automation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67328"/>
            <a:ext cx="4709160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3721608"/>
            <a:ext cx="4709160" cy="1417320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867912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ow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3945636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72184" y="3877056"/>
            <a:ext cx="38404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Browser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160520"/>
            <a:ext cx="3840480" cy="9144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  <a:latin typeface="Calibri"/>
              </a:defRPr>
            </a:pPr>
            <a:r>
              <a:t>Web client: Chrome, Edge, Safari, Firefox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3767328"/>
            <a:ext cx="4709160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99632" y="3721608"/>
            <a:ext cx="4709160" cy="1417320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45936" y="3867912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p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3945636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958584" y="3877056"/>
            <a:ext cx="38404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Apps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58584" y="4160520"/>
            <a:ext cx="3840480" cy="9144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  <a:latin typeface="Calibri"/>
              </a:defRPr>
            </a:pPr>
            <a:r>
              <a:t>Mobile or desktop software installed by users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48256" y="5559552"/>
            <a:ext cx="8183879" cy="6858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11680" y="5513832"/>
            <a:ext cx="8183879" cy="685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5669280"/>
            <a:ext cx="7543800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83153"/>
                </a:solidFill>
                <a:latin typeface="Calibri"/>
              </a:defRPr>
            </a:pPr>
            <a:r>
              <a:t>Different clients can use the same backend and data layer.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CLIENT/SERVER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Server/client model: request and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The client asks; the server processes; the client receives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874519"/>
            <a:ext cx="2468880" cy="265176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2468880" cy="2651760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121408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3081528"/>
            <a:ext cx="201168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183153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20440"/>
            <a:ext cx="201168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Runs UI/CLI:</a:t>
            </a:r>
            <a:r>
              <a:rPr sz="1080" b="0">
                <a:solidFill>
                  <a:srgbClr val="263238"/>
                </a:solidFill>
                <a:latin typeface="Calibri"/>
              </a:rPr>
              <a:t> captures user actions</a:t>
            </a:r>
          </a:p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Sends requests:</a:t>
            </a:r>
            <a:r>
              <a:rPr sz="1080" b="0">
                <a:solidFill>
                  <a:srgbClr val="263238"/>
                </a:solidFill>
                <a:latin typeface="Calibri"/>
              </a:rPr>
              <a:t> asks server for work</a:t>
            </a:r>
          </a:p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Displays responses:</a:t>
            </a:r>
            <a:r>
              <a:rPr sz="1080" b="0">
                <a:solidFill>
                  <a:srgbClr val="263238"/>
                </a:solidFill>
                <a:latin typeface="Calibri"/>
              </a:rPr>
              <a:t> shows 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8" y="2103120"/>
            <a:ext cx="3520440" cy="219456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96512" y="2057400"/>
            <a:ext cx="352044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t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395728"/>
            <a:ext cx="576072" cy="576072"/>
          </a:xfrm>
          <a:prstGeom prst="rect">
            <a:avLst/>
          </a:prstGeom>
        </p:spPr>
      </p:pic>
      <p:pic>
        <p:nvPicPr>
          <p:cNvPr id="16" name="Picture 15" descr="t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395728"/>
            <a:ext cx="576072" cy="5760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3035808"/>
            <a:ext cx="1298448" cy="23774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2F80ED"/>
                </a:solidFill>
                <a:latin typeface="Calibri"/>
              </a:defRPr>
            </a:pPr>
            <a:r>
              <a:t>HTTP/HTTPS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035808"/>
            <a:ext cx="1051560" cy="23774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00A6A6"/>
                </a:solidFill>
                <a:latin typeface="Calibri"/>
              </a:defRPr>
            </a:pPr>
            <a:r>
              <a:t>TCP/IP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584448"/>
            <a:ext cx="274320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83153"/>
                </a:solidFill>
                <a:latin typeface="Calibri"/>
              </a:defRPr>
            </a:pPr>
            <a:r>
              <a:t>Network communication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36976" y="2761488"/>
            <a:ext cx="804672" cy="0"/>
          </a:xfrm>
          <a:prstGeom prst="line">
            <a:avLst/>
          </a:prstGeom>
          <a:ln w="3048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968496" y="2688336"/>
            <a:ext cx="146304" cy="146304"/>
          </a:xfrm>
          <a:prstGeom prst="triangle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3264408" y="3584448"/>
            <a:ext cx="4379975" cy="0"/>
          </a:xfrm>
          <a:prstGeom prst="line">
            <a:avLst/>
          </a:prstGeom>
          <a:ln w="21590">
            <a:solidFill>
              <a:srgbClr val="B6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3191256" y="3511296"/>
            <a:ext cx="146304" cy="146304"/>
          </a:xfrm>
          <a:prstGeom prst="triangle">
            <a:avLst/>
          </a:prstGeom>
          <a:solidFill>
            <a:srgbClr val="B6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6704" y="2432304"/>
            <a:ext cx="59436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1">
                <a:solidFill>
                  <a:srgbClr val="2F80ED"/>
                </a:solidFill>
                <a:latin typeface="Calibri"/>
              </a:defRPr>
            </a:pPr>
            <a: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675887"/>
            <a:ext cx="91440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50" b="1">
                <a:solidFill>
                  <a:srgbClr val="667085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4776" y="1874519"/>
            <a:ext cx="2697480" cy="265176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58200" y="1828800"/>
            <a:ext cx="2697480" cy="2651760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121408"/>
            <a:ext cx="822960" cy="8229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41664" y="3081528"/>
            <a:ext cx="2130552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183153"/>
                </a:solidFill>
                <a:latin typeface="Calibri"/>
              </a:defRPr>
            </a:pPr>
            <a:r>
              <a:t>Server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520440"/>
            <a:ext cx="2084831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Receives requests:</a:t>
            </a:r>
            <a:r>
              <a:rPr sz="1080" b="0">
                <a:solidFill>
                  <a:srgbClr val="263238"/>
                </a:solidFill>
                <a:latin typeface="Calibri"/>
              </a:rPr>
              <a:t> from many clients</a:t>
            </a:r>
          </a:p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Runs backend:</a:t>
            </a:r>
            <a:r>
              <a:rPr sz="1080" b="0">
                <a:solidFill>
                  <a:srgbClr val="263238"/>
                </a:solidFill>
                <a:latin typeface="Calibri"/>
              </a:rPr>
              <a:t> logic + algorithms</a:t>
            </a:r>
          </a:p>
          <a:p>
            <a:pPr algn="l">
              <a:spcAft>
                <a:spcPts val="100"/>
              </a:spcAft>
            </a:pPr>
            <a:r>
              <a:rPr sz="1080" b="1">
                <a:solidFill>
                  <a:srgbClr val="2F80ED"/>
                </a:solidFill>
                <a:latin typeface="Calibri"/>
              </a:rPr>
              <a:t>• </a:t>
            </a:r>
            <a:r>
              <a:rPr sz="1080" b="1">
                <a:solidFill>
                  <a:srgbClr val="263238"/>
                </a:solidFill>
                <a:latin typeface="Calibri"/>
              </a:rPr>
              <a:t>Returns responses:</a:t>
            </a:r>
            <a:r>
              <a:rPr sz="1080" b="0">
                <a:solidFill>
                  <a:srgbClr val="263238"/>
                </a:solidFill>
                <a:latin typeface="Calibri"/>
              </a:rPr>
              <a:t> data, page,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Communication: HTTP, TCP/IP, and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Protocols define how systems exchange messages reliably and securely.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37360"/>
            <a:ext cx="4754880" cy="4297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4754880" cy="4297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4206240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600" b="1">
                <a:solidFill>
                  <a:srgbClr val="183153"/>
                </a:solidFill>
                <a:latin typeface="Calibri"/>
              </a:defRPr>
            </a:pPr>
            <a:r>
              <a:t>Protocol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514600"/>
            <a:ext cx="3977639" cy="694944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t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2633472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5648" y="2615184"/>
            <a:ext cx="109728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60" b="1">
                <a:solidFill>
                  <a:srgbClr val="183153"/>
                </a:solidFill>
                <a:latin typeface="Calibri"/>
              </a:defRPr>
            </a:pPr>
            <a:r>
              <a:t>HTTP /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624328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0" b="0">
                <a:solidFill>
                  <a:srgbClr val="667085"/>
                </a:solidFill>
                <a:latin typeface="Calibri"/>
              </a:defRPr>
            </a:pPr>
            <a:r>
              <a:t>User wants a page, data, login, or action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27248" y="3227832"/>
            <a:ext cx="0" cy="219456"/>
          </a:xfrm>
          <a:prstGeom prst="line">
            <a:avLst/>
          </a:prstGeom>
          <a:ln w="1778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3054096" y="3374136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43000" y="3474720"/>
            <a:ext cx="3977639" cy="694944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92" y="3593591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5648" y="3575303"/>
            <a:ext cx="109728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60" b="1">
                <a:solidFill>
                  <a:srgbClr val="183153"/>
                </a:solidFill>
                <a:latin typeface="Calibri"/>
              </a:defRPr>
            </a:pPr>
            <a:r>
              <a:t>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584448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0" b="0">
                <a:solidFill>
                  <a:srgbClr val="667085"/>
                </a:solidFill>
                <a:latin typeface="Calibri"/>
              </a:defRPr>
            </a:pPr>
            <a:r>
              <a:t>Defined endpoints between apps and servers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27248" y="4187952"/>
            <a:ext cx="0" cy="219456"/>
          </a:xfrm>
          <a:prstGeom prst="line">
            <a:avLst/>
          </a:prstGeom>
          <a:ln w="1778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3054096" y="4334256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4434840"/>
            <a:ext cx="3977639" cy="694944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4553712"/>
            <a:ext cx="384048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535424"/>
            <a:ext cx="109728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260" b="1">
                <a:solidFill>
                  <a:srgbClr val="183153"/>
                </a:solidFill>
                <a:latin typeface="Calibri"/>
              </a:defRPr>
            </a:pPr>
            <a:r>
              <a:t>TCP/IP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544568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0" b="0">
                <a:solidFill>
                  <a:srgbClr val="667085"/>
                </a:solidFill>
                <a:latin typeface="Calibri"/>
              </a:defRPr>
            </a:pPr>
            <a:r>
              <a:t>Packets move across networks and arrive reliably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1737360"/>
            <a:ext cx="5257800" cy="429768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17920" y="1691640"/>
            <a:ext cx="5257800" cy="4297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920240"/>
            <a:ext cx="4480560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600" b="1">
                <a:solidFill>
                  <a:srgbClr val="183153"/>
                </a:solidFill>
                <a:latin typeface="Calibri"/>
              </a:defRPr>
            </a:pPr>
            <a:r>
              <a:t>Example web exchange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2514600"/>
            <a:ext cx="4343400" cy="713232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2715768"/>
            <a:ext cx="38404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50" b="1">
                <a:solidFill>
                  <a:srgbClr val="183153"/>
                </a:solidFill>
                <a:latin typeface="Calibri"/>
              </a:defRPr>
            </a:pPr>
            <a:r>
              <a:t>Request: GET /products/42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15400" y="3255264"/>
            <a:ext cx="0" cy="448056"/>
          </a:xfrm>
          <a:prstGeom prst="line">
            <a:avLst/>
          </a:prstGeom>
          <a:ln w="2032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8842248" y="3630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720840" y="3703320"/>
            <a:ext cx="4343400" cy="713232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3904487"/>
            <a:ext cx="38404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183153"/>
                </a:solidFill>
                <a:latin typeface="Calibri"/>
              </a:defRPr>
            </a:pPr>
            <a:r>
              <a:t>Backend: validate -&gt; compute -&gt; query data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915400" y="4443984"/>
            <a:ext cx="0" cy="448056"/>
          </a:xfrm>
          <a:prstGeom prst="line">
            <a:avLst/>
          </a:prstGeom>
          <a:ln w="2032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8842248" y="481888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720840" y="4892040"/>
            <a:ext cx="4343400" cy="713232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31152" y="5093208"/>
            <a:ext cx="38404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183153"/>
                </a:solidFill>
                <a:latin typeface="Calibri"/>
              </a:defRPr>
            </a:pPr>
            <a:r>
              <a:t>Response: product details + status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5724144"/>
            <a:ext cx="448056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070" b="0">
                <a:solidFill>
                  <a:srgbClr val="667085"/>
                </a:solidFill>
                <a:latin typeface="Calibri"/>
              </a:defRPr>
            </a:pPr>
            <a:r>
              <a:t>HTTPS adds encryption and identity protection around HTTP.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Backend: programming, algorithms, and business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Backend code turns requests into trusted 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2011679"/>
            <a:ext cx="1874519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965960"/>
            <a:ext cx="1874519" cy="1417320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2148840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1832" y="2807208"/>
            <a:ext cx="1508760" cy="3931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83153"/>
                </a:solidFill>
                <a:latin typeface="Calibri"/>
              </a:defRPr>
            </a:pPr>
            <a:r>
              <a:t>Receive</a:t>
            </a:r>
            <a:br/>
            <a:r>
              <a:t>request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88336" y="2679191"/>
            <a:ext cx="310896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2926079" y="2606039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27248" y="2011679"/>
            <a:ext cx="1874519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90672" y="1965960"/>
            <a:ext cx="1874519" cy="1417320"/>
          </a:xfrm>
          <a:prstGeom prst="roundRect">
            <a:avLst/>
          </a:prstGeom>
          <a:solidFill>
            <a:srgbClr val="FEEEEE"/>
          </a:solidFill>
          <a:ln w="1016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u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2148840"/>
            <a:ext cx="530352" cy="5303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3552" y="2807208"/>
            <a:ext cx="1508760" cy="3931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83153"/>
                </a:solidFill>
                <a:latin typeface="Calibri"/>
              </a:defRPr>
            </a:pPr>
            <a:r>
              <a:t>Authenticate</a:t>
            </a:r>
            <a:br/>
            <a:r>
              <a:t>user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0055" y="2679191"/>
            <a:ext cx="310897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5257800" y="2606039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58968" y="2011679"/>
            <a:ext cx="1874519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22392" y="1965960"/>
            <a:ext cx="1874519" cy="1417320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gorith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59" y="2148840"/>
            <a:ext cx="530352" cy="5303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05272" y="2807208"/>
            <a:ext cx="1508760" cy="3931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83153"/>
                </a:solidFill>
                <a:latin typeface="Calibri"/>
              </a:defRPr>
            </a:pPr>
            <a:r>
              <a:t>Run</a:t>
            </a:r>
            <a:br/>
            <a:r>
              <a:t>algorithm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51775" y="2679191"/>
            <a:ext cx="310897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7589520" y="2606039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7" y="2011679"/>
            <a:ext cx="1874519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54111" y="1965960"/>
            <a:ext cx="1874519" cy="1417320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148840"/>
            <a:ext cx="530352" cy="5303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36991" y="2807208"/>
            <a:ext cx="1508760" cy="3931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83153"/>
                </a:solidFill>
                <a:latin typeface="Calibri"/>
              </a:defRPr>
            </a:pPr>
            <a:r>
              <a:t>Read/write</a:t>
            </a:r>
            <a:br/>
            <a:r>
              <a:t>data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83495" y="2679191"/>
            <a:ext cx="310896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9921239" y="2606039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22407" y="2011679"/>
            <a:ext cx="1874519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1965960"/>
            <a:ext cx="1874519" cy="1417320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utp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4200" y="2148840"/>
            <a:ext cx="530352" cy="5303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268711" y="2807208"/>
            <a:ext cx="1508760" cy="3931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83153"/>
                </a:solidFill>
                <a:latin typeface="Calibri"/>
              </a:defRPr>
            </a:pPr>
            <a:r>
              <a:t>Return</a:t>
            </a:r>
            <a:br/>
            <a:r>
              <a:t>response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6" y="4416552"/>
            <a:ext cx="3246120" cy="11430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370832"/>
            <a:ext cx="3246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rogramm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617720"/>
            <a:ext cx="502920" cy="502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83080" y="4553712"/>
            <a:ext cx="205740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83153"/>
                </a:solidFill>
                <a:latin typeface="Calibri"/>
              </a:defRPr>
            </a:pPr>
            <a:r>
              <a:t>Programming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4892040"/>
            <a:ext cx="2057400" cy="38404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  <a:latin typeface="Calibri"/>
              </a:defRPr>
            </a:pPr>
            <a:r>
              <a:t>Writing instructions that tell the system what to 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62856" y="4416552"/>
            <a:ext cx="3246120" cy="11430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26280" y="4370832"/>
            <a:ext cx="3246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algorith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461772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94960" y="4553712"/>
            <a:ext cx="205740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83153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4892040"/>
            <a:ext cx="2057400" cy="38404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  <a:latin typeface="Calibri"/>
              </a:defRPr>
            </a:pPr>
            <a:r>
              <a:t>Step-by-step method for solving a problem.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74736" y="4416552"/>
            <a:ext cx="3246120" cy="11430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60" y="4370832"/>
            <a:ext cx="3246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acke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4617720"/>
            <a:ext cx="502920" cy="502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4553712"/>
            <a:ext cx="205740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83153"/>
                </a:solidFill>
                <a:latin typeface="Calibri"/>
              </a:defRPr>
            </a:pPr>
            <a:r>
              <a:t>Business logic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4892040"/>
            <a:ext cx="2057400" cy="38404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  <a:latin typeface="Calibri"/>
              </a:defRPr>
            </a:pPr>
            <a:r>
              <a:t>Rules for prices, approvals, inventory, and workflows.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Data layer: memory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Data stores keep facts, history, transactions, and evidence.</a:t>
            </a:r>
          </a:p>
        </p:txBody>
      </p:sp>
      <p:sp>
        <p:nvSpPr>
          <p:cNvPr id="8" name="Oval 7"/>
          <p:cNvSpPr/>
          <p:nvPr/>
        </p:nvSpPr>
        <p:spPr>
          <a:xfrm>
            <a:off x="5257800" y="2606040"/>
            <a:ext cx="1645920" cy="1645920"/>
          </a:xfrm>
          <a:prstGeom prst="ellipse">
            <a:avLst/>
          </a:prstGeom>
          <a:solidFill>
            <a:srgbClr val="183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2862072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0408" y="3502152"/>
            <a:ext cx="1060704" cy="4572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Layer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2971800" y="2377440"/>
            <a:ext cx="3108960" cy="105156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65376" y="1874519"/>
            <a:ext cx="2468880" cy="107899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1828800"/>
            <a:ext cx="2468880" cy="1078992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75104" y="197510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828" y="2052828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1984248"/>
            <a:ext cx="160020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267712"/>
            <a:ext cx="1600200" cy="57607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Calibri"/>
              </a:defRPr>
            </a:pPr>
            <a:r>
              <a:t>structured records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080760" y="2377440"/>
            <a:ext cx="3886200" cy="105156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0536" y="1874519"/>
            <a:ext cx="2468880" cy="107899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3960" y="1828800"/>
            <a:ext cx="2468880" cy="1078992"/>
          </a:xfrm>
          <a:prstGeom prst="roundRect">
            <a:avLst/>
          </a:prstGeom>
          <a:solidFill>
            <a:srgbClr val="E7F8FE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70264" y="197510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988" y="2052828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82912" y="1984248"/>
            <a:ext cx="160020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Cloud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267712"/>
            <a:ext cx="1600200" cy="57607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Calibri"/>
              </a:defRPr>
            </a:pPr>
            <a:r>
              <a:t>large objects + backups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971800" y="3429000"/>
            <a:ext cx="3108960" cy="169164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65376" y="4617720"/>
            <a:ext cx="2468880" cy="107899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828800" y="4572000"/>
            <a:ext cx="2468880" cy="1078992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75104" y="471830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828" y="4796028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587752" y="4727448"/>
            <a:ext cx="160020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Data warehouse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7752" y="5010912"/>
            <a:ext cx="1600200" cy="57607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Calibri"/>
              </a:defRPr>
            </a:pPr>
            <a:r>
              <a:t>analytics + history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0760" y="3429000"/>
            <a:ext cx="3886200" cy="169164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60536" y="4617720"/>
            <a:ext cx="2468880" cy="107899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23960" y="4572000"/>
            <a:ext cx="2468880" cy="1078992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970264" y="471830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tw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7988" y="4796028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582912" y="4727448"/>
            <a:ext cx="160020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Logs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5010912"/>
            <a:ext cx="1600200" cy="57607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Calibri"/>
              </a:defRPr>
            </a:pPr>
            <a:r>
              <a:t>events + audit trails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50208" y="5486400"/>
            <a:ext cx="4343400" cy="56692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913632" y="5440680"/>
            <a:ext cx="434340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393192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80" b="1">
                <a:solidFill>
                  <a:srgbClr val="183153"/>
                </a:solidFill>
                <a:latin typeface="Calibri"/>
              </a:defRPr>
            </a:pPr>
            <a:r>
              <a:t>Create - Read - Update - Delete  |  Backup - Restore - Audit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FRONTEND/BACKEND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Frontend and backend: what users see vs. what systems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A useful distinction for designing, troubleshooting, and explaining systems.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09928"/>
            <a:ext cx="4983480" cy="448056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4983480" cy="4480560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83096" y="1709928"/>
            <a:ext cx="4983480" cy="448056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664208"/>
            <a:ext cx="4983480" cy="4480560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38528"/>
            <a:ext cx="658368" cy="658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1993392"/>
            <a:ext cx="3383280" cy="34747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2000" b="1">
                <a:solidFill>
                  <a:srgbClr val="183153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788920"/>
            <a:ext cx="4389120" cy="12801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User-facing:</a:t>
            </a:r>
            <a:r>
              <a:rPr sz="1300" b="0">
                <a:solidFill>
                  <a:srgbClr val="263238"/>
                </a:solidFill>
                <a:latin typeface="Calibri"/>
              </a:rPr>
              <a:t> screens, forms, buttons, commands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Runs in:</a:t>
            </a:r>
            <a:r>
              <a:rPr sz="1300" b="0">
                <a:solidFill>
                  <a:srgbClr val="263238"/>
                </a:solidFill>
                <a:latin typeface="Calibri"/>
              </a:rPr>
              <a:t> browser, mobile app, desktop app, terminal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Main job:</a:t>
            </a:r>
            <a:r>
              <a:rPr sz="1300" b="0">
                <a:solidFill>
                  <a:srgbClr val="263238"/>
                </a:solidFill>
                <a:latin typeface="Calibri"/>
              </a:rPr>
              <a:t> collect input and present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5001768"/>
            <a:ext cx="411480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F80ED"/>
                </a:solidFill>
                <a:latin typeface="Calibri"/>
              </a:defRPr>
            </a:pPr>
            <a:r>
              <a:t>UI / CLI / Browser / Apps</a:t>
            </a:r>
          </a:p>
        </p:txBody>
      </p:sp>
      <p:pic>
        <p:nvPicPr>
          <p:cNvPr id="16" name="Picture 15" descr="back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938528"/>
            <a:ext cx="658368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79792" y="1993392"/>
            <a:ext cx="3383280" cy="34747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2000" b="1">
                <a:solidFill>
                  <a:srgbClr val="183153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2" y="2788920"/>
            <a:ext cx="4389120" cy="12801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System-facing:</a:t>
            </a:r>
            <a:r>
              <a:rPr sz="1300" b="0">
                <a:solidFill>
                  <a:srgbClr val="263238"/>
                </a:solidFill>
                <a:latin typeface="Calibri"/>
              </a:rPr>
              <a:t> servers, code, APIs, services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Runs on:</a:t>
            </a:r>
            <a:r>
              <a:rPr sz="1300" b="0">
                <a:solidFill>
                  <a:srgbClr val="263238"/>
                </a:solidFill>
                <a:latin typeface="Calibri"/>
              </a:rPr>
              <a:t> server infrastructure or cloud platform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2F80ED"/>
                </a:solidFill>
                <a:latin typeface="Calibri"/>
              </a:rPr>
              <a:t>• </a:t>
            </a:r>
            <a:r>
              <a:rPr sz="1300" b="1">
                <a:solidFill>
                  <a:srgbClr val="263238"/>
                </a:solidFill>
                <a:latin typeface="Calibri"/>
              </a:rPr>
              <a:t>Main job:</a:t>
            </a:r>
            <a:r>
              <a:rPr sz="1300" b="0">
                <a:solidFill>
                  <a:srgbClr val="263238"/>
                </a:solidFill>
                <a:latin typeface="Calibri"/>
              </a:rPr>
              <a:t> enforce rules and process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93992" y="5001768"/>
            <a:ext cx="4114800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61FF"/>
                </a:solidFill>
                <a:latin typeface="Calibri"/>
              </a:defRPr>
            </a:pPr>
            <a:r>
              <a:t>Server / APIs / Algorithms / Database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88152" y="3063240"/>
            <a:ext cx="566928" cy="0"/>
          </a:xfrm>
          <a:prstGeom prst="line">
            <a:avLst/>
          </a:prstGeom>
          <a:ln w="2794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281928" y="2990088"/>
            <a:ext cx="146304" cy="146304"/>
          </a:xfrm>
          <a:prstGeom prst="triangle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5833872" y="3794760"/>
            <a:ext cx="566928" cy="0"/>
          </a:xfrm>
          <a:prstGeom prst="line">
            <a:avLst/>
          </a:prstGeom>
          <a:ln w="2286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5760720" y="372160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2779776"/>
            <a:ext cx="822960" cy="1645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880" b="1">
                <a:solidFill>
                  <a:srgbClr val="2F80ED"/>
                </a:solidFill>
                <a:latin typeface="Calibri"/>
              </a:defRPr>
            </a:pPr>
            <a: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41848" y="3913632"/>
            <a:ext cx="914400" cy="16459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880" b="1">
                <a:solidFill>
                  <a:srgbClr val="667085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Example: online shopping information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Follow one customer action through the whole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01952"/>
            <a:ext cx="1673352" cy="1298448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066544"/>
            <a:ext cx="484632" cy="484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chooses item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2560320"/>
            <a:ext cx="173736" cy="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285999" y="2487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0591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14015" y="1901952"/>
            <a:ext cx="1673352" cy="1298448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99" y="2066544"/>
            <a:ext cx="484632" cy="4846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2887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App / 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clicks Buy Now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6511" y="2560320"/>
            <a:ext cx="173737" cy="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197096" y="2487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61688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25112" y="1901952"/>
            <a:ext cx="1673352" cy="1298448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htt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066544"/>
            <a:ext cx="484632" cy="4846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443983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HTTPS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sent over TCP/IP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07607" y="2560320"/>
            <a:ext cx="173737" cy="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108192" y="2487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2783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6207" y="1901952"/>
            <a:ext cx="1673352" cy="1298448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066544"/>
            <a:ext cx="484632" cy="4846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55079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Backend 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3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processes order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18703" y="2560320"/>
            <a:ext cx="173736" cy="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5400000">
            <a:off x="8019287" y="2487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83879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47304" y="1901952"/>
            <a:ext cx="1673352" cy="1298448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2066544"/>
            <a:ext cx="484632" cy="484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66176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updates records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829800" y="2560320"/>
            <a:ext cx="173736" cy="0"/>
          </a:xfrm>
          <a:prstGeom prst="line">
            <a:avLst/>
          </a:prstGeom>
          <a:ln w="1905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5400000">
            <a:off x="9930384" y="2487168"/>
            <a:ext cx="146304" cy="146304"/>
          </a:xfrm>
          <a:prstGeom prst="triangle">
            <a:avLst/>
          </a:prstGeom>
          <a:solidFill>
            <a:srgbClr val="A6B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094976" y="1947672"/>
            <a:ext cx="1673352" cy="1298448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058400" y="1901952"/>
            <a:ext cx="1673352" cy="1298448"/>
          </a:xfrm>
          <a:prstGeom prst="roundRect">
            <a:avLst/>
          </a:prstGeom>
          <a:solidFill>
            <a:srgbClr val="FEEEEE"/>
          </a:solidFill>
          <a:ln w="1016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po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2066544"/>
            <a:ext cx="484632" cy="48463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177272" y="2633472"/>
            <a:ext cx="1435608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140" b="1">
                <a:solidFill>
                  <a:srgbClr val="183153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86416" y="2862072"/>
            <a:ext cx="141732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919" b="0">
                <a:solidFill>
                  <a:srgbClr val="667085"/>
                </a:solidFill>
                <a:latin typeface="Calibri"/>
              </a:defRPr>
            </a:pPr>
            <a:r>
              <a:t>receipt + report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6" y="4014215"/>
            <a:ext cx="10378440" cy="141732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14400" y="3968496"/>
            <a:ext cx="10378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34440" y="4187952"/>
            <a:ext cx="978408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83153"/>
                </a:solidFill>
                <a:latin typeface="Calibri"/>
              </a:defRPr>
            </a:pPr>
            <a:r>
              <a:t>Backend algorithm for Buy Now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34440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2F80ED"/>
                </a:solidFill>
                <a:latin typeface="Calibri"/>
              </a:defRPr>
            </a:pPr>
            <a:r>
              <a:t>1. Validate cart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42616" y="4791456"/>
            <a:ext cx="164592" cy="0"/>
          </a:xfrm>
          <a:prstGeom prst="line">
            <a:avLst/>
          </a:prstGeom>
          <a:ln w="13970">
            <a:solidFill>
              <a:srgbClr val="C3C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2734056" y="4718304"/>
            <a:ext cx="146304" cy="146304"/>
          </a:xfrm>
          <a:prstGeom prst="triangle">
            <a:avLst/>
          </a:prstGeom>
          <a:solidFill>
            <a:srgbClr val="C3C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862072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7B61FF"/>
                </a:solidFill>
                <a:latin typeface="Calibri"/>
              </a:defRPr>
            </a:pPr>
            <a:r>
              <a:t>2. Check inventory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270248" y="4791456"/>
            <a:ext cx="164592" cy="0"/>
          </a:xfrm>
          <a:prstGeom prst="line">
            <a:avLst/>
          </a:prstGeom>
          <a:ln w="13970">
            <a:solidFill>
              <a:srgbClr val="C3C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4361688" y="4718304"/>
            <a:ext cx="146304" cy="146304"/>
          </a:xfrm>
          <a:prstGeom prst="triangle">
            <a:avLst/>
          </a:prstGeom>
          <a:solidFill>
            <a:srgbClr val="C3C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89704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2994A"/>
                </a:solidFill>
                <a:latin typeface="Calibri"/>
              </a:defRPr>
            </a:pPr>
            <a:r>
              <a:t>3. Calculate price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97880" y="4791456"/>
            <a:ext cx="164592" cy="0"/>
          </a:xfrm>
          <a:prstGeom prst="line">
            <a:avLst/>
          </a:prstGeom>
          <a:ln w="13970">
            <a:solidFill>
              <a:srgbClr val="C3C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Isosceles Triangle 58"/>
          <p:cNvSpPr/>
          <p:nvPr/>
        </p:nvSpPr>
        <p:spPr>
          <a:xfrm rot="5400000">
            <a:off x="5989320" y="4718304"/>
            <a:ext cx="146304" cy="146304"/>
          </a:xfrm>
          <a:prstGeom prst="triangle">
            <a:avLst/>
          </a:prstGeom>
          <a:solidFill>
            <a:srgbClr val="C3C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117336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27AE60"/>
                </a:solidFill>
                <a:latin typeface="Calibri"/>
              </a:defRPr>
            </a:pPr>
            <a:r>
              <a:t>4. Process payment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525512" y="4791456"/>
            <a:ext cx="164592" cy="0"/>
          </a:xfrm>
          <a:prstGeom prst="line">
            <a:avLst/>
          </a:prstGeom>
          <a:ln w="13970">
            <a:solidFill>
              <a:srgbClr val="C3C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616952" y="4718304"/>
            <a:ext cx="146304" cy="146304"/>
          </a:xfrm>
          <a:prstGeom prst="triangle">
            <a:avLst/>
          </a:prstGeom>
          <a:solidFill>
            <a:srgbClr val="C3C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744968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00A6A6"/>
                </a:solidFill>
                <a:latin typeface="Calibri"/>
              </a:defRPr>
            </a:pPr>
            <a:r>
              <a:t>5. Save order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153144" y="4791456"/>
            <a:ext cx="164592" cy="0"/>
          </a:xfrm>
          <a:prstGeom prst="line">
            <a:avLst/>
          </a:prstGeom>
          <a:ln w="13970">
            <a:solidFill>
              <a:srgbClr val="C3C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Isosceles Triangle 64"/>
          <p:cNvSpPr/>
          <p:nvPr/>
        </p:nvSpPr>
        <p:spPr>
          <a:xfrm rot="5400000">
            <a:off x="9244584" y="4718304"/>
            <a:ext cx="146304" cy="146304"/>
          </a:xfrm>
          <a:prstGeom prst="triangle">
            <a:avLst/>
          </a:prstGeom>
          <a:solidFill>
            <a:srgbClr val="C3C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372600" y="4645152"/>
            <a:ext cx="138988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B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EB5757"/>
                </a:solidFill>
                <a:latin typeface="Calibri"/>
              </a:defRPr>
            </a:pPr>
            <a:r>
              <a:t>6. Send confirmation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5724144"/>
            <a:ext cx="987552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220" b="0">
                <a:solidFill>
                  <a:srgbClr val="667085"/>
                </a:solidFill>
                <a:latin typeface="Calibri"/>
              </a:defRPr>
            </a:pPr>
            <a:r>
              <a:t>The same information system supports customer service, finance, inventory, and management reporting.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3108960" cy="3108960"/>
          </a:xfrm>
          <a:prstGeom prst="ellipse">
            <a:avLst/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F0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10896"/>
            <a:ext cx="1234440" cy="256032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F80ED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80467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153"/>
                </a:solidFill>
                <a:latin typeface="Calibri"/>
              </a:defRPr>
            </a:pPr>
            <a:r>
              <a:t>Summary: connect the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67085"/>
                </a:solidFill>
                <a:latin typeface="Calibri"/>
              </a:defRPr>
            </a:pPr>
            <a:r>
              <a:t>Use the architecture map to place each concept.</a:t>
            </a:r>
          </a:p>
        </p:txBody>
      </p:sp>
      <p:sp>
        <p:nvSpPr>
          <p:cNvPr id="8" name="Oval 7"/>
          <p:cNvSpPr/>
          <p:nvPr/>
        </p:nvSpPr>
        <p:spPr>
          <a:xfrm>
            <a:off x="5303520" y="2587752"/>
            <a:ext cx="1554480" cy="1554480"/>
          </a:xfrm>
          <a:prstGeom prst="ellipse">
            <a:avLst/>
          </a:prstGeom>
          <a:solidFill>
            <a:srgbClr val="183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3035808"/>
            <a:ext cx="1188720" cy="6583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Information</a:t>
            </a:r>
            <a:br/>
            <a:r>
              <a:t>System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423160" y="2267712"/>
            <a:ext cx="3657600" cy="1097280"/>
          </a:xfrm>
          <a:prstGeom prst="line">
            <a:avLst/>
          </a:prstGeom>
          <a:ln w="1651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42416" y="1874519"/>
            <a:ext cx="2880360" cy="89611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1828800"/>
            <a:ext cx="2880360" cy="896112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197510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2052828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64792" y="198424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Client /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267712"/>
            <a:ext cx="2011680" cy="39319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9" b="0">
                <a:solidFill>
                  <a:srgbClr val="667085"/>
                </a:solidFill>
                <a:latin typeface="Calibri"/>
              </a:defRPr>
            </a:pPr>
            <a:r>
              <a:t>UI, CLI, browser, apps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5166359" y="1993391"/>
            <a:ext cx="914401" cy="1371601"/>
          </a:xfrm>
          <a:prstGeom prst="line">
            <a:avLst/>
          </a:prstGeom>
          <a:ln w="1651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785615" y="1600200"/>
            <a:ext cx="2880360" cy="89611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1554480"/>
            <a:ext cx="2880360" cy="896112"/>
          </a:xfrm>
          <a:prstGeom prst="roundRect">
            <a:avLst/>
          </a:prstGeom>
          <a:solidFill>
            <a:srgbClr val="E6FAFA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95344" y="170078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068" y="1778507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7992" y="170992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1993391"/>
            <a:ext cx="2011680" cy="39319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9" b="0">
                <a:solidFill>
                  <a:srgbClr val="667085"/>
                </a:solidFill>
                <a:latin typeface="Calibri"/>
              </a:defRPr>
            </a:pPr>
            <a:r>
              <a:t>HTTP/HTTPS, TCP/IP, APIs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080760" y="1993391"/>
            <a:ext cx="3703320" cy="1371601"/>
          </a:xfrm>
          <a:prstGeom prst="line">
            <a:avLst/>
          </a:prstGeom>
          <a:ln w="1651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403336" y="1600200"/>
            <a:ext cx="2880360" cy="89611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2880360" cy="896112"/>
          </a:xfrm>
          <a:prstGeom prst="roundRect">
            <a:avLst/>
          </a:prstGeom>
          <a:solidFill>
            <a:srgbClr val="F0EC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13064" y="170078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788" y="1778507"/>
            <a:ext cx="347472" cy="34747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5712" y="170992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Server / 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1993391"/>
            <a:ext cx="2011680" cy="39319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9" b="0">
                <a:solidFill>
                  <a:srgbClr val="667085"/>
                </a:solidFill>
                <a:latin typeface="Calibri"/>
              </a:defRPr>
            </a:pPr>
            <a:r>
              <a:t>programs, algorithms, business logic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423160" y="3364992"/>
            <a:ext cx="3657600" cy="1691639"/>
          </a:xfrm>
          <a:prstGeom prst="line">
            <a:avLst/>
          </a:prstGeom>
          <a:ln w="1651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42416" y="4663440"/>
            <a:ext cx="2880360" cy="89611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" y="4617720"/>
            <a:ext cx="2880360" cy="896112"/>
          </a:xfrm>
          <a:prstGeom prst="roundRect">
            <a:avLst/>
          </a:prstGeom>
          <a:solidFill>
            <a:srgbClr val="E9F8E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2144" y="476402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868" y="4841748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64792" y="477316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64792" y="5056631"/>
            <a:ext cx="2011680" cy="39319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9" b="0">
                <a:solidFill>
                  <a:srgbClr val="667085"/>
                </a:solidFill>
                <a:latin typeface="Calibri"/>
              </a:defRPr>
            </a:pPr>
            <a:r>
              <a:t>database, files, cloud, logs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80760" y="3364992"/>
            <a:ext cx="3703320" cy="1691639"/>
          </a:xfrm>
          <a:prstGeom prst="line">
            <a:avLst/>
          </a:prstGeom>
          <a:ln w="16510">
            <a:solidFill>
              <a:srgbClr val="A6B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403336" y="4663440"/>
            <a:ext cx="2880360" cy="896112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66760" y="4617720"/>
            <a:ext cx="2880360" cy="896112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3064" y="4764024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deci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0788" y="4841748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125712" y="477316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Information System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5712" y="5056631"/>
            <a:ext cx="2011680" cy="393191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969" b="0">
                <a:solidFill>
                  <a:srgbClr val="667085"/>
                </a:solidFill>
                <a:latin typeface="Calibri"/>
              </a:defRPr>
            </a:pPr>
            <a:r>
              <a:t>people + process + technology + data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39896" y="5029200"/>
            <a:ext cx="4754880" cy="914400"/>
          </a:xfrm>
          <a:prstGeom prst="round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703320" y="4983480"/>
            <a:ext cx="475488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77639" y="5138928"/>
            <a:ext cx="118872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83153"/>
                </a:solidFill>
                <a:latin typeface="Calibri"/>
              </a:defRPr>
            </a:pPr>
            <a:r>
              <a:t>Quick check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5413248"/>
            <a:ext cx="416052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defRPr sz="1150" b="0">
                <a:solidFill>
                  <a:srgbClr val="667085"/>
                </a:solidFill>
                <a:latin typeface="Calibri"/>
              </a:defRPr>
            </a:pPr>
            <a:r>
              <a:t>Can you trace a login, purchase, or report request from client to data and back?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565392"/>
            <a:ext cx="11201400" cy="18288"/>
          </a:xfrm>
          <a:prstGeom prst="rect">
            <a:avLst/>
          </a:prstGeom>
          <a:solidFill>
            <a:srgbClr val="DCE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09960" y="6601968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085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
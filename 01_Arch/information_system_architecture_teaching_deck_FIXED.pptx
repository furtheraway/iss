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6247" autoAdjust="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874519" cy="29260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50" b="1">
                <a:solidFill>
                  <a:srgbClr val="2F80ED"/>
                </a:solidFill>
                <a:latin typeface="Calibri"/>
              </a:defRPr>
            </a:pPr>
            <a:r>
              <a:t>TEACHING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5897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83153"/>
                </a:solidFill>
                <a:latin typeface="Calibri"/>
              </a:rPr>
              <a:t>Information Systems</a:t>
            </a:r>
          </a:p>
          <a:p>
            <a:r>
              <a:rPr sz="3000" b="1">
                <a:solidFill>
                  <a:srgbClr val="2F80ED"/>
                </a:solidFill>
                <a:latin typeface="Calibri"/>
              </a:rPr>
              <a:t>Components &amp;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17520"/>
            <a:ext cx="5166360" cy="11430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F80ED"/>
                </a:solidFill>
                <a:latin typeface="Calibri"/>
              </a:rPr>
              <a:t>• </a:t>
            </a:r>
            <a:r>
              <a:rPr sz="1400" b="1">
                <a:solidFill>
                  <a:srgbClr val="263238"/>
                </a:solidFill>
                <a:latin typeface="Calibri"/>
              </a:rPr>
              <a:t>Big picture:</a:t>
            </a:r>
            <a:r>
              <a:rPr sz="1400" b="0">
                <a:solidFill>
                  <a:srgbClr val="263238"/>
                </a:solidFill>
                <a:latin typeface="Calibri"/>
              </a:rPr>
              <a:t> how people, data, software, hardware, and networks work together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2F80ED"/>
                </a:solidFill>
                <a:latin typeface="Calibri"/>
              </a:rPr>
              <a:t>• </a:t>
            </a:r>
            <a:r>
              <a:rPr sz="1400" b="1">
                <a:solidFill>
                  <a:srgbClr val="263238"/>
                </a:solidFill>
                <a:latin typeface="Calibri"/>
              </a:rPr>
              <a:t>Modern architecture:</a:t>
            </a:r>
            <a:r>
              <a:rPr sz="1400" b="0">
                <a:solidFill>
                  <a:srgbClr val="263238"/>
                </a:solidFill>
                <a:latin typeface="Calibri"/>
              </a:rPr>
              <a:t> client, frontend, network, backend, server, and database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2F80ED"/>
                </a:solidFill>
                <a:latin typeface="Calibri"/>
              </a:rPr>
              <a:t>• </a:t>
            </a:r>
            <a:r>
              <a:rPr sz="1400" b="1">
                <a:solidFill>
                  <a:srgbClr val="263238"/>
                </a:solidFill>
                <a:latin typeface="Calibri"/>
              </a:rPr>
              <a:t>Practical lens:</a:t>
            </a:r>
            <a:r>
              <a:rPr sz="1400" b="0">
                <a:solidFill>
                  <a:srgbClr val="263238"/>
                </a:solidFill>
                <a:latin typeface="Calibri"/>
              </a:rPr>
              <a:t> browser, UI, CLI, apps, HTTP/TCP, programming, and algorithms</a:t>
            </a:r>
          </a:p>
        </p:txBody>
      </p:sp>
      <p:sp>
        <p:nvSpPr>
          <p:cNvPr id="9" name="Oval 8"/>
          <p:cNvSpPr/>
          <p:nvPr/>
        </p:nvSpPr>
        <p:spPr>
          <a:xfrm>
            <a:off x="8110727" y="2715768"/>
            <a:ext cx="1609344" cy="1609344"/>
          </a:xfrm>
          <a:prstGeom prst="ellipse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3200400"/>
            <a:ext cx="1188720" cy="6400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Information</a:t>
            </a:r>
            <a:br/>
            <a:r>
              <a:t>System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7616952" y="1581912"/>
            <a:ext cx="1298448" cy="1938528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360920" y="132588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1399032"/>
            <a:ext cx="420624" cy="4206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2320" y="1911095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People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915400" y="1490472"/>
            <a:ext cx="1261872" cy="2029968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921240" y="123444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oft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2" y="1307592"/>
            <a:ext cx="420624" cy="420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92640" y="1819656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Software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15400" y="3520440"/>
            <a:ext cx="1627632" cy="1170432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287000" y="443484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4507992"/>
            <a:ext cx="420624" cy="420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0" y="5020055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Data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662671" y="3520440"/>
            <a:ext cx="1252729" cy="1810512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406640" y="507492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5148072"/>
            <a:ext cx="420624" cy="4206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78040" y="5660136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Network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6976872" y="3319272"/>
            <a:ext cx="1938528" cy="201168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720840" y="306324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3136392"/>
            <a:ext cx="420624" cy="42062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2240" y="3648456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Server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15400" y="3520440"/>
            <a:ext cx="713232" cy="2221992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372600" y="548640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secu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5752" y="5559552"/>
            <a:ext cx="420624" cy="4206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144000" y="6071616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Major components of an information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These pieces work together; none is useful in isolation.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73352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" y="1627632"/>
            <a:ext cx="3063240" cy="1060704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68096" y="177393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1851660"/>
            <a:ext cx="347472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80744" y="178308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0744" y="2066543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Physical devices: computers, servers, routers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673352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51960" y="1627632"/>
            <a:ext cx="3063240" cy="1060704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98264" y="177393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oft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988" y="1851660"/>
            <a:ext cx="347472" cy="347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10912" y="178308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2066543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Programs, operating systems, enterprise apps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18703" y="1673352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882127" y="1627632"/>
            <a:ext cx="3063240" cy="1060704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28431" y="177393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155" y="1851660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41080" y="178308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066543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Raw facts organized into useful information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36391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1792" y="3090672"/>
            <a:ext cx="3063240" cy="1060704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68096" y="323697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314700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80744" y="324612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People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0744" y="3529584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Users, managers, analysts, IT specialists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8536" y="3136391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251960" y="3090672"/>
            <a:ext cx="3063240" cy="1060704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398264" y="323697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proc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988" y="3314700"/>
            <a:ext cx="347472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010912" y="324612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Processes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3529584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Rules, workflows, procedures, approvals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18703" y="3136391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882127" y="3090672"/>
            <a:ext cx="3063240" cy="1060704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028431" y="323697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netwo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6155" y="3314700"/>
            <a:ext cx="347472" cy="3474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641080" y="324612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Networks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3529584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Internet, Wi-Fi, LAN, APIs, communication links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88536" y="4599432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251960" y="4553712"/>
            <a:ext cx="3063240" cy="1060704"/>
          </a:xfrm>
          <a:prstGeom prst="roundRect">
            <a:avLst/>
          </a:prstGeom>
          <a:solidFill>
            <a:srgbClr val="FEEEEE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398264" y="470001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securit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5988" y="4777740"/>
            <a:ext cx="347472" cy="34747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010912" y="470916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10912" y="4992624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Access control, encryption, backups, audit logs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400" b="1">
                <a:solidFill>
                  <a:srgbClr val="183153"/>
                </a:solidFill>
                <a:latin typeface="Calibri"/>
              </a:defRPr>
            </a:pPr>
            <a:r>
              <a:t>Useful information emerges when components are coordinated.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" y="6179665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rPr dirty="0"/>
              <a:t>A three-tier model plus network communication.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1645920"/>
            <a:ext cx="4709160" cy="868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4709160" cy="86868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10" name="Picture 9" descr="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73936"/>
            <a:ext cx="475488" cy="475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81912" y="1728372"/>
            <a:ext cx="2582245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rPr sz="1600" dirty="0"/>
              <a:t>Presentation Layer </a:t>
            </a:r>
            <a:r>
              <a:rPr sz="1600" dirty="0">
                <a:solidFill>
                  <a:schemeClr val="accent6">
                    <a:lumMod val="75000"/>
                  </a:schemeClr>
                </a:solidFill>
              </a:rPr>
              <a:t>/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002692"/>
            <a:ext cx="3484031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Calibri"/>
              </a:defRPr>
            </a:pPr>
            <a:r>
              <a:rPr sz="1600" dirty="0"/>
              <a:t>UI, CLI, browser, mobile app, desktop app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31820" y="2496312"/>
            <a:ext cx="0" cy="146303"/>
          </a:xfrm>
          <a:prstGeom prst="line">
            <a:avLst/>
          </a:prstGeom>
          <a:ln w="22860">
            <a:solidFill>
              <a:srgbClr val="9EA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3058668" y="2569463"/>
            <a:ext cx="146304" cy="146304"/>
          </a:xfrm>
          <a:prstGeom prst="triangle">
            <a:avLst/>
          </a:prstGeom>
          <a:solidFill>
            <a:srgbClr val="9E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Rounded Rectangle 14"/>
          <p:cNvSpPr/>
          <p:nvPr/>
        </p:nvSpPr>
        <p:spPr>
          <a:xfrm>
            <a:off x="813816" y="2724911"/>
            <a:ext cx="4709160" cy="868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Rounded Rectangle 15"/>
          <p:cNvSpPr/>
          <p:nvPr/>
        </p:nvSpPr>
        <p:spPr>
          <a:xfrm>
            <a:off x="777240" y="2679191"/>
            <a:ext cx="4709160" cy="868680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17" name="Picture 16" descr="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52927"/>
            <a:ext cx="475488" cy="4754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81912" y="2807363"/>
            <a:ext cx="1278107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rPr sz="1600"/>
              <a:t>Network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3081683"/>
            <a:ext cx="3828420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Calibri"/>
              </a:defRPr>
            </a:pPr>
            <a:r>
              <a:rPr sz="1600"/>
              <a:t>HTTP/HTTPS, TCP/IP, APIs, internet/LAN/Wi-Fi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31820" y="3575303"/>
            <a:ext cx="0" cy="146304"/>
          </a:xfrm>
          <a:prstGeom prst="line">
            <a:avLst/>
          </a:prstGeom>
          <a:ln w="22860">
            <a:solidFill>
              <a:srgbClr val="9EA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3058668" y="3648455"/>
            <a:ext cx="146304" cy="146304"/>
          </a:xfrm>
          <a:prstGeom prst="triangle">
            <a:avLst/>
          </a:prstGeom>
          <a:solidFill>
            <a:srgbClr val="9E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Rounded Rectangle 21"/>
          <p:cNvSpPr/>
          <p:nvPr/>
        </p:nvSpPr>
        <p:spPr>
          <a:xfrm>
            <a:off x="813816" y="3803903"/>
            <a:ext cx="4709160" cy="868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Rounded Rectangle 22"/>
          <p:cNvSpPr/>
          <p:nvPr/>
        </p:nvSpPr>
        <p:spPr>
          <a:xfrm>
            <a:off x="777240" y="3758183"/>
            <a:ext cx="4709160" cy="868680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24" name="Picture 23" descr="back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3192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81912" y="3886355"/>
            <a:ext cx="2410596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rPr sz="1600" dirty="0"/>
              <a:t>Application Layer </a:t>
            </a:r>
            <a:r>
              <a:rPr sz="1600" dirty="0">
                <a:solidFill>
                  <a:schemeClr val="accent6">
                    <a:lumMod val="75000"/>
                  </a:schemeClr>
                </a:solidFill>
              </a:rPr>
              <a:t>/ 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160676"/>
            <a:ext cx="3535712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Calibri"/>
              </a:defRPr>
            </a:pPr>
            <a:r>
              <a:rPr sz="1600" dirty="0"/>
              <a:t>Business logic, algorithms, authentication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31820" y="4654296"/>
            <a:ext cx="0" cy="146303"/>
          </a:xfrm>
          <a:prstGeom prst="line">
            <a:avLst/>
          </a:prstGeom>
          <a:ln w="22860">
            <a:solidFill>
              <a:srgbClr val="9EA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0800000">
            <a:off x="3058668" y="4727447"/>
            <a:ext cx="146304" cy="146304"/>
          </a:xfrm>
          <a:prstGeom prst="triangle">
            <a:avLst/>
          </a:prstGeom>
          <a:solidFill>
            <a:srgbClr val="9E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Rounded Rectangle 28"/>
          <p:cNvSpPr/>
          <p:nvPr/>
        </p:nvSpPr>
        <p:spPr>
          <a:xfrm>
            <a:off x="813816" y="4882896"/>
            <a:ext cx="4709160" cy="868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Rounded Rectangle 29"/>
          <p:cNvSpPr/>
          <p:nvPr/>
        </p:nvSpPr>
        <p:spPr>
          <a:xfrm>
            <a:off x="777240" y="4837176"/>
            <a:ext cx="4709160" cy="868680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31" name="Picture 30" descr="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010912"/>
            <a:ext cx="475488" cy="47548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81912" y="4965348"/>
            <a:ext cx="937501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rPr sz="1600"/>
              <a:t>Data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1912" y="5239668"/>
            <a:ext cx="2946128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Calibri"/>
              </a:defRPr>
            </a:pPr>
            <a:r>
              <a:rPr sz="1600" dirty="0"/>
              <a:t>Database, files, cloud storage, logs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1853298"/>
            <a:ext cx="4294551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30" b="0">
                <a:solidFill>
                  <a:srgbClr val="263238"/>
                </a:solidFill>
                <a:latin typeface="Calibri"/>
              </a:defRPr>
            </a:pPr>
            <a:r>
              <a:rPr sz="2400" dirty="0"/>
              <a:t>collects input + shows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0" y="2860106"/>
            <a:ext cx="4122695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30" b="0">
                <a:solidFill>
                  <a:srgbClr val="263238"/>
                </a:solidFill>
                <a:latin typeface="Calibri"/>
              </a:defRPr>
            </a:pPr>
            <a:r>
              <a:rPr sz="2400" dirty="0"/>
              <a:t>moves requests + responses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03621" y="3966531"/>
            <a:ext cx="3939540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30" b="0">
                <a:solidFill>
                  <a:srgbClr val="263238"/>
                </a:solidFill>
                <a:latin typeface="Calibri"/>
              </a:defRPr>
            </a:pPr>
            <a:r>
              <a:rPr sz="2400" dirty="0"/>
              <a:t>applies rules + runs algorithms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03620" y="5045523"/>
            <a:ext cx="3033116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30" b="0">
                <a:solidFill>
                  <a:srgbClr val="263238"/>
                </a:solidFill>
                <a:latin typeface="Calibri"/>
              </a:defRPr>
            </a:pPr>
            <a:r>
              <a:rPr sz="2400"/>
              <a:t>stores facts + history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CLIENT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Client side: where users interact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A client is any tool that sends requests and displays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09928"/>
            <a:ext cx="4709160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4709160" cy="141732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9536" y="181051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59" y="1888236"/>
            <a:ext cx="347472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72184" y="1819656"/>
            <a:ext cx="38404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2103120"/>
            <a:ext cx="3840480" cy="9144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  <a:latin typeface="Calibri"/>
              </a:defRPr>
            </a:pPr>
            <a:r>
              <a:t>Visual interface: buttons, forms, menus,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709928"/>
            <a:ext cx="4709160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99632" y="1664208"/>
            <a:ext cx="4709160" cy="1417320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45936" y="181051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888236"/>
            <a:ext cx="347472" cy="347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58584" y="1819656"/>
            <a:ext cx="38404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2103120"/>
            <a:ext cx="3840480" cy="9144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  <a:latin typeface="Calibri"/>
              </a:defRPr>
            </a:pPr>
            <a:r>
              <a:t>Text interface: commands, scripts,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767328"/>
            <a:ext cx="4709160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3232" y="3721608"/>
            <a:ext cx="4709160" cy="1417320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9536" y="386791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brow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59" y="3945636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72184" y="3877056"/>
            <a:ext cx="38404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Browser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2184" y="4160520"/>
            <a:ext cx="3840480" cy="9144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  <a:latin typeface="Calibri"/>
              </a:defRPr>
            </a:pPr>
            <a:r>
              <a:t>Web client: Chrome, Edge, Safari, Firefox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3767328"/>
            <a:ext cx="4709160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99632" y="3721608"/>
            <a:ext cx="4709160" cy="1417320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345936" y="386791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ap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3945636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58584" y="3877056"/>
            <a:ext cx="38404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Apps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58584" y="4160520"/>
            <a:ext cx="3840480" cy="9144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  <a:latin typeface="Calibri"/>
              </a:defRPr>
            </a:pPr>
            <a:r>
              <a:t>Mobile or desktop software installed by users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8256" y="5559552"/>
            <a:ext cx="8183879" cy="6858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011680" y="5513832"/>
            <a:ext cx="8183879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31720" y="5669280"/>
            <a:ext cx="754380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400" b="1">
                <a:solidFill>
                  <a:srgbClr val="183153"/>
                </a:solidFill>
                <a:latin typeface="Calibri"/>
              </a:defRPr>
            </a:pPr>
            <a:r>
              <a:t>Different clients can use the same backend and data layer.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Server/client model: request and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68222"/>
            <a:ext cx="71146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rPr sz="2000" dirty="0"/>
              <a:t>The client asks; the server processes; the client receives the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90113"/>
            <a:ext cx="2468880" cy="265176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771" y="2572993"/>
            <a:ext cx="822960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57300" y="2832284"/>
            <a:ext cx="2011680" cy="30175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900" b="1">
                <a:solidFill>
                  <a:srgbClr val="183153"/>
                </a:solidFill>
                <a:latin typeface="Calibri"/>
              </a:defRPr>
            </a:pPr>
            <a:r>
              <a:rPr dirty="0"/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446241"/>
            <a:ext cx="2011680" cy="152144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dirty="0">
                <a:solidFill>
                  <a:srgbClr val="2F80ED"/>
                </a:solidFill>
                <a:latin typeface="Calibri"/>
              </a:rPr>
              <a:t>• </a:t>
            </a:r>
            <a:r>
              <a:rPr sz="1600" b="1" dirty="0">
                <a:solidFill>
                  <a:srgbClr val="263238"/>
                </a:solidFill>
                <a:latin typeface="Calibri"/>
              </a:rPr>
              <a:t>Runs UI/CLI:</a:t>
            </a:r>
            <a:r>
              <a:rPr sz="1600" b="0" dirty="0">
                <a:solidFill>
                  <a:srgbClr val="263238"/>
                </a:solidFill>
                <a:latin typeface="Calibri"/>
              </a:rPr>
              <a:t> captures user actions</a:t>
            </a:r>
          </a:p>
          <a:p>
            <a:pPr algn="l">
              <a:spcAft>
                <a:spcPts val="100"/>
              </a:spcAft>
            </a:pPr>
            <a:r>
              <a:rPr sz="1600" b="1" dirty="0">
                <a:solidFill>
                  <a:srgbClr val="2F80ED"/>
                </a:solidFill>
                <a:latin typeface="Calibri"/>
              </a:rPr>
              <a:t>• </a:t>
            </a:r>
            <a:r>
              <a:rPr sz="1600" b="1" dirty="0">
                <a:solidFill>
                  <a:srgbClr val="263238"/>
                </a:solidFill>
                <a:latin typeface="Calibri"/>
              </a:rPr>
              <a:t>Send </a:t>
            </a:r>
            <a:r>
              <a:rPr lang="en-US" sz="1600" b="1" dirty="0">
                <a:solidFill>
                  <a:srgbClr val="263238"/>
                </a:solidFill>
                <a:latin typeface="Calibri"/>
              </a:rPr>
              <a:t>request</a:t>
            </a:r>
            <a:r>
              <a:rPr sz="1600" b="1" dirty="0">
                <a:solidFill>
                  <a:srgbClr val="263238"/>
                </a:solidFill>
                <a:latin typeface="Calibri"/>
              </a:rPr>
              <a:t>: </a:t>
            </a:r>
            <a:r>
              <a:rPr sz="1600" b="0" dirty="0">
                <a:solidFill>
                  <a:srgbClr val="263238"/>
                </a:solidFill>
                <a:latin typeface="Calibri"/>
              </a:rPr>
              <a:t>asks server for work</a:t>
            </a:r>
          </a:p>
          <a:p>
            <a:pPr algn="l">
              <a:spcAft>
                <a:spcPts val="100"/>
              </a:spcAft>
            </a:pPr>
            <a:r>
              <a:rPr sz="1600" b="1" dirty="0">
                <a:solidFill>
                  <a:srgbClr val="2F80ED"/>
                </a:solidFill>
                <a:latin typeface="Calibri"/>
              </a:rPr>
              <a:t>• </a:t>
            </a:r>
            <a:r>
              <a:rPr sz="1600" b="1" dirty="0">
                <a:solidFill>
                  <a:srgbClr val="263238"/>
                </a:solidFill>
                <a:latin typeface="Calibri"/>
              </a:rPr>
              <a:t>Display </a:t>
            </a:r>
            <a:r>
              <a:rPr lang="en-US" sz="1600" b="1" dirty="0">
                <a:solidFill>
                  <a:srgbClr val="263238"/>
                </a:solidFill>
                <a:latin typeface="Calibri"/>
              </a:rPr>
              <a:t>response</a:t>
            </a:r>
            <a:r>
              <a:rPr sz="1600" b="1" dirty="0">
                <a:solidFill>
                  <a:srgbClr val="263238"/>
                </a:solidFill>
                <a:latin typeface="Calibri"/>
              </a:rPr>
              <a:t>:</a:t>
            </a:r>
            <a:r>
              <a:rPr sz="1600" b="0" dirty="0">
                <a:solidFill>
                  <a:srgbClr val="263238"/>
                </a:solidFill>
                <a:latin typeface="Calibri"/>
              </a:rPr>
              <a:t> shows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3112" y="3670001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400" b="1">
                <a:solidFill>
                  <a:srgbClr val="183153"/>
                </a:solidFill>
                <a:latin typeface="Calibri"/>
              </a:defRPr>
            </a:pPr>
            <a:r>
              <a:rPr dirty="0"/>
              <a:t>Network communication</a:t>
            </a: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3236976" y="3349960"/>
            <a:ext cx="5155586" cy="0"/>
          </a:xfrm>
          <a:prstGeom prst="line">
            <a:avLst/>
          </a:prstGeom>
          <a:ln w="3048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8339147" y="3277080"/>
            <a:ext cx="146304" cy="146304"/>
          </a:xfrm>
          <a:prstGeom prst="triangl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 flipH="1">
            <a:off x="3264408" y="4145760"/>
            <a:ext cx="5193792" cy="1"/>
          </a:xfrm>
          <a:prstGeom prst="line">
            <a:avLst/>
          </a:prstGeom>
          <a:ln w="21590">
            <a:solidFill>
              <a:srgbClr val="B6C2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6200000">
            <a:off x="3191256" y="4072609"/>
            <a:ext cx="146304" cy="146304"/>
          </a:xfrm>
          <a:prstGeom prst="triangle">
            <a:avLst/>
          </a:prstGeom>
          <a:solidFill>
            <a:srgbClr val="B6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91053" y="2805154"/>
            <a:ext cx="1865013" cy="4678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2F80ED"/>
                </a:solidFill>
                <a:latin typeface="Calibri"/>
              </a:defRPr>
            </a:pPr>
            <a:r>
              <a:rPr sz="2800" dirty="0"/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0962" y="4166614"/>
            <a:ext cx="1458348" cy="4678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667085"/>
                </a:solidFill>
                <a:latin typeface="Calibri"/>
              </a:defRPr>
            </a:pPr>
            <a:r>
              <a:rPr sz="2800" dirty="0"/>
              <a:t>Response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2390113"/>
            <a:ext cx="2697480" cy="2651760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956" y="2530532"/>
            <a:ext cx="822960" cy="8229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79408" y="2783305"/>
            <a:ext cx="2130552" cy="30175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900" b="1">
                <a:solidFill>
                  <a:srgbClr val="183153"/>
                </a:solidFill>
                <a:latin typeface="Calibri"/>
              </a:defRPr>
            </a:pPr>
            <a:r>
              <a:rPr dirty="0"/>
              <a:t>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150" y="3320259"/>
            <a:ext cx="2084831" cy="152144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dirty="0">
                <a:solidFill>
                  <a:srgbClr val="2F80ED"/>
                </a:solidFill>
                <a:latin typeface="Calibri"/>
              </a:rPr>
              <a:t>• </a:t>
            </a:r>
            <a:r>
              <a:rPr sz="1600" b="1" dirty="0">
                <a:solidFill>
                  <a:srgbClr val="263238"/>
                </a:solidFill>
                <a:latin typeface="Calibri"/>
              </a:rPr>
              <a:t>Receives requests:</a:t>
            </a:r>
            <a:r>
              <a:rPr sz="1600" b="0" dirty="0">
                <a:solidFill>
                  <a:srgbClr val="263238"/>
                </a:solidFill>
                <a:latin typeface="Calibri"/>
              </a:rPr>
              <a:t> from many clients</a:t>
            </a:r>
          </a:p>
          <a:p>
            <a:pPr algn="l">
              <a:spcAft>
                <a:spcPts val="100"/>
              </a:spcAft>
            </a:pPr>
            <a:r>
              <a:rPr sz="1600" b="1" dirty="0">
                <a:solidFill>
                  <a:srgbClr val="2F80ED"/>
                </a:solidFill>
                <a:latin typeface="Calibri"/>
              </a:rPr>
              <a:t>• </a:t>
            </a:r>
            <a:r>
              <a:rPr lang="en-US" sz="1600" b="1" dirty="0">
                <a:solidFill>
                  <a:srgbClr val="263238"/>
                </a:solidFill>
                <a:latin typeface="Calibri"/>
              </a:rPr>
              <a:t>Process request</a:t>
            </a:r>
            <a:r>
              <a:rPr sz="1600" b="1" dirty="0">
                <a:solidFill>
                  <a:srgbClr val="263238"/>
                </a:solidFill>
                <a:latin typeface="Calibri"/>
              </a:rPr>
              <a:t>:</a:t>
            </a:r>
            <a:r>
              <a:rPr sz="1600" b="0" dirty="0">
                <a:solidFill>
                  <a:srgbClr val="263238"/>
                </a:solidFill>
                <a:latin typeface="Calibri"/>
              </a:rPr>
              <a:t> logic + algorithms</a:t>
            </a:r>
          </a:p>
          <a:p>
            <a:pPr algn="l">
              <a:spcAft>
                <a:spcPts val="100"/>
              </a:spcAft>
            </a:pPr>
            <a:r>
              <a:rPr sz="1600" b="1" dirty="0">
                <a:solidFill>
                  <a:srgbClr val="2F80ED"/>
                </a:solidFill>
                <a:latin typeface="Calibri"/>
              </a:rPr>
              <a:t>• </a:t>
            </a:r>
            <a:r>
              <a:rPr sz="1600" b="1" dirty="0">
                <a:solidFill>
                  <a:srgbClr val="263238"/>
                </a:solidFill>
                <a:latin typeface="Calibri"/>
              </a:rPr>
              <a:t>Return responses:</a:t>
            </a:r>
            <a:r>
              <a:rPr sz="1600" b="0" dirty="0">
                <a:solidFill>
                  <a:srgbClr val="263238"/>
                </a:solidFill>
                <a:latin typeface="Calibri"/>
              </a:rPr>
              <a:t> data, page,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Communication: HTTP, TCP/IP, and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Protocols define how systems exchange messages reliably and securely.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37360"/>
            <a:ext cx="4754880" cy="4297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1691640"/>
            <a:ext cx="475488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4206240" cy="29260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600" b="1">
                <a:solidFill>
                  <a:srgbClr val="183153"/>
                </a:solidFill>
                <a:latin typeface="Calibri"/>
              </a:defRPr>
            </a:pPr>
            <a:r>
              <a:t>Protocol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514600"/>
            <a:ext cx="3977639" cy="694944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ht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2633472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55648" y="2615184"/>
            <a:ext cx="109728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60" b="1">
                <a:solidFill>
                  <a:srgbClr val="183153"/>
                </a:solidFill>
                <a:latin typeface="Calibri"/>
              </a:defRPr>
            </a:pPr>
            <a:r>
              <a:t>HTTP / HTTPS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24328"/>
            <a:ext cx="21031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0" b="0">
                <a:solidFill>
                  <a:srgbClr val="667085"/>
                </a:solidFill>
                <a:latin typeface="Calibri"/>
              </a:defRPr>
            </a:pPr>
            <a:r>
              <a:t>User wants a page, data, login, or 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27248" y="3227832"/>
            <a:ext cx="0" cy="219456"/>
          </a:xfrm>
          <a:prstGeom prst="line">
            <a:avLst/>
          </a:prstGeom>
          <a:ln w="1778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3054096" y="3374136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143000" y="3474720"/>
            <a:ext cx="3977639" cy="694944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3593591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55648" y="3575303"/>
            <a:ext cx="109728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60" b="1">
                <a:solidFill>
                  <a:srgbClr val="183153"/>
                </a:solidFill>
                <a:latin typeface="Calibri"/>
              </a:defRPr>
            </a:pPr>
            <a:r>
              <a:t>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584448"/>
            <a:ext cx="21031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0" b="0">
                <a:solidFill>
                  <a:srgbClr val="667085"/>
                </a:solidFill>
                <a:latin typeface="Calibri"/>
              </a:defRPr>
            </a:pPr>
            <a:r>
              <a:t>Defined endpoints between apps and servers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27248" y="4187952"/>
            <a:ext cx="0" cy="219456"/>
          </a:xfrm>
          <a:prstGeom prst="line">
            <a:avLst/>
          </a:prstGeom>
          <a:ln w="1778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0800000">
            <a:off x="3054096" y="4334256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43000" y="4434840"/>
            <a:ext cx="3977639" cy="694944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tc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4553712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535424"/>
            <a:ext cx="109728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60" b="1">
                <a:solidFill>
                  <a:srgbClr val="183153"/>
                </a:solidFill>
                <a:latin typeface="Calibri"/>
              </a:defRPr>
            </a:pPr>
            <a:r>
              <a:t>TCP/IP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544568"/>
            <a:ext cx="21031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0" b="0">
                <a:solidFill>
                  <a:srgbClr val="667085"/>
                </a:solidFill>
                <a:latin typeface="Calibri"/>
              </a:defRPr>
            </a:pPr>
            <a:r>
              <a:t>Packets move across networks and arrive reliably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4496" y="1737360"/>
            <a:ext cx="5257800" cy="4297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17920" y="1691640"/>
            <a:ext cx="525780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920240"/>
            <a:ext cx="4480560" cy="29260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600" b="1">
                <a:solidFill>
                  <a:srgbClr val="183153"/>
                </a:solidFill>
                <a:latin typeface="Calibri"/>
              </a:defRPr>
            </a:pPr>
            <a:r>
              <a:t>Example web exchange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2514600"/>
            <a:ext cx="4343400" cy="713232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31152" y="2715768"/>
            <a:ext cx="384048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50" b="1">
                <a:solidFill>
                  <a:srgbClr val="183153"/>
                </a:solidFill>
                <a:latin typeface="Calibri"/>
              </a:defRPr>
            </a:pPr>
            <a:r>
              <a:t>Request: GET /products/42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15400" y="3255264"/>
            <a:ext cx="0" cy="448056"/>
          </a:xfrm>
          <a:prstGeom prst="line">
            <a:avLst/>
          </a:prstGeom>
          <a:ln w="2032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0800000">
            <a:off x="8842248" y="3630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720840" y="3703320"/>
            <a:ext cx="4343400" cy="713232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31152" y="3904487"/>
            <a:ext cx="384048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183153"/>
                </a:solidFill>
                <a:latin typeface="Calibri"/>
              </a:defRPr>
            </a:pPr>
            <a:r>
              <a:t>Backend: validate -&gt; compute -&gt; query data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15400" y="4443984"/>
            <a:ext cx="0" cy="448056"/>
          </a:xfrm>
          <a:prstGeom prst="line">
            <a:avLst/>
          </a:prstGeom>
          <a:ln w="2032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10800000">
            <a:off x="8842248" y="481888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720840" y="4892040"/>
            <a:ext cx="4343400" cy="713232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31152" y="5093208"/>
            <a:ext cx="384048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183153"/>
                </a:solidFill>
                <a:latin typeface="Calibri"/>
              </a:defRPr>
            </a:pPr>
            <a:r>
              <a:t>Response: product details + status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724144"/>
            <a:ext cx="448056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070" b="0">
                <a:solidFill>
                  <a:srgbClr val="667085"/>
                </a:solidFill>
                <a:latin typeface="Calibri"/>
              </a:defRPr>
            </a:pPr>
            <a:r>
              <a:t>HTTPS adds encryption and identity protection around HTTP.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Backend: programming, algorithms, and business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Backend code turns requests into trusted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" y="2011679"/>
            <a:ext cx="1874519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8952" y="1965960"/>
            <a:ext cx="1874519" cy="141732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2148840"/>
            <a:ext cx="530352" cy="5303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1832" y="2807208"/>
            <a:ext cx="1508760" cy="3931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t>Receive</a:t>
            </a:r>
            <a:br/>
            <a:r>
              <a:t>request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88336" y="2679191"/>
            <a:ext cx="310896" cy="0"/>
          </a:xfrm>
          <a:prstGeom prst="line">
            <a:avLst/>
          </a:prstGeom>
          <a:ln w="2286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926079" y="2606039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27248" y="2011679"/>
            <a:ext cx="1874519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90672" y="1965960"/>
            <a:ext cx="1874519" cy="1417320"/>
          </a:xfrm>
          <a:prstGeom prst="roundRect">
            <a:avLst/>
          </a:prstGeom>
          <a:solidFill>
            <a:srgbClr val="FEEEEE"/>
          </a:solidFill>
          <a:ln w="1016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2148840"/>
            <a:ext cx="530352" cy="5303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73552" y="2807208"/>
            <a:ext cx="1508760" cy="3931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t>Authenticate</a:t>
            </a:r>
            <a:br/>
            <a:r>
              <a:t>user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0055" y="2679191"/>
            <a:ext cx="310897" cy="0"/>
          </a:xfrm>
          <a:prstGeom prst="line">
            <a:avLst/>
          </a:prstGeom>
          <a:ln w="2286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5257800" y="2606039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58968" y="2011679"/>
            <a:ext cx="1874519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22392" y="1965960"/>
            <a:ext cx="1874519" cy="1417320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algorith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59" y="2148840"/>
            <a:ext cx="530352" cy="5303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05272" y="2807208"/>
            <a:ext cx="1508760" cy="3931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t>Run</a:t>
            </a:r>
            <a:br/>
            <a:r>
              <a:t>algorithm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51775" y="2679191"/>
            <a:ext cx="310897" cy="0"/>
          </a:xfrm>
          <a:prstGeom prst="line">
            <a:avLst/>
          </a:prstGeom>
          <a:ln w="2286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7589520" y="2606039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90687" y="2011679"/>
            <a:ext cx="1874519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54111" y="1965960"/>
            <a:ext cx="1874519" cy="1417320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148840"/>
            <a:ext cx="530352" cy="5303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936991" y="2807208"/>
            <a:ext cx="1508760" cy="3931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t>Read/write</a:t>
            </a:r>
            <a:br/>
            <a:r>
              <a:t>data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83495" y="2679191"/>
            <a:ext cx="310896" cy="0"/>
          </a:xfrm>
          <a:prstGeom prst="line">
            <a:avLst/>
          </a:prstGeom>
          <a:ln w="2286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9921239" y="2606039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122407" y="2011679"/>
            <a:ext cx="1874519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85832" y="1965960"/>
            <a:ext cx="1874519" cy="1417320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outp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200" y="2148840"/>
            <a:ext cx="530352" cy="53035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268711" y="2807208"/>
            <a:ext cx="1508760" cy="3931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t>Return</a:t>
            </a:r>
            <a:br/>
            <a:r>
              <a:t>response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6" y="4416552"/>
            <a:ext cx="3246120" cy="11430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14400" y="4370832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programm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4617720"/>
            <a:ext cx="502920" cy="5029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783080" y="4553712"/>
            <a:ext cx="20574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500" b="1">
                <a:solidFill>
                  <a:srgbClr val="183153"/>
                </a:solidFill>
                <a:latin typeface="Calibri"/>
              </a:defRPr>
            </a:pPr>
            <a:r>
              <a:t>Programming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4892040"/>
            <a:ext cx="2057400" cy="38404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  <a:latin typeface="Calibri"/>
              </a:defRPr>
            </a:pPr>
            <a:r>
              <a:t>Writing instructions that tell the system what to do.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62856" y="4416552"/>
            <a:ext cx="3246120" cy="11430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526280" y="4370832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algorith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617720"/>
            <a:ext cx="502920" cy="502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394960" y="4553712"/>
            <a:ext cx="20574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500" b="1">
                <a:solidFill>
                  <a:srgbClr val="183153"/>
                </a:solidFill>
                <a:latin typeface="Calibri"/>
              </a:defRPr>
            </a:pPr>
            <a:r>
              <a:t>Algorithm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4892040"/>
            <a:ext cx="2057400" cy="38404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  <a:latin typeface="Calibri"/>
              </a:defRPr>
            </a:pPr>
            <a:r>
              <a:t>Step-by-step method for solving a problem.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4736" y="4416552"/>
            <a:ext cx="3246120" cy="11430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138160" y="4370832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back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4617720"/>
            <a:ext cx="502920" cy="5029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006840" y="4553712"/>
            <a:ext cx="20574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500" b="1">
                <a:solidFill>
                  <a:srgbClr val="183153"/>
                </a:solidFill>
                <a:latin typeface="Calibri"/>
              </a:defRPr>
            </a:pPr>
            <a:r>
              <a:t>Business logic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4892040"/>
            <a:ext cx="2057400" cy="38404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  <a:latin typeface="Calibri"/>
              </a:defRPr>
            </a:pPr>
            <a:r>
              <a:t>Rules for prices, approvals, inventory, and workflows.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Data layer: memory of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Data stores keep facts, history, transactions, and evidence.</a:t>
            </a:r>
          </a:p>
        </p:txBody>
      </p:sp>
      <p:sp>
        <p:nvSpPr>
          <p:cNvPr id="8" name="Oval 7"/>
          <p:cNvSpPr/>
          <p:nvPr/>
        </p:nvSpPr>
        <p:spPr>
          <a:xfrm>
            <a:off x="5257800" y="2606040"/>
            <a:ext cx="1645920" cy="1645920"/>
          </a:xfrm>
          <a:prstGeom prst="ellipse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862072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50408" y="3502152"/>
            <a:ext cx="1060704" cy="4572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  <a:br/>
            <a:r>
              <a:t>Layer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2971800" y="2377440"/>
            <a:ext cx="3108960" cy="105156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080760" y="2377440"/>
            <a:ext cx="3886200" cy="105156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971800" y="3429000"/>
            <a:ext cx="3108960" cy="169164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865376" y="4617720"/>
            <a:ext cx="2468880" cy="107899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828800" y="4572000"/>
            <a:ext cx="2468880" cy="1078992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975104" y="471830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4796028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587752" y="4727448"/>
            <a:ext cx="160020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Data warehouse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87752" y="5010912"/>
            <a:ext cx="1600200" cy="57607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19" b="0">
                <a:solidFill>
                  <a:srgbClr val="667085"/>
                </a:solidFill>
                <a:latin typeface="Calibri"/>
              </a:defRPr>
            </a:pPr>
            <a:r>
              <a:t>analytics + history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0760" y="3429000"/>
            <a:ext cx="3886200" cy="169164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950208" y="5486400"/>
            <a:ext cx="4343400" cy="56692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913632" y="5440680"/>
            <a:ext cx="434340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0" y="5586984"/>
            <a:ext cx="3931920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80" b="1">
                <a:solidFill>
                  <a:srgbClr val="183153"/>
                </a:solidFill>
                <a:latin typeface="Calibri"/>
              </a:defRPr>
            </a:pPr>
            <a:r>
              <a:t>Create - Read - Update - Delete  |  Backup - Restore - Audit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25984" y="-438912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FRONTEND/BACKEND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Frontend and backend: what users see vs. what systems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A useful distinction for designing, troubleshooting, and explaining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09928"/>
            <a:ext cx="4983480" cy="448056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1664208"/>
            <a:ext cx="4983480" cy="448056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83096" y="1709928"/>
            <a:ext cx="4983480" cy="448056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6520" y="1664208"/>
            <a:ext cx="4983480" cy="4480560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38528"/>
            <a:ext cx="658368" cy="658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83080" y="1993392"/>
            <a:ext cx="3383280" cy="34747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2000" b="1">
                <a:solidFill>
                  <a:srgbClr val="183153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88920"/>
            <a:ext cx="4389120" cy="12801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User-facing:</a:t>
            </a:r>
            <a:r>
              <a:rPr sz="1300" b="0">
                <a:solidFill>
                  <a:srgbClr val="263238"/>
                </a:solidFill>
                <a:latin typeface="Calibri"/>
              </a:rPr>
              <a:t> screens, forms, buttons, commands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Runs in:</a:t>
            </a:r>
            <a:r>
              <a:rPr sz="1300" b="0">
                <a:solidFill>
                  <a:srgbClr val="263238"/>
                </a:solidFill>
                <a:latin typeface="Calibri"/>
              </a:rPr>
              <a:t> browser, mobile app, desktop app, terminal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Main job:</a:t>
            </a:r>
            <a:r>
              <a:rPr sz="1300" b="0">
                <a:solidFill>
                  <a:srgbClr val="263238"/>
                </a:solidFill>
                <a:latin typeface="Calibri"/>
              </a:rPr>
              <a:t> collect input and present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001768"/>
            <a:ext cx="411480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F80ED"/>
                </a:solidFill>
                <a:latin typeface="Calibri"/>
              </a:defRPr>
            </a:pPr>
            <a:r>
              <a:t>UI / CLI / Browser / Apps</a:t>
            </a:r>
          </a:p>
        </p:txBody>
      </p:sp>
      <p:pic>
        <p:nvPicPr>
          <p:cNvPr id="16" name="Picture 15" descr="back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938528"/>
            <a:ext cx="658368" cy="658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79792" y="1993392"/>
            <a:ext cx="3383280" cy="34747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2000" b="1">
                <a:solidFill>
                  <a:srgbClr val="183153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788920"/>
            <a:ext cx="4389120" cy="12801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System-facing:</a:t>
            </a:r>
            <a:r>
              <a:rPr sz="1300" b="0">
                <a:solidFill>
                  <a:srgbClr val="263238"/>
                </a:solidFill>
                <a:latin typeface="Calibri"/>
              </a:rPr>
              <a:t> servers, code, APIs, services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Runs on:</a:t>
            </a:r>
            <a:r>
              <a:rPr sz="1300" b="0">
                <a:solidFill>
                  <a:srgbClr val="263238"/>
                </a:solidFill>
                <a:latin typeface="Calibri"/>
              </a:rPr>
              <a:t> server infrastructure or cloud platform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Main job:</a:t>
            </a:r>
            <a:r>
              <a:rPr sz="1300" b="0">
                <a:solidFill>
                  <a:srgbClr val="263238"/>
                </a:solidFill>
                <a:latin typeface="Calibri"/>
              </a:rPr>
              <a:t> enforce rules and process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93992" y="5001768"/>
            <a:ext cx="411480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61FF"/>
                </a:solidFill>
                <a:latin typeface="Calibri"/>
              </a:defRPr>
            </a:pPr>
            <a:r>
              <a:t>Server / APIs / Algorithms / Database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88152" y="3063240"/>
            <a:ext cx="566928" cy="0"/>
          </a:xfrm>
          <a:prstGeom prst="line">
            <a:avLst/>
          </a:prstGeom>
          <a:ln w="2794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281928" y="2990088"/>
            <a:ext cx="146304" cy="146304"/>
          </a:xfrm>
          <a:prstGeom prst="triangl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H="1">
            <a:off x="5833872" y="3794760"/>
            <a:ext cx="566928" cy="0"/>
          </a:xfrm>
          <a:prstGeom prst="line">
            <a:avLst/>
          </a:prstGeom>
          <a:ln w="2286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6200000">
            <a:off x="5760720" y="372160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96712" y="2779776"/>
            <a:ext cx="82296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880" b="1">
                <a:solidFill>
                  <a:srgbClr val="2F80ED"/>
                </a:solidFill>
                <a:latin typeface="Calibri"/>
              </a:defRPr>
            </a:pPr>
            <a: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1848" y="3913632"/>
            <a:ext cx="91440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880" b="1">
                <a:solidFill>
                  <a:srgbClr val="667085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Example: online shopping information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Follow one customer action through the whole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901952"/>
            <a:ext cx="1673352" cy="12984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066544"/>
            <a:ext cx="484632" cy="4846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chooses item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85415" y="2560320"/>
            <a:ext cx="173736" cy="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2285999" y="2487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50591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14015" y="1901952"/>
            <a:ext cx="1673352" cy="1298448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799" y="2066544"/>
            <a:ext cx="484632" cy="484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32887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App / 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clicks Buy Now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96511" y="2560320"/>
            <a:ext cx="173737" cy="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4197096" y="2487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61688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25112" y="1901952"/>
            <a:ext cx="1673352" cy="1298448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htt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066544"/>
            <a:ext cx="484632" cy="4846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43983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HTTPS 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7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sent over TCP/IP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07607" y="2560320"/>
            <a:ext cx="173737" cy="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6108192" y="2487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72783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36207" y="1901952"/>
            <a:ext cx="1673352" cy="1298448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2066544"/>
            <a:ext cx="484632" cy="4846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55079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Backend 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3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processes order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18703" y="2560320"/>
            <a:ext cx="173736" cy="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8019287" y="2487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183879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147304" y="1901952"/>
            <a:ext cx="1673352" cy="1298448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da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2066544"/>
            <a:ext cx="484632" cy="48463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266176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updates records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9800" y="2560320"/>
            <a:ext cx="173736" cy="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9930384" y="2487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094976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058400" y="1901952"/>
            <a:ext cx="1673352" cy="1298448"/>
          </a:xfrm>
          <a:prstGeom prst="roundRect">
            <a:avLst/>
          </a:prstGeom>
          <a:solidFill>
            <a:srgbClr val="FEEEEE"/>
          </a:solidFill>
          <a:ln w="1016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repo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6184" y="2066544"/>
            <a:ext cx="484632" cy="48463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177272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Outputs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86416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receipt + report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0976" y="4014215"/>
            <a:ext cx="10378440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914400" y="3968496"/>
            <a:ext cx="103784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234440" y="4187952"/>
            <a:ext cx="978408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500" b="1">
                <a:solidFill>
                  <a:srgbClr val="183153"/>
                </a:solidFill>
                <a:latin typeface="Calibri"/>
              </a:defRPr>
            </a:pPr>
            <a:r>
              <a:t>Backend algorithm for Buy Now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34440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2F80ED"/>
                </a:solidFill>
                <a:latin typeface="Calibri"/>
              </a:defRPr>
            </a:pPr>
            <a:r>
              <a:t>1. Validate cart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642616" y="4791456"/>
            <a:ext cx="164592" cy="0"/>
          </a:xfrm>
          <a:prstGeom prst="line">
            <a:avLst/>
          </a:prstGeom>
          <a:ln w="13970">
            <a:solidFill>
              <a:srgbClr val="C3C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2734056" y="4718304"/>
            <a:ext cx="146304" cy="146304"/>
          </a:xfrm>
          <a:prstGeom prst="triangle">
            <a:avLst/>
          </a:prstGeom>
          <a:solidFill>
            <a:srgbClr val="C3C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2862072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7B61FF"/>
                </a:solidFill>
                <a:latin typeface="Calibri"/>
              </a:defRPr>
            </a:pPr>
            <a:r>
              <a:t>2. Check inventory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270248" y="4791456"/>
            <a:ext cx="164592" cy="0"/>
          </a:xfrm>
          <a:prstGeom prst="line">
            <a:avLst/>
          </a:prstGeom>
          <a:ln w="13970">
            <a:solidFill>
              <a:srgbClr val="C3C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4361688" y="4718304"/>
            <a:ext cx="146304" cy="146304"/>
          </a:xfrm>
          <a:prstGeom prst="triangle">
            <a:avLst/>
          </a:prstGeom>
          <a:solidFill>
            <a:srgbClr val="C3C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4489704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2994A"/>
                </a:solidFill>
                <a:latin typeface="Calibri"/>
              </a:defRPr>
            </a:pPr>
            <a:r>
              <a:t>3. Calculate price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897880" y="4791456"/>
            <a:ext cx="164592" cy="0"/>
          </a:xfrm>
          <a:prstGeom prst="line">
            <a:avLst/>
          </a:prstGeom>
          <a:ln w="13970">
            <a:solidFill>
              <a:srgbClr val="C3C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/>
          <p:cNvSpPr/>
          <p:nvPr/>
        </p:nvSpPr>
        <p:spPr>
          <a:xfrm rot="5400000">
            <a:off x="5989320" y="4718304"/>
            <a:ext cx="146304" cy="146304"/>
          </a:xfrm>
          <a:prstGeom prst="triangle">
            <a:avLst/>
          </a:prstGeom>
          <a:solidFill>
            <a:srgbClr val="C3C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117336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27AE60"/>
                </a:solidFill>
                <a:latin typeface="Calibri"/>
              </a:defRPr>
            </a:pPr>
            <a:r>
              <a:t>4. Process payment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525512" y="4791456"/>
            <a:ext cx="164592" cy="0"/>
          </a:xfrm>
          <a:prstGeom prst="line">
            <a:avLst/>
          </a:prstGeom>
          <a:ln w="13970">
            <a:solidFill>
              <a:srgbClr val="C3C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sosceles Triangle 61"/>
          <p:cNvSpPr/>
          <p:nvPr/>
        </p:nvSpPr>
        <p:spPr>
          <a:xfrm rot="5400000">
            <a:off x="7616952" y="4718304"/>
            <a:ext cx="146304" cy="146304"/>
          </a:xfrm>
          <a:prstGeom prst="triangle">
            <a:avLst/>
          </a:prstGeom>
          <a:solidFill>
            <a:srgbClr val="C3C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7744968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00A6A6"/>
                </a:solidFill>
                <a:latin typeface="Calibri"/>
              </a:defRPr>
            </a:pPr>
            <a:r>
              <a:t>5. Save order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153144" y="4791456"/>
            <a:ext cx="164592" cy="0"/>
          </a:xfrm>
          <a:prstGeom prst="line">
            <a:avLst/>
          </a:prstGeom>
          <a:ln w="13970">
            <a:solidFill>
              <a:srgbClr val="C3C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Isosceles Triangle 64"/>
          <p:cNvSpPr/>
          <p:nvPr/>
        </p:nvSpPr>
        <p:spPr>
          <a:xfrm rot="5400000">
            <a:off x="9244584" y="4718304"/>
            <a:ext cx="146304" cy="146304"/>
          </a:xfrm>
          <a:prstGeom prst="triangle">
            <a:avLst/>
          </a:prstGeom>
          <a:solidFill>
            <a:srgbClr val="C3C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9372600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EB5757"/>
                </a:solidFill>
                <a:latin typeface="Calibri"/>
              </a:defRPr>
            </a:pPr>
            <a:r>
              <a:t>6. Send confirmation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3000" y="5724144"/>
            <a:ext cx="987552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20" b="0">
                <a:solidFill>
                  <a:srgbClr val="667085"/>
                </a:solidFill>
                <a:latin typeface="Calibri"/>
              </a:defRPr>
            </a:pPr>
            <a:r>
              <a:t>The same information system supports customer service, finance, inventory, and management reporting.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Summary: connect the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Use the architecture map to place each concept.</a:t>
            </a:r>
          </a:p>
        </p:txBody>
      </p:sp>
      <p:sp>
        <p:nvSpPr>
          <p:cNvPr id="8" name="Oval 7"/>
          <p:cNvSpPr/>
          <p:nvPr/>
        </p:nvSpPr>
        <p:spPr>
          <a:xfrm>
            <a:off x="5303520" y="2587752"/>
            <a:ext cx="1554480" cy="1554480"/>
          </a:xfrm>
          <a:prstGeom prst="ellipse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3035808"/>
            <a:ext cx="1188720" cy="6583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Information</a:t>
            </a:r>
            <a:br/>
            <a:r>
              <a:t>System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423160" y="2267712"/>
            <a:ext cx="3657600" cy="1097280"/>
          </a:xfrm>
          <a:prstGeom prst="line">
            <a:avLst/>
          </a:prstGeom>
          <a:ln w="1651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42416" y="1874519"/>
            <a:ext cx="2880360" cy="89611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5840" y="1828800"/>
            <a:ext cx="2880360" cy="896112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52144" y="197510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868" y="2052828"/>
            <a:ext cx="347472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64792" y="1984248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Client /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267712"/>
            <a:ext cx="2011680" cy="39319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9" b="0">
                <a:solidFill>
                  <a:srgbClr val="667085"/>
                </a:solidFill>
                <a:latin typeface="Calibri"/>
              </a:defRPr>
            </a:pPr>
            <a:r>
              <a:t>UI, CLI, browser, apps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5166359" y="1993391"/>
            <a:ext cx="914401" cy="1371601"/>
          </a:xfrm>
          <a:prstGeom prst="line">
            <a:avLst/>
          </a:prstGeom>
          <a:ln w="1651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785615" y="1600200"/>
            <a:ext cx="2880360" cy="89611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749039" y="1554480"/>
            <a:ext cx="2880360" cy="896112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895344" y="170078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068" y="1778507"/>
            <a:ext cx="347472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07992" y="1709928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1993391"/>
            <a:ext cx="2011680" cy="39319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9" b="0">
                <a:solidFill>
                  <a:srgbClr val="667085"/>
                </a:solidFill>
                <a:latin typeface="Calibri"/>
              </a:defRPr>
            </a:pPr>
            <a:r>
              <a:t>HTTP/HTTPS, TCP/IP, APIs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080760" y="1993391"/>
            <a:ext cx="3703320" cy="1371601"/>
          </a:xfrm>
          <a:prstGeom prst="line">
            <a:avLst/>
          </a:prstGeom>
          <a:ln w="1651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403336" y="1600200"/>
            <a:ext cx="2880360" cy="89611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66760" y="1554480"/>
            <a:ext cx="2880360" cy="896112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513064" y="170078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788" y="1778507"/>
            <a:ext cx="347472" cy="3474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25712" y="1709928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Server / 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1993391"/>
            <a:ext cx="2011680" cy="39319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9" b="0">
                <a:solidFill>
                  <a:srgbClr val="667085"/>
                </a:solidFill>
                <a:latin typeface="Calibri"/>
              </a:defRPr>
            </a:pPr>
            <a:r>
              <a:t>programs, algorithms, business logic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2423160" y="3364992"/>
            <a:ext cx="3657600" cy="1691639"/>
          </a:xfrm>
          <a:prstGeom prst="line">
            <a:avLst/>
          </a:prstGeom>
          <a:ln w="1651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42416" y="4663440"/>
            <a:ext cx="2880360" cy="89611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5840" y="4617720"/>
            <a:ext cx="2880360" cy="896112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52144" y="476402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868" y="4841748"/>
            <a:ext cx="347472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764792" y="4773168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64792" y="5056631"/>
            <a:ext cx="2011680" cy="39319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9" b="0">
                <a:solidFill>
                  <a:srgbClr val="667085"/>
                </a:solidFill>
                <a:latin typeface="Calibri"/>
              </a:defRPr>
            </a:pPr>
            <a:r>
              <a:t>database, files, cloud, logs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80760" y="3364992"/>
            <a:ext cx="3703320" cy="1691639"/>
          </a:xfrm>
          <a:prstGeom prst="line">
            <a:avLst/>
          </a:prstGeom>
          <a:ln w="1651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403336" y="4663440"/>
            <a:ext cx="2880360" cy="89611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366760" y="4617720"/>
            <a:ext cx="2880360" cy="896112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513064" y="476402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decis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0788" y="4841748"/>
            <a:ext cx="347472" cy="3474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125712" y="4773168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Information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25712" y="5056631"/>
            <a:ext cx="2011680" cy="39319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9" b="0">
                <a:solidFill>
                  <a:srgbClr val="667085"/>
                </a:solidFill>
                <a:latin typeface="Calibri"/>
              </a:defRPr>
            </a:pPr>
            <a:r>
              <a:t>people + process + technology + data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39896" y="5029200"/>
            <a:ext cx="4754880" cy="9144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703320" y="4983480"/>
            <a:ext cx="47548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977639" y="5138928"/>
            <a:ext cx="118872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Quick check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39" y="5413248"/>
            <a:ext cx="416052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50" b="0">
                <a:solidFill>
                  <a:srgbClr val="667085"/>
                </a:solidFill>
                <a:latin typeface="Calibri"/>
              </a:defRPr>
            </a:pPr>
            <a:r>
              <a:t>Can you trace a login, purchase, or report request from client to data and back?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864</Words>
  <Application>Microsoft Office PowerPoint</Application>
  <PresentationFormat>Widescreen</PresentationFormat>
  <Paragraphs>171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Yao, John</cp:lastModifiedBy>
  <cp:revision>5</cp:revision>
  <dcterms:created xsi:type="dcterms:W3CDTF">2013-01-27T09:14:16Z</dcterms:created>
  <dcterms:modified xsi:type="dcterms:W3CDTF">2026-07-06T23:49:04Z</dcterms:modified>
  <cp:category/>
</cp:coreProperties>
</file>
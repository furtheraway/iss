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874519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1">
                <a:solidFill>
                  <a:srgbClr val="2F80ED"/>
                </a:solidFill>
                <a:latin typeface="Calibri"/>
              </a:defRPr>
            </a:pPr>
            <a:r>
              <a:t>TEACHING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897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83153"/>
                </a:solidFill>
                <a:latin typeface="Calibri"/>
              </a:rPr>
              <a:t>Information Systems</a:t>
            </a:r>
          </a:p>
          <a:p>
            <a:r>
              <a:rPr sz="3000" b="1">
                <a:solidFill>
                  <a:srgbClr val="2F80ED"/>
                </a:solidFill>
                <a:latin typeface="Calibri"/>
              </a:rPr>
              <a:t>Components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17520"/>
            <a:ext cx="5166360" cy="1143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Big picture: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how people, data, software, hardware, and networks work together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Modern architecture: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client, frontend, network, backend, server, and database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Practical lens:</a:t>
            </a:r>
            <a:r>
              <a:rPr sz="1400" b="0">
                <a:solidFill>
                  <a:srgbClr val="263238"/>
                </a:solidFill>
                <a:latin typeface="Calibri"/>
              </a:rPr>
              <a:t> browser, UI, CLI, apps, HTTP/TCP, programming, and algorithms</a:t>
            </a:r>
          </a:p>
        </p:txBody>
      </p:sp>
      <p:sp>
        <p:nvSpPr>
          <p:cNvPr id="9" name="Oval 8"/>
          <p:cNvSpPr/>
          <p:nvPr/>
        </p:nvSpPr>
        <p:spPr>
          <a:xfrm>
            <a:off x="8110727" y="2715768"/>
            <a:ext cx="1609344" cy="1609344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1188720" cy="6400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616952" y="1581912"/>
            <a:ext cx="1298448" cy="193852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60920" y="132588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399032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191109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15400" y="1490472"/>
            <a:ext cx="1261872" cy="20299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1240" y="12344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1307592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92640" y="18196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3520440"/>
            <a:ext cx="1627632" cy="117043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87000" y="44348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4507992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502005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662671" y="3520440"/>
            <a:ext cx="1252729" cy="181051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06640" y="507492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5148072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78040" y="566013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976872" y="3319272"/>
            <a:ext cx="1938528" cy="2011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720840" y="30632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136392"/>
            <a:ext cx="420624" cy="4206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2240" y="36484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Server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15400" y="3520440"/>
            <a:ext cx="713232" cy="222199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372600" y="548640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5559552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4000" y="607161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8">
            <a:extLst>
              <a:ext uri="{FF2B5EF4-FFF2-40B4-BE49-F238E27FC236}">
                <a16:creationId xmlns:a16="http://schemas.microsoft.com/office/drawing/2014/main" id="{5E359B73-8AF8-041D-16FE-2421F4965EA3}"/>
              </a:ext>
            </a:extLst>
          </p:cNvPr>
          <p:cNvSpPr/>
          <p:nvPr/>
        </p:nvSpPr>
        <p:spPr>
          <a:xfrm>
            <a:off x="431778" y="457200"/>
            <a:ext cx="2681091" cy="58656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0A8528B-1C2E-D5F2-C732-9330CE31F4FC}"/>
              </a:ext>
            </a:extLst>
          </p:cNvPr>
          <p:cNvGrpSpPr/>
          <p:nvPr/>
        </p:nvGrpSpPr>
        <p:grpSpPr>
          <a:xfrm>
            <a:off x="855718" y="2934128"/>
            <a:ext cx="1627632" cy="960263"/>
            <a:chOff x="621792" y="1874519"/>
            <a:chExt cx="1627632" cy="1115569"/>
          </a:xfrm>
        </p:grpSpPr>
        <p:sp>
          <p:nvSpPr>
            <p:cNvPr id="9" name="Rounded Rectangle 8"/>
            <p:cNvSpPr/>
            <p:nvPr/>
          </p:nvSpPr>
          <p:spPr>
            <a:xfrm>
              <a:off x="621792" y="1874519"/>
              <a:ext cx="1627632" cy="1115569"/>
            </a:xfrm>
            <a:prstGeom prst="roundRect">
              <a:avLst/>
            </a:prstGeom>
            <a:solidFill>
              <a:srgbClr val="EAF3FF"/>
            </a:solidFill>
            <a:ln w="10160"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0" name="Picture 9" descr="peop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398" y="1920238"/>
              <a:ext cx="681229" cy="681229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725301" y="2088498"/>
              <a:ext cx="814455" cy="34471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25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Users </a:t>
              </a:r>
              <a:r>
                <a:rPr lang="en-US" sz="2000" dirty="0"/>
                <a:t>2</a:t>
              </a:r>
              <a:endParaRPr sz="2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2137" y="2598722"/>
              <a:ext cx="1181798" cy="252377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950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400" dirty="0"/>
                <a:t>Laptop Browser</a:t>
              </a:r>
              <a:endParaRPr sz="1400" dirty="0"/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02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3C617EC7-755C-A69B-582A-7B13A38E1F20}"/>
              </a:ext>
            </a:extLst>
          </p:cNvPr>
          <p:cNvGrpSpPr/>
          <p:nvPr/>
        </p:nvGrpSpPr>
        <p:grpSpPr>
          <a:xfrm>
            <a:off x="855718" y="4053356"/>
            <a:ext cx="1627632" cy="960263"/>
            <a:chOff x="621792" y="1874519"/>
            <a:chExt cx="1627632" cy="1115569"/>
          </a:xfrm>
        </p:grpSpPr>
        <p:sp>
          <p:nvSpPr>
            <p:cNvPr id="73" name="Rounded Rectangle 8">
              <a:extLst>
                <a:ext uri="{FF2B5EF4-FFF2-40B4-BE49-F238E27FC236}">
                  <a16:creationId xmlns:a16="http://schemas.microsoft.com/office/drawing/2014/main" id="{F17F88D9-0BCA-5669-1678-C7DE713E2D15}"/>
                </a:ext>
              </a:extLst>
            </p:cNvPr>
            <p:cNvSpPr/>
            <p:nvPr/>
          </p:nvSpPr>
          <p:spPr>
            <a:xfrm>
              <a:off x="621792" y="1874519"/>
              <a:ext cx="1627632" cy="1115569"/>
            </a:xfrm>
            <a:prstGeom prst="roundRect">
              <a:avLst/>
            </a:prstGeom>
            <a:solidFill>
              <a:srgbClr val="EAF3FF"/>
            </a:solidFill>
            <a:ln w="10160"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4" name="Picture 73" descr="people.png">
              <a:extLst>
                <a:ext uri="{FF2B5EF4-FFF2-40B4-BE49-F238E27FC236}">
                  <a16:creationId xmlns:a16="http://schemas.microsoft.com/office/drawing/2014/main" id="{69F14947-4E9A-E371-6055-516AF6E54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398" y="1920238"/>
              <a:ext cx="681229" cy="681229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54E6F67-E434-BBFD-11B1-61E11EECCCA1}"/>
                </a:ext>
              </a:extLst>
            </p:cNvPr>
            <p:cNvSpPr txBox="1"/>
            <p:nvPr/>
          </p:nvSpPr>
          <p:spPr>
            <a:xfrm>
              <a:off x="725302" y="2088498"/>
              <a:ext cx="814454" cy="34471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25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Users </a:t>
              </a:r>
              <a:r>
                <a:rPr lang="en-US" sz="2000" dirty="0"/>
                <a:t>3</a:t>
              </a:r>
              <a:endParaRPr sz="20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90838F0-D219-42A9-8515-E63959192961}"/>
                </a:ext>
              </a:extLst>
            </p:cNvPr>
            <p:cNvSpPr txBox="1"/>
            <p:nvPr/>
          </p:nvSpPr>
          <p:spPr>
            <a:xfrm>
              <a:off x="939771" y="2598722"/>
              <a:ext cx="886526" cy="252377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950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400" dirty="0"/>
                <a:t>Mobile App</a:t>
              </a:r>
              <a:endParaRPr sz="14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1594BB8-0D16-360C-8D97-26C73EC84C01}"/>
              </a:ext>
            </a:extLst>
          </p:cNvPr>
          <p:cNvGrpSpPr/>
          <p:nvPr/>
        </p:nvGrpSpPr>
        <p:grpSpPr>
          <a:xfrm>
            <a:off x="855718" y="5172584"/>
            <a:ext cx="1627632" cy="960263"/>
            <a:chOff x="621792" y="1874519"/>
            <a:chExt cx="1627632" cy="1115569"/>
          </a:xfrm>
        </p:grpSpPr>
        <p:sp>
          <p:nvSpPr>
            <p:cNvPr id="78" name="Rounded Rectangle 8">
              <a:extLst>
                <a:ext uri="{FF2B5EF4-FFF2-40B4-BE49-F238E27FC236}">
                  <a16:creationId xmlns:a16="http://schemas.microsoft.com/office/drawing/2014/main" id="{AF770C3F-5B3B-044C-3A08-8CEEE3D817B8}"/>
                </a:ext>
              </a:extLst>
            </p:cNvPr>
            <p:cNvSpPr/>
            <p:nvPr/>
          </p:nvSpPr>
          <p:spPr>
            <a:xfrm>
              <a:off x="621792" y="1874519"/>
              <a:ext cx="1627632" cy="1115569"/>
            </a:xfrm>
            <a:prstGeom prst="roundRect">
              <a:avLst/>
            </a:prstGeom>
            <a:solidFill>
              <a:srgbClr val="EAF3FF"/>
            </a:solidFill>
            <a:ln w="10160"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79" name="Picture 78" descr="people.png">
              <a:extLst>
                <a:ext uri="{FF2B5EF4-FFF2-40B4-BE49-F238E27FC236}">
                  <a16:creationId xmlns:a16="http://schemas.microsoft.com/office/drawing/2014/main" id="{CFADBE27-57F1-E4F8-32FE-F2F39E741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398" y="1920238"/>
              <a:ext cx="681229" cy="681229"/>
            </a:xfrm>
            <a:prstGeom prst="rect">
              <a:avLst/>
            </a:prstGeom>
          </p:spPr>
        </p:pic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D18DCB-B8CC-D1B7-5B38-87F3F3B214B6}"/>
                </a:ext>
              </a:extLst>
            </p:cNvPr>
            <p:cNvSpPr txBox="1"/>
            <p:nvPr/>
          </p:nvSpPr>
          <p:spPr>
            <a:xfrm>
              <a:off x="725301" y="2088498"/>
              <a:ext cx="814455" cy="34471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25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Users </a:t>
              </a:r>
              <a:r>
                <a:rPr lang="en-US" sz="2000" dirty="0"/>
                <a:t>4</a:t>
              </a:r>
              <a:endParaRPr sz="20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617CBEF1-C7C3-200B-0FE8-BBCEC101D7FE}"/>
                </a:ext>
              </a:extLst>
            </p:cNvPr>
            <p:cNvSpPr txBox="1"/>
            <p:nvPr/>
          </p:nvSpPr>
          <p:spPr>
            <a:xfrm>
              <a:off x="894213" y="2598722"/>
              <a:ext cx="977640" cy="252377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950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400" dirty="0"/>
                <a:t>WeChat mini</a:t>
              </a:r>
              <a:endParaRPr sz="1400" dirty="0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8BD7673-7AB7-9B14-851C-B61D662B3F7B}"/>
              </a:ext>
            </a:extLst>
          </p:cNvPr>
          <p:cNvGrpSpPr/>
          <p:nvPr/>
        </p:nvGrpSpPr>
        <p:grpSpPr>
          <a:xfrm>
            <a:off x="855718" y="1814900"/>
            <a:ext cx="1627632" cy="960263"/>
            <a:chOff x="621792" y="1874519"/>
            <a:chExt cx="1627632" cy="1115569"/>
          </a:xfrm>
        </p:grpSpPr>
        <p:sp>
          <p:nvSpPr>
            <p:cNvPr id="83" name="Rounded Rectangle 8">
              <a:extLst>
                <a:ext uri="{FF2B5EF4-FFF2-40B4-BE49-F238E27FC236}">
                  <a16:creationId xmlns:a16="http://schemas.microsoft.com/office/drawing/2014/main" id="{19DFAC07-9821-DD59-9DD4-9EC44986DFE0}"/>
                </a:ext>
              </a:extLst>
            </p:cNvPr>
            <p:cNvSpPr/>
            <p:nvPr/>
          </p:nvSpPr>
          <p:spPr>
            <a:xfrm>
              <a:off x="621792" y="1874519"/>
              <a:ext cx="1627632" cy="1115569"/>
            </a:xfrm>
            <a:prstGeom prst="roundRect">
              <a:avLst/>
            </a:prstGeom>
            <a:solidFill>
              <a:srgbClr val="EAF3FF"/>
            </a:solidFill>
            <a:ln w="10160">
              <a:solidFill>
                <a:srgbClr val="2F80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84" name="Picture 83" descr="people.png">
              <a:extLst>
                <a:ext uri="{FF2B5EF4-FFF2-40B4-BE49-F238E27FC236}">
                  <a16:creationId xmlns:a16="http://schemas.microsoft.com/office/drawing/2014/main" id="{76C9025B-D219-3D5D-39DF-868F1039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38398" y="1920238"/>
              <a:ext cx="681229" cy="681229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3BF1956-CF94-BAFF-6838-D0FD16A042EA}"/>
                </a:ext>
              </a:extLst>
            </p:cNvPr>
            <p:cNvSpPr txBox="1"/>
            <p:nvPr/>
          </p:nvSpPr>
          <p:spPr>
            <a:xfrm>
              <a:off x="725302" y="2088498"/>
              <a:ext cx="814454" cy="34471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25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Users </a:t>
              </a:r>
              <a:r>
                <a:rPr lang="en-US" sz="2000" dirty="0"/>
                <a:t>1</a:t>
              </a:r>
              <a:endParaRPr sz="2000" dirty="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40146B9-A229-051A-2E53-17942FC94545}"/>
                </a:ext>
              </a:extLst>
            </p:cNvPr>
            <p:cNvSpPr txBox="1"/>
            <p:nvPr/>
          </p:nvSpPr>
          <p:spPr>
            <a:xfrm>
              <a:off x="801462" y="2491001"/>
              <a:ext cx="1163140" cy="46782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950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400" dirty="0"/>
                <a:t>Command Line</a:t>
              </a:r>
              <a:br>
                <a:rPr lang="en-US" sz="1400" dirty="0"/>
              </a:br>
              <a:r>
                <a:rPr lang="en-US" sz="1400" dirty="0"/>
                <a:t>Interface (CLM)</a:t>
              </a:r>
              <a:endParaRPr sz="1400" dirty="0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0FD62F78-D5D7-E007-D920-1EAD01DC2A94}"/>
              </a:ext>
            </a:extLst>
          </p:cNvPr>
          <p:cNvSpPr txBox="1"/>
          <p:nvPr/>
        </p:nvSpPr>
        <p:spPr>
          <a:xfrm>
            <a:off x="731141" y="622885"/>
            <a:ext cx="2082365" cy="96026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2000" dirty="0"/>
              <a:t>Presentation Layer </a:t>
            </a:r>
            <a:endParaRPr lang="en-US" sz="2000" dirty="0"/>
          </a:p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</a:rPr>
              <a:t>/ Frontend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lang="en-US" sz="2000" dirty="0">
                <a:solidFill>
                  <a:srgbClr val="00B050"/>
                </a:solidFill>
              </a:rPr>
              <a:t>/ Client </a:t>
            </a:r>
            <a:endParaRPr sz="2000" dirty="0">
              <a:solidFill>
                <a:srgbClr val="00B050"/>
              </a:solidFill>
            </a:endParaRP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6B7CE1D-FE8F-4DA3-2E96-63000A011B7B}"/>
              </a:ext>
            </a:extLst>
          </p:cNvPr>
          <p:cNvGrpSpPr/>
          <p:nvPr/>
        </p:nvGrpSpPr>
        <p:grpSpPr>
          <a:xfrm>
            <a:off x="4250802" y="2354984"/>
            <a:ext cx="2681091" cy="2372951"/>
            <a:chOff x="4345929" y="2440644"/>
            <a:chExt cx="2681091" cy="2372951"/>
          </a:xfrm>
        </p:grpSpPr>
        <p:sp>
          <p:nvSpPr>
            <p:cNvPr id="98" name="Rounded Rectangle 29">
              <a:extLst>
                <a:ext uri="{FF2B5EF4-FFF2-40B4-BE49-F238E27FC236}">
                  <a16:creationId xmlns:a16="http://schemas.microsoft.com/office/drawing/2014/main" id="{2775950B-37EC-BB25-A7E0-DD71344244F7}"/>
                </a:ext>
              </a:extLst>
            </p:cNvPr>
            <p:cNvSpPr/>
            <p:nvPr/>
          </p:nvSpPr>
          <p:spPr>
            <a:xfrm>
              <a:off x="4345929" y="2440644"/>
              <a:ext cx="2681091" cy="2311750"/>
            </a:xfrm>
            <a:prstGeom prst="roundRect">
              <a:avLst/>
            </a:prstGeom>
            <a:solidFill>
              <a:srgbClr val="F0ECFF"/>
            </a:solidFill>
            <a:ln w="10160">
              <a:solidFill>
                <a:srgbClr val="7B61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31" name="Picture 30" descr="server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3145" y="3857519"/>
              <a:ext cx="956076" cy="956076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DEE55A1-0A1E-C50E-8666-04BCCF4757FC}"/>
                </a:ext>
              </a:extLst>
            </p:cNvPr>
            <p:cNvSpPr txBox="1"/>
            <p:nvPr/>
          </p:nvSpPr>
          <p:spPr>
            <a:xfrm>
              <a:off x="4524231" y="2654883"/>
              <a:ext cx="2313903" cy="1144929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2400" dirty="0"/>
                <a:t>Application Layer </a:t>
              </a:r>
              <a:endParaRPr lang="en-US" sz="2400" dirty="0"/>
            </a:p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2400" dirty="0">
                  <a:solidFill>
                    <a:schemeClr val="accent6">
                      <a:lumMod val="75000"/>
                    </a:schemeClr>
                  </a:solidFill>
                </a:rPr>
                <a:t>/ Backend</a:t>
              </a:r>
              <a:endParaRPr lang="en-US" sz="24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2400" dirty="0">
                  <a:solidFill>
                    <a:srgbClr val="00B050"/>
                  </a:solidFill>
                </a:rPr>
                <a:t>/ Server</a:t>
              </a:r>
              <a:endParaRPr sz="24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17C4E97-44F4-C00A-DC8E-2562C4464239}"/>
              </a:ext>
            </a:extLst>
          </p:cNvPr>
          <p:cNvGrpSpPr/>
          <p:nvPr/>
        </p:nvGrpSpPr>
        <p:grpSpPr>
          <a:xfrm>
            <a:off x="8069827" y="1008090"/>
            <a:ext cx="3086785" cy="5005118"/>
            <a:chOff x="8249496" y="622885"/>
            <a:chExt cx="3086785" cy="5005118"/>
          </a:xfrm>
        </p:grpSpPr>
        <p:sp>
          <p:nvSpPr>
            <p:cNvPr id="37" name="Rounded Rectangle 36"/>
            <p:cNvSpPr/>
            <p:nvPr/>
          </p:nvSpPr>
          <p:spPr>
            <a:xfrm>
              <a:off x="8249496" y="622885"/>
              <a:ext cx="3086785" cy="5005118"/>
            </a:xfrm>
            <a:prstGeom prst="roundRect">
              <a:avLst/>
            </a:prstGeom>
            <a:solidFill>
              <a:srgbClr val="E9F8EF"/>
            </a:solidFill>
            <a:ln w="10160">
              <a:solidFill>
                <a:srgbClr val="27AE6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677C174-BF01-AF3D-A408-2F9DF12EAE0A}"/>
                </a:ext>
              </a:extLst>
            </p:cNvPr>
            <p:cNvSpPr txBox="1"/>
            <p:nvPr/>
          </p:nvSpPr>
          <p:spPr>
            <a:xfrm>
              <a:off x="8505980" y="678081"/>
              <a:ext cx="2408801" cy="775597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2400" dirty="0"/>
                <a:t>Data</a:t>
              </a:r>
              <a:r>
                <a:rPr sz="2400" dirty="0"/>
                <a:t> Layer </a:t>
              </a:r>
              <a:endParaRPr lang="en-US" sz="2400" dirty="0"/>
            </a:p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2400" dirty="0">
                  <a:solidFill>
                    <a:schemeClr val="accent6">
                      <a:lumMod val="75000"/>
                    </a:schemeClr>
                  </a:solidFill>
                </a:rPr>
                <a:t>/ Backend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sz="2400" dirty="0">
                  <a:solidFill>
                    <a:srgbClr val="00B050"/>
                  </a:solidFill>
                </a:rPr>
                <a:t>/ Server</a:t>
              </a:r>
              <a:endParaRPr sz="2400" dirty="0">
                <a:solidFill>
                  <a:srgbClr val="00B050"/>
                </a:solidFill>
              </a:endParaRPr>
            </a:p>
          </p:txBody>
        </p:sp>
        <p:sp>
          <p:nvSpPr>
            <p:cNvPr id="113" name="Rounded Rectangle 12">
              <a:extLst>
                <a:ext uri="{FF2B5EF4-FFF2-40B4-BE49-F238E27FC236}">
                  <a16:creationId xmlns:a16="http://schemas.microsoft.com/office/drawing/2014/main" id="{31C527E5-19E1-4C22-659A-02A741A63962}"/>
                </a:ext>
              </a:extLst>
            </p:cNvPr>
            <p:cNvSpPr/>
            <p:nvPr/>
          </p:nvSpPr>
          <p:spPr>
            <a:xfrm>
              <a:off x="8547234" y="1665711"/>
              <a:ext cx="2468880" cy="1078992"/>
            </a:xfrm>
            <a:prstGeom prst="roundRect">
              <a:avLst/>
            </a:prstGeom>
            <a:solidFill>
              <a:srgbClr val="E9F8EF"/>
            </a:solidFill>
            <a:ln w="10160"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7F4E0C6-EFAB-F0EE-83F7-9CF8F1E5D9A4}"/>
                </a:ext>
              </a:extLst>
            </p:cNvPr>
            <p:cNvSpPr txBox="1"/>
            <p:nvPr/>
          </p:nvSpPr>
          <p:spPr>
            <a:xfrm>
              <a:off x="9306186" y="1604217"/>
              <a:ext cx="1631985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2000" dirty="0"/>
                <a:t>Local </a:t>
              </a:r>
              <a:r>
                <a:rPr sz="2000" dirty="0"/>
                <a:t>Database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A035EC2-010B-6FB5-9C89-575749900AD0}"/>
                </a:ext>
              </a:extLst>
            </p:cNvPr>
            <p:cNvSpPr txBox="1"/>
            <p:nvPr/>
          </p:nvSpPr>
          <p:spPr>
            <a:xfrm>
              <a:off x="9306186" y="1874072"/>
              <a:ext cx="1687706" cy="52937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019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600" dirty="0"/>
                <a:t>Relational Database</a:t>
              </a:r>
            </a:p>
            <a:p>
              <a:pPr algn="l">
                <a:defRPr sz="1019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600" dirty="0"/>
                <a:t>Static files like JSON</a:t>
              </a:r>
              <a:endParaRPr sz="1600" dirty="0"/>
            </a:p>
          </p:txBody>
        </p:sp>
        <p:sp>
          <p:nvSpPr>
            <p:cNvPr id="116" name="Rounded Rectangle 19">
              <a:extLst>
                <a:ext uri="{FF2B5EF4-FFF2-40B4-BE49-F238E27FC236}">
                  <a16:creationId xmlns:a16="http://schemas.microsoft.com/office/drawing/2014/main" id="{99969EE3-12F8-700D-8C8B-0FEFD65D993B}"/>
                </a:ext>
              </a:extLst>
            </p:cNvPr>
            <p:cNvSpPr/>
            <p:nvPr/>
          </p:nvSpPr>
          <p:spPr>
            <a:xfrm>
              <a:off x="8547234" y="2959768"/>
              <a:ext cx="2468880" cy="1078992"/>
            </a:xfrm>
            <a:prstGeom prst="roundRect">
              <a:avLst/>
            </a:prstGeom>
            <a:solidFill>
              <a:srgbClr val="E7F8FE"/>
            </a:solidFill>
            <a:ln w="10160"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4F00E7-DCFD-55D8-B116-9EB1F0A04EB7}"/>
                </a:ext>
              </a:extLst>
            </p:cNvPr>
            <p:cNvSpPr txBox="1"/>
            <p:nvPr/>
          </p:nvSpPr>
          <p:spPr>
            <a:xfrm>
              <a:off x="9306186" y="2952829"/>
              <a:ext cx="1491499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Cloud storage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7DC74C5-B6BD-AF92-FCBE-1566D4EA5552}"/>
                </a:ext>
              </a:extLst>
            </p:cNvPr>
            <p:cNvSpPr txBox="1"/>
            <p:nvPr/>
          </p:nvSpPr>
          <p:spPr>
            <a:xfrm>
              <a:off x="9306186" y="3417921"/>
              <a:ext cx="1612942" cy="283154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019" b="0">
                  <a:solidFill>
                    <a:srgbClr val="667085"/>
                  </a:solidFill>
                  <a:latin typeface="Calibri"/>
                </a:defRPr>
              </a:pPr>
              <a:r>
                <a:rPr lang="en-US" sz="1600" dirty="0"/>
                <a:t>Documents / Blobs</a:t>
              </a:r>
              <a:endParaRPr sz="1600" dirty="0"/>
            </a:p>
          </p:txBody>
        </p:sp>
        <p:sp>
          <p:nvSpPr>
            <p:cNvPr id="119" name="Rounded Rectangle 33">
              <a:extLst>
                <a:ext uri="{FF2B5EF4-FFF2-40B4-BE49-F238E27FC236}">
                  <a16:creationId xmlns:a16="http://schemas.microsoft.com/office/drawing/2014/main" id="{158241B9-4C9B-9ECC-72F3-577573ACB67F}"/>
                </a:ext>
              </a:extLst>
            </p:cNvPr>
            <p:cNvSpPr/>
            <p:nvPr/>
          </p:nvSpPr>
          <p:spPr>
            <a:xfrm>
              <a:off x="8547234" y="4281075"/>
              <a:ext cx="2468880" cy="1078992"/>
            </a:xfrm>
            <a:prstGeom prst="roundRect">
              <a:avLst/>
            </a:prstGeom>
            <a:solidFill>
              <a:srgbClr val="FFF4E8"/>
            </a:solidFill>
            <a:ln w="10160"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F544BDB2-134C-7FCC-C726-4D4AB50ACBCE}"/>
                </a:ext>
              </a:extLst>
            </p:cNvPr>
            <p:cNvSpPr txBox="1"/>
            <p:nvPr/>
          </p:nvSpPr>
          <p:spPr>
            <a:xfrm>
              <a:off x="9361788" y="4386877"/>
              <a:ext cx="611290" cy="34471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2000" dirty="0"/>
                <a:t>Logs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13408EC-127A-0515-F475-45AA945D771F}"/>
                </a:ext>
              </a:extLst>
            </p:cNvPr>
            <p:cNvSpPr txBox="1"/>
            <p:nvPr/>
          </p:nvSpPr>
          <p:spPr>
            <a:xfrm>
              <a:off x="9361788" y="4751159"/>
              <a:ext cx="1551432" cy="529376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l">
                <a:defRPr sz="1019" b="0">
                  <a:solidFill>
                    <a:srgbClr val="667085"/>
                  </a:solidFill>
                  <a:latin typeface="Calibri"/>
                </a:defRPr>
              </a:pPr>
              <a:r>
                <a:rPr sz="1600" dirty="0"/>
                <a:t>events </a:t>
              </a:r>
              <a:endParaRPr lang="en-US" sz="1600" dirty="0"/>
            </a:p>
            <a:p>
              <a:pPr algn="l">
                <a:defRPr sz="1019" b="0">
                  <a:solidFill>
                    <a:srgbClr val="667085"/>
                  </a:solidFill>
                  <a:latin typeface="Calibri"/>
                </a:defRPr>
              </a:pPr>
              <a:r>
                <a:rPr sz="1600" dirty="0"/>
                <a:t>audit trails</a:t>
              </a: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EAF6CEE-F2A0-4688-7AEF-BE127AEC6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05146" y="4482243"/>
              <a:ext cx="676656" cy="676656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3D640BAD-4B94-46CB-E389-0B2CFC2FB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7507" y="3201260"/>
              <a:ext cx="558427" cy="558427"/>
            </a:xfrm>
            <a:prstGeom prst="rect">
              <a:avLst/>
            </a:prstGeom>
          </p:spPr>
        </p:pic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FB89DD6D-61A6-143A-A9FC-E63431A95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18431" y="1884370"/>
              <a:ext cx="687755" cy="687755"/>
            </a:xfrm>
            <a:prstGeom prst="rect">
              <a:avLst/>
            </a:prstGeom>
          </p:spPr>
        </p:pic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B0E95E9-0420-A23C-E5D3-B356A34A0E2F}"/>
              </a:ext>
            </a:extLst>
          </p:cNvPr>
          <p:cNvGrpSpPr/>
          <p:nvPr/>
        </p:nvGrpSpPr>
        <p:grpSpPr>
          <a:xfrm>
            <a:off x="4327189" y="1008090"/>
            <a:ext cx="2528316" cy="777241"/>
            <a:chOff x="3182111" y="1956815"/>
            <a:chExt cx="2528316" cy="777241"/>
          </a:xfrm>
        </p:grpSpPr>
        <p:sp>
          <p:nvSpPr>
            <p:cNvPr id="129" name="Rounded Rectangle 14">
              <a:extLst>
                <a:ext uri="{FF2B5EF4-FFF2-40B4-BE49-F238E27FC236}">
                  <a16:creationId xmlns:a16="http://schemas.microsoft.com/office/drawing/2014/main" id="{56150D91-C1E6-55A5-9102-A52C8D75B44F}"/>
                </a:ext>
              </a:extLst>
            </p:cNvPr>
            <p:cNvSpPr/>
            <p:nvPr/>
          </p:nvSpPr>
          <p:spPr>
            <a:xfrm>
              <a:off x="3182111" y="1993392"/>
              <a:ext cx="2528316" cy="685800"/>
            </a:xfrm>
            <a:prstGeom prst="roundRect">
              <a:avLst/>
            </a:prstGeom>
            <a:solidFill>
              <a:srgbClr val="FEEEEE"/>
            </a:solidFill>
            <a:ln w="10160">
              <a:solidFill>
                <a:srgbClr val="EB57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30" name="Picture 129" descr="auth.png">
              <a:extLst>
                <a:ext uri="{FF2B5EF4-FFF2-40B4-BE49-F238E27FC236}">
                  <a16:creationId xmlns:a16="http://schemas.microsoft.com/office/drawing/2014/main" id="{E45064BF-1C43-648B-378A-F55393F432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20973" y="1956815"/>
              <a:ext cx="777241" cy="777241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6FAF6AC-98F1-F4F6-A001-71D2D19E8787}"/>
                </a:ext>
              </a:extLst>
            </p:cNvPr>
            <p:cNvSpPr txBox="1"/>
            <p:nvPr/>
          </p:nvSpPr>
          <p:spPr>
            <a:xfrm>
              <a:off x="3835908" y="2102382"/>
              <a:ext cx="1874519" cy="46782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1400" dirty="0"/>
                <a:t>Authenticate</a:t>
              </a:r>
              <a:r>
                <a:rPr lang="en-US" sz="1400" dirty="0"/>
                <a:t> </a:t>
              </a:r>
              <a:r>
                <a:rPr sz="1400" dirty="0"/>
                <a:t>user</a:t>
              </a:r>
              <a:br>
                <a:rPr lang="en-US" sz="1400" dirty="0"/>
              </a:br>
              <a:r>
                <a:rPr lang="en-US" sz="1400" dirty="0"/>
                <a:t>e.g. WeChat Sign-in</a:t>
              </a:r>
              <a:endParaRPr sz="1400" dirty="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558775D-1FEF-8F18-573C-D70F5B2378A5}"/>
              </a:ext>
            </a:extLst>
          </p:cNvPr>
          <p:cNvGrpSpPr/>
          <p:nvPr/>
        </p:nvGrpSpPr>
        <p:grpSpPr>
          <a:xfrm>
            <a:off x="4439389" y="5249688"/>
            <a:ext cx="2303917" cy="832104"/>
            <a:chOff x="4494276" y="3127248"/>
            <a:chExt cx="2303917" cy="832104"/>
          </a:xfrm>
        </p:grpSpPr>
        <p:sp>
          <p:nvSpPr>
            <p:cNvPr id="133" name="Rounded Rectangle 20">
              <a:extLst>
                <a:ext uri="{FF2B5EF4-FFF2-40B4-BE49-F238E27FC236}">
                  <a16:creationId xmlns:a16="http://schemas.microsoft.com/office/drawing/2014/main" id="{9232ABB8-2572-81E1-AD69-575B2E7A2EE6}"/>
                </a:ext>
              </a:extLst>
            </p:cNvPr>
            <p:cNvSpPr/>
            <p:nvPr/>
          </p:nvSpPr>
          <p:spPr>
            <a:xfrm>
              <a:off x="4494276" y="3127248"/>
              <a:ext cx="2294772" cy="832104"/>
            </a:xfrm>
            <a:prstGeom prst="roundRect">
              <a:avLst/>
            </a:prstGeom>
            <a:solidFill>
              <a:srgbClr val="FFF4E8"/>
            </a:solidFill>
            <a:ln w="10160">
              <a:solidFill>
                <a:srgbClr val="F299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B6AD352A-323C-8DEE-7B4F-D59082058FA9}"/>
                </a:ext>
              </a:extLst>
            </p:cNvPr>
            <p:cNvSpPr txBox="1"/>
            <p:nvPr/>
          </p:nvSpPr>
          <p:spPr>
            <a:xfrm>
              <a:off x="5162231" y="3323844"/>
              <a:ext cx="1635962" cy="46782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1400" dirty="0"/>
                <a:t>APIs to other Servers </a:t>
              </a:r>
            </a:p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1400" dirty="0"/>
                <a:t>from other parties</a:t>
              </a:r>
              <a:endParaRPr sz="1400" dirty="0"/>
            </a:p>
          </p:txBody>
        </p:sp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8494BA69-3930-84C2-3717-AD0C61D65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62856" y="3336012"/>
              <a:ext cx="571500" cy="571500"/>
            </a:xfrm>
            <a:prstGeom prst="rect">
              <a:avLst/>
            </a:prstGeom>
          </p:spPr>
        </p:pic>
      </p:grp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3E1B90FF-82CC-C2C8-2475-02D940E1855B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2483350" y="2337805"/>
            <a:ext cx="1767452" cy="1173054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B9F3854-252F-0D02-A3B3-A6E5F3AE9170}"/>
              </a:ext>
            </a:extLst>
          </p:cNvPr>
          <p:cNvCxnSpPr>
            <a:cxnSpLocks/>
            <a:stCxn id="31" idx="2"/>
            <a:endCxn id="133" idx="0"/>
          </p:cNvCxnSpPr>
          <p:nvPr/>
        </p:nvCxnSpPr>
        <p:spPr>
          <a:xfrm>
            <a:off x="5586056" y="4727935"/>
            <a:ext cx="719" cy="521753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7F33E96-B713-89A6-42DB-0840448AAFE0}"/>
              </a:ext>
            </a:extLst>
          </p:cNvPr>
          <p:cNvCxnSpPr>
            <a:cxnSpLocks/>
          </p:cNvCxnSpPr>
          <p:nvPr/>
        </p:nvCxnSpPr>
        <p:spPr>
          <a:xfrm>
            <a:off x="5553153" y="1730467"/>
            <a:ext cx="1" cy="624517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E0214CFC-197D-DE4F-7060-FD2001CFE4E7}"/>
              </a:ext>
            </a:extLst>
          </p:cNvPr>
          <p:cNvCxnSpPr>
            <a:cxnSpLocks/>
            <a:stCxn id="98" idx="1"/>
            <a:endCxn id="78" idx="3"/>
          </p:cNvCxnSpPr>
          <p:nvPr/>
        </p:nvCxnSpPr>
        <p:spPr>
          <a:xfrm flipH="1">
            <a:off x="2483350" y="3510859"/>
            <a:ext cx="1767452" cy="2141857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A407EA2-6F36-2064-BA5C-1695B3D179E3}"/>
              </a:ext>
            </a:extLst>
          </p:cNvPr>
          <p:cNvCxnSpPr>
            <a:cxnSpLocks/>
            <a:stCxn id="73" idx="3"/>
            <a:endCxn id="98" idx="1"/>
          </p:cNvCxnSpPr>
          <p:nvPr/>
        </p:nvCxnSpPr>
        <p:spPr>
          <a:xfrm flipV="1">
            <a:off x="2483350" y="3510859"/>
            <a:ext cx="1767452" cy="1022629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CE691DE7-7BCA-79C4-B78E-E876C592A158}"/>
              </a:ext>
            </a:extLst>
          </p:cNvPr>
          <p:cNvCxnSpPr>
            <a:cxnSpLocks/>
            <a:endCxn id="98" idx="1"/>
          </p:cNvCxnSpPr>
          <p:nvPr/>
        </p:nvCxnSpPr>
        <p:spPr>
          <a:xfrm>
            <a:off x="2512661" y="3390016"/>
            <a:ext cx="1738141" cy="120843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D563A43-67D3-12F2-0B05-DC87DF945A01}"/>
              </a:ext>
            </a:extLst>
          </p:cNvPr>
          <p:cNvCxnSpPr>
            <a:cxnSpLocks/>
            <a:stCxn id="116" idx="1"/>
            <a:endCxn id="98" idx="3"/>
          </p:cNvCxnSpPr>
          <p:nvPr/>
        </p:nvCxnSpPr>
        <p:spPr>
          <a:xfrm flipH="1" flipV="1">
            <a:off x="6931893" y="3510859"/>
            <a:ext cx="1435672" cy="373610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2145206-2295-4530-A7ED-533DCFD31727}"/>
              </a:ext>
            </a:extLst>
          </p:cNvPr>
          <p:cNvCxnSpPr>
            <a:cxnSpLocks/>
            <a:endCxn id="119" idx="1"/>
          </p:cNvCxnSpPr>
          <p:nvPr/>
        </p:nvCxnSpPr>
        <p:spPr>
          <a:xfrm>
            <a:off x="6953507" y="3944703"/>
            <a:ext cx="1414058" cy="1261073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E50DD3C-2013-FA0D-1B46-9C39C720C8AF}"/>
              </a:ext>
            </a:extLst>
          </p:cNvPr>
          <p:cNvCxnSpPr>
            <a:cxnSpLocks/>
            <a:endCxn id="113" idx="1"/>
          </p:cNvCxnSpPr>
          <p:nvPr/>
        </p:nvCxnSpPr>
        <p:spPr>
          <a:xfrm flipV="1">
            <a:off x="6953507" y="2590412"/>
            <a:ext cx="1414058" cy="527906"/>
          </a:xfrm>
          <a:prstGeom prst="straightConnector1">
            <a:avLst/>
          </a:prstGeom>
          <a:ln w="50800">
            <a:solidFill>
              <a:srgbClr val="00B0F0">
                <a:alpha val="36000"/>
              </a:srgbClr>
            </a:solidFill>
            <a:headEnd type="triangle"/>
            <a:tailEnd type="triangle"/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Major components of an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These pieces work together; none is useful in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" y="162763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8096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851660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0744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Physical devices: computers, servers, routers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60" y="1627632"/>
            <a:ext cx="3063240" cy="1060704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98264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85166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0912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Programs, operating systems, enterprise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3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063240" cy="1060704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28431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5" y="1851660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1080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Raw facts organized into useful information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" y="3090672"/>
            <a:ext cx="3063240" cy="106070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8096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314700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0744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Users, managers, analysts, IT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51960" y="3090672"/>
            <a:ext cx="3063240" cy="106070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98264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pro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988" y="3314700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10912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Rules, workflows, procedures, approvals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3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82127" y="309067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28431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6155" y="3314700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41080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Internet, Wi-Fi, LAN, APIs, communication links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8536" y="459943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51960" y="4553712"/>
            <a:ext cx="3063240" cy="1060704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398264" y="470001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ecur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988" y="4777740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10912" y="470916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499262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Access control, encryption, backups, audit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Useful information emerges when components are coordinated.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Common architecture: layered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three-tier model plus network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1645920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709160" cy="86868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7393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755648"/>
            <a:ext cx="374904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dirty="0"/>
              <a:t>Presentation Layer /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39112"/>
            <a:ext cx="374904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t>UI, CLI, browser, mobile app, desktop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1820" y="2496312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3058668" y="2569463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13816" y="2724911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77240" y="2679191"/>
            <a:ext cx="4709160" cy="86868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52927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1912" y="2834639"/>
            <a:ext cx="374904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118103"/>
            <a:ext cx="374904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t>HTTP/HTTPS, TCP/IP, APIs, internet/LAN/Wi-Fi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1820" y="3575303"/>
            <a:ext cx="0" cy="146304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3058668" y="3648455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3816" y="3803903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3758183"/>
            <a:ext cx="4709160" cy="86868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3192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81912" y="3913631"/>
            <a:ext cx="374904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Application Layer /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197096"/>
            <a:ext cx="374904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t>Business logic, programs, algorithms, authentication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1820" y="4654296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3058668" y="4727447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13816" y="4882896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4837176"/>
            <a:ext cx="4709160" cy="86868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10912"/>
            <a:ext cx="475488" cy="4754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81912" y="4992624"/>
            <a:ext cx="374904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5276088"/>
            <a:ext cx="374904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t>Database, files, cloud storage, data warehouse, logs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7376" y="1691640"/>
            <a:ext cx="4937760" cy="43434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400800" y="1645920"/>
            <a:ext cx="493776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20840" y="1883664"/>
            <a:ext cx="429768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Layer responsibilities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514600"/>
            <a:ext cx="132588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F80ED"/>
                </a:solidFill>
                <a:latin typeface="Calibri"/>
              </a:defRPr>
            </a:pPr>
            <a:r>
              <a:t>Frontend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47888" y="2660904"/>
            <a:ext cx="365760" cy="0"/>
          </a:xfrm>
          <a:prstGeom prst="line">
            <a:avLst/>
          </a:prstGeom>
          <a:ln w="1905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8540496" y="2587752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32520" y="2505456"/>
            <a:ext cx="210312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t>collects input + shows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12280" y="3172968"/>
            <a:ext cx="132588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00A6A6"/>
                </a:solidFill>
                <a:latin typeface="Calibri"/>
              </a:defRPr>
            </a:pPr>
            <a:r>
              <a:t>Network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47888" y="3319272"/>
            <a:ext cx="365760" cy="0"/>
          </a:xfrm>
          <a:prstGeom prst="line">
            <a:avLst/>
          </a:prstGeom>
          <a:ln w="1905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8540496" y="3246120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32520" y="3163824"/>
            <a:ext cx="210312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t>moves requests + responses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831335"/>
            <a:ext cx="132588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7B61FF"/>
                </a:solidFill>
                <a:latin typeface="Calibri"/>
              </a:defRPr>
            </a:pPr>
            <a:r>
              <a:t>Backend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47888" y="3977639"/>
            <a:ext cx="365760" cy="0"/>
          </a:xfrm>
          <a:prstGeom prst="line">
            <a:avLst/>
          </a:prstGeom>
          <a:ln w="1905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8540496" y="3904487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3822191"/>
            <a:ext cx="210312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t>applies rules + runs algorithms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12280" y="4489704"/>
            <a:ext cx="132588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27AE60"/>
                </a:solidFill>
                <a:latin typeface="Calibri"/>
              </a:defRPr>
            </a:pPr>
            <a:r>
              <a:t>Data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47888" y="4636008"/>
            <a:ext cx="365760" cy="0"/>
          </a:xfrm>
          <a:prstGeom prst="line">
            <a:avLst/>
          </a:prstGeom>
          <a:ln w="1905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8540496" y="4562856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732520" y="4480560"/>
            <a:ext cx="210312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t>stores facts + history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3992" y="5440680"/>
            <a:ext cx="411480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0">
                <a:solidFill>
                  <a:srgbClr val="667085"/>
                </a:solidFill>
                <a:latin typeface="Calibri"/>
              </a:defRPr>
            </a:pPr>
            <a:r>
              <a:t>Most real systems use variations of this model.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CLIENT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Client side: where users interact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client is any tool that sends requests and displays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4709160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888236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21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Visual interface: buttons, forms, menus,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664208"/>
            <a:ext cx="4709160" cy="141732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459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88236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585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Text interface: commands, scripts,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3721608"/>
            <a:ext cx="4709160" cy="141732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row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59" y="3945636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721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Web client: Chrome, Edge, Safari, Firefox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3721608"/>
            <a:ext cx="4709160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459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3945636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85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5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Mobile or desktop software installed by 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8256" y="5559552"/>
            <a:ext cx="8183879" cy="6858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011680" y="5513832"/>
            <a:ext cx="8183879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5669280"/>
            <a:ext cx="7543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Different clients can use the same backend and data layer.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CLIENT/SERVER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Server/client model: request and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The client asks; the server processes; the client receives the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874519"/>
            <a:ext cx="2468880" cy="26517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26517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121408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081528"/>
            <a:ext cx="201168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2011680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Runs UI/CLI:</a:t>
            </a:r>
            <a:r>
              <a:rPr sz="1080" b="0">
                <a:solidFill>
                  <a:srgbClr val="263238"/>
                </a:solidFill>
                <a:latin typeface="Calibri"/>
              </a:rPr>
              <a:t> captures user actions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Sends requests:</a:t>
            </a:r>
            <a:r>
              <a:rPr sz="1080" b="0">
                <a:solidFill>
                  <a:srgbClr val="263238"/>
                </a:solidFill>
                <a:latin typeface="Calibri"/>
              </a:rPr>
              <a:t> asks server for work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Displays responses:</a:t>
            </a:r>
            <a:r>
              <a:rPr sz="1080" b="0">
                <a:solidFill>
                  <a:srgbClr val="263238"/>
                </a:solidFill>
                <a:latin typeface="Calibri"/>
              </a:rPr>
              <a:t> shows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8" y="2103120"/>
            <a:ext cx="3520440" cy="2194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96512" y="2057400"/>
            <a:ext cx="35204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ht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576072" cy="576072"/>
          </a:xfrm>
          <a:prstGeom prst="rect">
            <a:avLst/>
          </a:prstGeom>
        </p:spPr>
      </p:pic>
      <p:pic>
        <p:nvPicPr>
          <p:cNvPr id="16" name="Picture 15" descr="t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95728"/>
            <a:ext cx="576072" cy="5760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69080" y="3035808"/>
            <a:ext cx="1298448" cy="2377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F80ED"/>
                </a:solidFill>
                <a:latin typeface="Calibri"/>
              </a:defRPr>
            </a:pPr>
            <a:r>
              <a:t>HTTP/HTTPS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35808"/>
            <a:ext cx="1051560" cy="2377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00A6A6"/>
                </a:solidFill>
                <a:latin typeface="Calibri"/>
              </a:defRPr>
            </a:pPr>
            <a:r>
              <a:t>TCP/IP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58444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Network communication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36976" y="2761488"/>
            <a:ext cx="804672" cy="0"/>
          </a:xfrm>
          <a:prstGeom prst="line">
            <a:avLst/>
          </a:prstGeom>
          <a:ln w="304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968496" y="2688336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3264408" y="3584448"/>
            <a:ext cx="4379975" cy="0"/>
          </a:xfrm>
          <a:prstGeom prst="line">
            <a:avLst/>
          </a:prstGeom>
          <a:ln w="2159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3191256" y="3511296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46704" y="2432304"/>
            <a:ext cx="59436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2F80ED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75887"/>
            <a:ext cx="91440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667085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94776" y="1874519"/>
            <a:ext cx="2697480" cy="26517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58200" y="1828800"/>
            <a:ext cx="2697480" cy="26517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21408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41664" y="3081528"/>
            <a:ext cx="2130552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t>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520440"/>
            <a:ext cx="2084831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Receives requests:</a:t>
            </a:r>
            <a:r>
              <a:rPr sz="1080" b="0">
                <a:solidFill>
                  <a:srgbClr val="263238"/>
                </a:solidFill>
                <a:latin typeface="Calibri"/>
              </a:rPr>
              <a:t> from many clients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Runs backend:</a:t>
            </a:r>
            <a:r>
              <a:rPr sz="1080" b="0">
                <a:solidFill>
                  <a:srgbClr val="263238"/>
                </a:solidFill>
                <a:latin typeface="Calibri"/>
              </a:rPr>
              <a:t> logic + algorithms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Returns responses:</a:t>
            </a:r>
            <a:r>
              <a:rPr sz="1080" b="0">
                <a:solidFill>
                  <a:srgbClr val="263238"/>
                </a:solidFill>
                <a:latin typeface="Calibri"/>
              </a:rPr>
              <a:t> data, page,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Communication: HTTP, TCP/IP, and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Protocols define how systems exchange messages reliably and securely.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37360"/>
            <a:ext cx="475488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475488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20624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Protocol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514600"/>
            <a:ext cx="3977639" cy="69494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63347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261518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HTTP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2432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User wants a page, data, login, or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322783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3054096" y="337413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43000" y="3474720"/>
            <a:ext cx="3977639" cy="69494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593591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3575303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58444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Defined endpoints between apps and servers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7248" y="418795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3054096" y="433425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43000" y="4434840"/>
            <a:ext cx="3977639" cy="69494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553712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53542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TCP/IP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4456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Packets move across networks and arrive reliably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1737360"/>
            <a:ext cx="525780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1691640"/>
            <a:ext cx="52578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448056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Example web exchange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514600"/>
            <a:ext cx="4343400" cy="7132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31152" y="271576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50" b="1">
                <a:solidFill>
                  <a:srgbClr val="183153"/>
                </a:solidFill>
                <a:latin typeface="Calibri"/>
              </a:defRPr>
            </a:pPr>
            <a:r>
              <a:t>Request: GET /products/42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15400" y="325526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8842248" y="3630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720840" y="3703320"/>
            <a:ext cx="4343400" cy="71323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31152" y="3904487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Backend: validate -&gt; compute -&gt; query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15400" y="444398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8842248" y="481888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720840" y="4892040"/>
            <a:ext cx="4343400" cy="71323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31152" y="509320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Response: product details + status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724144"/>
            <a:ext cx="448056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070" b="0">
                <a:solidFill>
                  <a:srgbClr val="667085"/>
                </a:solidFill>
                <a:latin typeface="Calibri"/>
              </a:defRPr>
            </a:pPr>
            <a:r>
              <a:t>HTTPS adds encryption and identity protection around HTTP.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Backend: programming, algorithms, and business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Backend code turns requests into trusted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965960"/>
            <a:ext cx="1874519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2148840"/>
            <a:ext cx="53035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Receive</a:t>
            </a:r>
            <a:br/>
            <a:r>
              <a:t>request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8791DE7-CA21-A177-DE3B-40FA43C1EA29}"/>
              </a:ext>
            </a:extLst>
          </p:cNvPr>
          <p:cNvGrpSpPr/>
          <p:nvPr/>
        </p:nvGrpSpPr>
        <p:grpSpPr>
          <a:xfrm>
            <a:off x="3182111" y="1956815"/>
            <a:ext cx="2528316" cy="777241"/>
            <a:chOff x="3182111" y="1956815"/>
            <a:chExt cx="2528316" cy="777241"/>
          </a:xfrm>
        </p:grpSpPr>
        <p:sp>
          <p:nvSpPr>
            <p:cNvPr id="15" name="Rounded Rectangle 14"/>
            <p:cNvSpPr/>
            <p:nvPr/>
          </p:nvSpPr>
          <p:spPr>
            <a:xfrm>
              <a:off x="3182111" y="1993392"/>
              <a:ext cx="2528316" cy="685800"/>
            </a:xfrm>
            <a:prstGeom prst="roundRect">
              <a:avLst/>
            </a:prstGeom>
            <a:solidFill>
              <a:srgbClr val="FEEEEE"/>
            </a:solidFill>
            <a:ln w="10160">
              <a:solidFill>
                <a:srgbClr val="EB57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" name="Picture 15" descr="auth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20973" y="1956815"/>
              <a:ext cx="777241" cy="777241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835908" y="2102382"/>
              <a:ext cx="1874519" cy="467820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sz="1400" dirty="0"/>
                <a:t>Authenticate</a:t>
              </a:r>
              <a:r>
                <a:rPr lang="en-US" sz="1400" dirty="0"/>
                <a:t> </a:t>
              </a:r>
              <a:r>
                <a:rPr sz="1400" dirty="0"/>
                <a:t>user</a:t>
              </a:r>
              <a:br>
                <a:rPr lang="en-US" sz="1400" dirty="0"/>
              </a:br>
              <a:r>
                <a:rPr lang="en-US" sz="1400" dirty="0"/>
                <a:t>e.g. WeChat Sign-in</a:t>
              </a:r>
              <a:endParaRPr sz="1400" dirty="0"/>
            </a:p>
          </p:txBody>
        </p:sp>
      </p:grpSp>
      <p:cxnSp>
        <p:nvCxnSpPr>
          <p:cNvPr id="24" name="Connector 23"/>
          <p:cNvCxnSpPr/>
          <p:nvPr/>
        </p:nvCxnSpPr>
        <p:spPr>
          <a:xfrm>
            <a:off x="7351775" y="2679191"/>
            <a:ext cx="310897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589520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9068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54111" y="1965960"/>
            <a:ext cx="1874519" cy="141732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48840"/>
            <a:ext cx="530352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3699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Read/write</a:t>
            </a:r>
            <a:br/>
            <a:r>
              <a:t>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3495" y="2679191"/>
            <a:ext cx="310896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921239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12240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85832" y="1965960"/>
            <a:ext cx="1874519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utp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2148840"/>
            <a:ext cx="530352" cy="5303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6871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Return</a:t>
            </a:r>
            <a:br/>
            <a:r>
              <a:t>response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rogramm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617720"/>
            <a:ext cx="502920" cy="5029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8308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Writing instructions that tell the system what to 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6285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2628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algorith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61772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9496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Step-by-step method for solving a problem.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ack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617720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Rules for prices, approvals, inventory, and workflows.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08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BF81E0E-EEFF-B53C-813F-34681DFF8E75}"/>
              </a:ext>
            </a:extLst>
          </p:cNvPr>
          <p:cNvGrpSpPr/>
          <p:nvPr/>
        </p:nvGrpSpPr>
        <p:grpSpPr>
          <a:xfrm>
            <a:off x="4494276" y="3127248"/>
            <a:ext cx="2303917" cy="832104"/>
            <a:chOff x="4494276" y="3127248"/>
            <a:chExt cx="2303917" cy="832104"/>
          </a:xfrm>
        </p:grpSpPr>
        <p:sp>
          <p:nvSpPr>
            <p:cNvPr id="21" name="Rounded Rectangle 20"/>
            <p:cNvSpPr/>
            <p:nvPr/>
          </p:nvSpPr>
          <p:spPr>
            <a:xfrm>
              <a:off x="4494276" y="3127248"/>
              <a:ext cx="2294772" cy="832104"/>
            </a:xfrm>
            <a:prstGeom prst="roundRect">
              <a:avLst/>
            </a:prstGeom>
            <a:solidFill>
              <a:srgbClr val="FFF4E8"/>
            </a:solidFill>
            <a:ln w="10160">
              <a:solidFill>
                <a:srgbClr val="F299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62231" y="3323844"/>
              <a:ext cx="1635962" cy="467820"/>
            </a:xfrm>
            <a:prstGeom prst="rect">
              <a:avLst/>
            </a:prstGeom>
            <a:noFill/>
          </p:spPr>
          <p:txBody>
            <a:bodyPr wrap="none" lIns="18288" tIns="18288" rIns="18288" bIns="18288" anchor="ctr">
              <a:spAutoFit/>
            </a:bodyPr>
            <a:lstStyle/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1400" dirty="0"/>
                <a:t>APIs to other Servers </a:t>
              </a:r>
            </a:p>
            <a:p>
              <a:pPr algn="ctr">
                <a:defRPr sz="1300" b="1">
                  <a:solidFill>
                    <a:srgbClr val="183153"/>
                  </a:solidFill>
                  <a:latin typeface="Calibri"/>
                </a:defRPr>
              </a:pPr>
              <a:r>
                <a:rPr lang="en-US" sz="1400" dirty="0"/>
                <a:t>from other parties</a:t>
              </a:r>
              <a:endParaRPr sz="1400" dirty="0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E4B24F5-BED1-2013-CDD3-C1D6522F8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562856" y="3336012"/>
              <a:ext cx="571500" cy="571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Data layer: memory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Data stores keep facts, history, transactions, and evidence.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2606040"/>
            <a:ext cx="1645920" cy="164592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862072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0408" y="3502152"/>
            <a:ext cx="1060704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Layer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971800" y="2377440"/>
            <a:ext cx="310896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65376" y="1874519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1828800"/>
            <a:ext cx="2468880" cy="107899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75104" y="19751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2052828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87752" y="19842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2677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structured records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80760" y="2377440"/>
            <a:ext cx="388620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60536" y="1874519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23960" y="1828800"/>
            <a:ext cx="2468880" cy="1078992"/>
          </a:xfrm>
          <a:prstGeom prst="roundRect">
            <a:avLst/>
          </a:prstGeom>
          <a:solidFill>
            <a:srgbClr val="E7F8FE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970264" y="19751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6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88" y="2052828"/>
            <a:ext cx="347472" cy="3474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82912" y="19842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Cloud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2677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large objects + backups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971800" y="3429000"/>
            <a:ext cx="310896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65376" y="4617720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828800" y="4572000"/>
            <a:ext cx="2468880" cy="107899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975104" y="47183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28" y="4796028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87752" y="47274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warehouse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50109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analytics +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3429000"/>
            <a:ext cx="388620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60536" y="4617720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823960" y="4572000"/>
            <a:ext cx="2468880" cy="1078992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970264" y="47183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softw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988" y="4796028"/>
            <a:ext cx="347472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582912" y="47274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82912" y="50109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events + audit trails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50208" y="5486400"/>
            <a:ext cx="4343400" cy="56692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913632" y="5440680"/>
            <a:ext cx="43434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5586984"/>
            <a:ext cx="3931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80" b="1">
                <a:solidFill>
                  <a:srgbClr val="183153"/>
                </a:solidFill>
                <a:latin typeface="Calibri"/>
              </a:defRPr>
            </a:pPr>
            <a:r>
              <a:t>Create - Read - Update - Delete  |  Backup - Restore - Audit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Frontend and backend: what users see vs. what systems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useful distinction for designing, troubleshooting, and explaining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4983480" cy="44805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3096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664208"/>
            <a:ext cx="4983480" cy="44805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38528"/>
            <a:ext cx="658368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User-facing: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screens, forms, buttons, commands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in:</a:t>
            </a:r>
            <a:r>
              <a:rPr sz="1300" b="0">
                <a:solidFill>
                  <a:srgbClr val="263238"/>
                </a:solidFill>
                <a:latin typeface="Calibri"/>
              </a:rPr>
              <a:t> browser, mobile app, desktop app, terminal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collect input and present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80ED"/>
                </a:solidFill>
                <a:latin typeface="Calibri"/>
              </a:defRPr>
            </a:pPr>
            <a:r>
              <a:t>UI / CLI / Browser / Apps</a:t>
            </a:r>
          </a:p>
        </p:txBody>
      </p:sp>
      <p:pic>
        <p:nvPicPr>
          <p:cNvPr id="16" name="Picture 15" descr="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938528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79792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System-facing: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servers, code, APIs, services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on: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 infrastructure or cloud platform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enforce rules and process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3992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Server / APIs / Algorithms / 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2" y="3063240"/>
            <a:ext cx="566928" cy="0"/>
          </a:xfrm>
          <a:prstGeom prst="line">
            <a:avLst/>
          </a:prstGeom>
          <a:ln w="2794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281928" y="2990088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5833872" y="3794760"/>
            <a:ext cx="566928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5760720" y="372160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2779776"/>
            <a:ext cx="82296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2F80ED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3913632"/>
            <a:ext cx="91440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667085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Example: online shopping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Follow one customer action through the whole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1673352" cy="12984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066544"/>
            <a:ext cx="484632" cy="484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chooses item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5415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285999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0591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14015" y="1901952"/>
            <a:ext cx="1673352" cy="1298448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9" y="2066544"/>
            <a:ext cx="484632" cy="484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32887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App /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clicks Buy Now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6511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197096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61688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5112" y="1901952"/>
            <a:ext cx="1673352" cy="1298448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t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066544"/>
            <a:ext cx="484632" cy="4846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43983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HTTPS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sent over TCP/IP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7607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108192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72783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36207" y="1901952"/>
            <a:ext cx="1673352" cy="1298448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066544"/>
            <a:ext cx="484632" cy="4846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5079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3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processes order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3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8019287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3879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47304" y="1901952"/>
            <a:ext cx="1673352" cy="1298448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066544"/>
            <a:ext cx="484632" cy="4846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66176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updates records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930384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09497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58400" y="1901952"/>
            <a:ext cx="1673352" cy="1298448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2066544"/>
            <a:ext cx="484632" cy="4846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7727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641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receipt + 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" y="4014215"/>
            <a:ext cx="1037844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14400" y="3968496"/>
            <a:ext cx="103784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34440" y="4187952"/>
            <a:ext cx="978408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Backend algorithm for Buy Now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4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F80ED"/>
                </a:solidFill>
                <a:latin typeface="Calibri"/>
              </a:defRPr>
            </a:pPr>
            <a:r>
              <a:t>1. Validate cart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42616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2734056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862072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7B61FF"/>
                </a:solidFill>
                <a:latin typeface="Calibri"/>
              </a:defRPr>
            </a:pPr>
            <a:r>
              <a:t>2. Check inventory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70248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4361688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489704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2994A"/>
                </a:solidFill>
                <a:latin typeface="Calibri"/>
              </a:defRPr>
            </a:pPr>
            <a:r>
              <a:t>3. Calculate price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97880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5989320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117336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7AE60"/>
                </a:solidFill>
                <a:latin typeface="Calibri"/>
              </a:defRPr>
            </a:pPr>
            <a:r>
              <a:t>4. Process payment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525512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7616952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744968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00A6A6"/>
                </a:solidFill>
                <a:latin typeface="Calibri"/>
              </a:defRPr>
            </a:pPr>
            <a:r>
              <a:t>5. Save order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153144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9244584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37260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EB5757"/>
                </a:solidFill>
                <a:latin typeface="Calibri"/>
              </a:defRPr>
            </a:pPr>
            <a:r>
              <a:t>6. Send confirmation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5724144"/>
            <a:ext cx="9875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20" b="0">
                <a:solidFill>
                  <a:srgbClr val="667085"/>
                </a:solidFill>
                <a:latin typeface="Calibri"/>
              </a:defRPr>
            </a:pPr>
            <a:r>
              <a:t>The same information system supports customer service, finance, inventory, and management reporting.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Summary: connect the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Use the architecture map to place each concept.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2587752"/>
            <a:ext cx="1554480" cy="155448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035808"/>
            <a:ext cx="1188720" cy="6583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23160" y="2267712"/>
            <a:ext cx="3657600" cy="1097280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42416" y="1874519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1828800"/>
            <a:ext cx="2880360" cy="89611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19751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8" y="2052828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64792" y="198424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Client /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267712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UI, CLI, browser, apps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5166359" y="1993391"/>
            <a:ext cx="914401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85615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49039" y="1554480"/>
            <a:ext cx="2880360" cy="896112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9534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068" y="1778507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799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HTTP/HTTPS, TCP/IP, APIs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80760" y="1993391"/>
            <a:ext cx="3703320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03336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66760" y="1554480"/>
            <a:ext cx="2880360" cy="89611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1306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1778507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2571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Server /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programs, algorithms, business logic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23160" y="3364992"/>
            <a:ext cx="365760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241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40" y="4617720"/>
            <a:ext cx="2880360" cy="89611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5214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868" y="4841748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6479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database, files, cloud, logs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3364992"/>
            <a:ext cx="370332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40333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66760" y="4617720"/>
            <a:ext cx="2880360" cy="896112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1306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deci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841748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2571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Information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people + process + technology +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39896" y="5029200"/>
            <a:ext cx="4754880" cy="9144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703320" y="4983480"/>
            <a:ext cx="4754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77639" y="51389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Quick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413248"/>
            <a:ext cx="4160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667085"/>
                </a:solidFill>
                <a:latin typeface="Calibri"/>
              </a:defRPr>
            </a:pPr>
            <a:r>
              <a:t>Can you trace a login, purchase, or report request from client to data and back?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995</Words>
  <Application>Microsoft Office PowerPoint</Application>
  <PresentationFormat>Widescreen</PresentationFormat>
  <Paragraphs>216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Yao, John</cp:lastModifiedBy>
  <cp:revision>5</cp:revision>
  <dcterms:created xsi:type="dcterms:W3CDTF">2013-01-27T09:14:16Z</dcterms:created>
  <dcterms:modified xsi:type="dcterms:W3CDTF">2026-07-06T23:15:55Z</dcterms:modified>
  <cp:category/>
</cp:coreProperties>
</file>
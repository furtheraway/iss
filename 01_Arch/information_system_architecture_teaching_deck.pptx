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image" Target="../media/image-1-13.png"/><Relationship Id="rId14" Type="http://schemas.openxmlformats.org/officeDocument/2006/relationships/image" Target="../media/image-1-14.svg"/><Relationship Id="rId15" Type="http://schemas.openxmlformats.org/officeDocument/2006/relationships/image" Target="../media/image-1-15.png"/><Relationship Id="rId16" Type="http://schemas.openxmlformats.org/officeDocument/2006/relationships/image" Target="../media/image-1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image" Target="../media/image-4-17.png"/><Relationship Id="rId18" Type="http://schemas.openxmlformats.org/officeDocument/2006/relationships/image" Target="../media/image-4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svg"/><Relationship Id="rId15" Type="http://schemas.openxmlformats.org/officeDocument/2006/relationships/image" Target="../media/image-9-15.png"/><Relationship Id="rId16" Type="http://schemas.openxmlformats.org/officeDocument/2006/relationships/image" Target="../media/image-9-16.svg"/><Relationship Id="rId17" Type="http://schemas.openxmlformats.org/officeDocument/2006/relationships/image" Target="../media/image-9-17.png"/><Relationship Id="rId18" Type="http://schemas.openxmlformats.org/officeDocument/2006/relationships/image" Target="../media/image-9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sv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sv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sv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sv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1463040"/>
            <a:ext cx="1691640" cy="-411480"/>
          </a:xfrm>
          <a:prstGeom prst="line">
            <a:avLst/>
          </a:prstGeom>
          <a:solidFill>
            <a:srgbClr val="0B1020">
              <a:alpha val="0"/>
            </a:srgbClr>
          </a:solidFill>
          <a:ln w="17780">
            <a:solidFill>
              <a:srgbClr val="2DD4BF">
                <a:alpha val="5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75320" y="1051560"/>
            <a:ext cx="1645920" cy="640080"/>
          </a:xfrm>
          <a:prstGeom prst="line">
            <a:avLst/>
          </a:prstGeom>
          <a:solidFill>
            <a:srgbClr val="0B1020">
              <a:alpha val="0"/>
            </a:srgbClr>
          </a:solidFill>
          <a:ln w="17780">
            <a:solidFill>
              <a:srgbClr val="2DD4BF">
                <a:alpha val="5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691640"/>
            <a:ext cx="-594360" cy="1463040"/>
          </a:xfrm>
          <a:prstGeom prst="line">
            <a:avLst/>
          </a:prstGeom>
          <a:solidFill>
            <a:srgbClr val="0B1020">
              <a:alpha val="0"/>
            </a:srgbClr>
          </a:solidFill>
          <a:ln w="17780">
            <a:solidFill>
              <a:srgbClr val="2DD4BF">
                <a:alpha val="5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0" y="3154680"/>
            <a:ext cx="-1691640" cy="228600"/>
          </a:xfrm>
          <a:prstGeom prst="line">
            <a:avLst/>
          </a:prstGeom>
          <a:solidFill>
            <a:srgbClr val="0B1020">
              <a:alpha val="0"/>
            </a:srgbClr>
          </a:solidFill>
          <a:ln w="17780">
            <a:solidFill>
              <a:srgbClr val="2DD4BF">
                <a:alpha val="5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35240" y="3383280"/>
            <a:ext cx="-1051560" cy="-1920240"/>
          </a:xfrm>
          <a:prstGeom prst="line">
            <a:avLst/>
          </a:prstGeom>
          <a:solidFill>
            <a:srgbClr val="0B1020">
              <a:alpha val="0"/>
            </a:srgbClr>
          </a:solidFill>
          <a:ln w="17780">
            <a:solidFill>
              <a:srgbClr val="2DD4BF">
                <a:alpha val="5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35240" y="3383280"/>
            <a:ext cx="-1005840" cy="1371600"/>
          </a:xfrm>
          <a:prstGeom prst="line">
            <a:avLst/>
          </a:prstGeom>
          <a:solidFill>
            <a:srgbClr val="0B1020">
              <a:alpha val="0"/>
            </a:srgbClr>
          </a:solidFill>
          <a:ln w="17780">
            <a:solidFill>
              <a:srgbClr val="2DD4BF">
                <a:alpha val="5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29400" y="4754880"/>
            <a:ext cx="2057400" cy="411480"/>
          </a:xfrm>
          <a:prstGeom prst="line">
            <a:avLst/>
          </a:prstGeom>
          <a:solidFill>
            <a:srgbClr val="0B1020">
              <a:alpha val="0"/>
            </a:srgbClr>
          </a:solidFill>
          <a:ln w="17780">
            <a:solidFill>
              <a:srgbClr val="2DD4BF">
                <a:alpha val="5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0" y="5166360"/>
            <a:ext cx="1600200" cy="-594360"/>
          </a:xfrm>
          <a:prstGeom prst="line">
            <a:avLst/>
          </a:prstGeom>
          <a:solidFill>
            <a:srgbClr val="0B1020">
              <a:alpha val="0"/>
            </a:srgbClr>
          </a:solidFill>
          <a:ln w="17780">
            <a:solidFill>
              <a:srgbClr val="2DD4BF">
                <a:alpha val="5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87000" y="4572000"/>
            <a:ext cx="-960120" cy="-1417320"/>
          </a:xfrm>
          <a:prstGeom prst="line">
            <a:avLst/>
          </a:prstGeom>
          <a:solidFill>
            <a:srgbClr val="0B1020">
              <a:alpha val="0"/>
            </a:srgbClr>
          </a:solidFill>
          <a:ln w="17780">
            <a:solidFill>
              <a:srgbClr val="2DD4BF">
                <a:alpha val="5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75320" y="1051560"/>
            <a:ext cx="-640080" cy="2331720"/>
          </a:xfrm>
          <a:prstGeom prst="line">
            <a:avLst/>
          </a:prstGeom>
          <a:solidFill>
            <a:srgbClr val="0B1020">
              <a:alpha val="0"/>
            </a:srgbClr>
          </a:solidFill>
          <a:ln w="17780">
            <a:solidFill>
              <a:srgbClr val="2DD4BF">
                <a:alpha val="5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27064" y="1106424"/>
            <a:ext cx="713232" cy="713232"/>
          </a:xfrm>
          <a:prstGeom prst="ellipse">
            <a:avLst/>
          </a:prstGeom>
          <a:solidFill>
            <a:srgbClr val="1D2946"/>
          </a:solidFill>
          <a:ln w="17780">
            <a:solidFill>
              <a:srgbClr val="2DD4BF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9944" y="1298448"/>
            <a:ext cx="347472" cy="32918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053328" y="1865376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720" dirty="0"/>
          </a:p>
        </p:txBody>
      </p:sp>
      <p:sp>
        <p:nvSpPr>
          <p:cNvPr id="15" name="Shape 12"/>
          <p:cNvSpPr/>
          <p:nvPr/>
        </p:nvSpPr>
        <p:spPr>
          <a:xfrm>
            <a:off x="7918704" y="694944"/>
            <a:ext cx="713232" cy="713232"/>
          </a:xfrm>
          <a:prstGeom prst="ellipse">
            <a:avLst/>
          </a:prstGeom>
          <a:solidFill>
            <a:srgbClr val="1D2946"/>
          </a:solidFill>
          <a:ln w="17780">
            <a:solidFill>
              <a:srgbClr val="60A5FA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01584" y="886968"/>
            <a:ext cx="347472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744968" y="1453896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720" dirty="0"/>
          </a:p>
        </p:txBody>
      </p:sp>
      <p:sp>
        <p:nvSpPr>
          <p:cNvPr id="18" name="Shape 14"/>
          <p:cNvSpPr/>
          <p:nvPr/>
        </p:nvSpPr>
        <p:spPr>
          <a:xfrm>
            <a:off x="9564624" y="1335024"/>
            <a:ext cx="713232" cy="713232"/>
          </a:xfrm>
          <a:prstGeom prst="ellipse">
            <a:avLst/>
          </a:prstGeom>
          <a:solidFill>
            <a:srgbClr val="1D2946"/>
          </a:solidFill>
          <a:ln w="17780">
            <a:solidFill>
              <a:srgbClr val="A3E635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47504" y="1527048"/>
            <a:ext cx="347472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390888" y="2093976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</a:t>
            </a:r>
            <a:endParaRPr lang="en-US" sz="720" dirty="0"/>
          </a:p>
        </p:txBody>
      </p:sp>
      <p:sp>
        <p:nvSpPr>
          <p:cNvPr id="21" name="Shape 16"/>
          <p:cNvSpPr/>
          <p:nvPr/>
        </p:nvSpPr>
        <p:spPr>
          <a:xfrm>
            <a:off x="8970264" y="2798064"/>
            <a:ext cx="713232" cy="713232"/>
          </a:xfrm>
          <a:prstGeom prst="ellipse">
            <a:avLst/>
          </a:prstGeom>
          <a:solidFill>
            <a:srgbClr val="1D2946"/>
          </a:solidFill>
          <a:ln w="17780">
            <a:solidFill>
              <a:srgbClr val="FDBA7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53144" y="2990088"/>
            <a:ext cx="347472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796528" y="3557016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720" dirty="0"/>
          </a:p>
        </p:txBody>
      </p:sp>
      <p:sp>
        <p:nvSpPr>
          <p:cNvPr id="24" name="Shape 18"/>
          <p:cNvSpPr/>
          <p:nvPr/>
        </p:nvSpPr>
        <p:spPr>
          <a:xfrm>
            <a:off x="7278624" y="3026664"/>
            <a:ext cx="713232" cy="713232"/>
          </a:xfrm>
          <a:prstGeom prst="ellipse">
            <a:avLst/>
          </a:prstGeom>
          <a:solidFill>
            <a:srgbClr val="1D2946"/>
          </a:solidFill>
          <a:ln w="17780">
            <a:solidFill>
              <a:srgbClr val="C084FC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61504" y="3218688"/>
            <a:ext cx="347472" cy="32918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104888" y="3785616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</a:t>
            </a:r>
            <a:endParaRPr lang="en-US" sz="720" dirty="0"/>
          </a:p>
        </p:txBody>
      </p:sp>
      <p:sp>
        <p:nvSpPr>
          <p:cNvPr id="27" name="Shape 20"/>
          <p:cNvSpPr/>
          <p:nvPr/>
        </p:nvSpPr>
        <p:spPr>
          <a:xfrm>
            <a:off x="6272784" y="4398264"/>
            <a:ext cx="713232" cy="713232"/>
          </a:xfrm>
          <a:prstGeom prst="ellipse">
            <a:avLst/>
          </a:prstGeom>
          <a:solidFill>
            <a:srgbClr val="1D2946"/>
          </a:solidFill>
          <a:ln w="17780">
            <a:solidFill>
              <a:srgbClr val="FBBF24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55664" y="4590288"/>
            <a:ext cx="347472" cy="32918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099048" y="5157216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720" dirty="0"/>
          </a:p>
        </p:txBody>
      </p:sp>
      <p:sp>
        <p:nvSpPr>
          <p:cNvPr id="30" name="Shape 22"/>
          <p:cNvSpPr/>
          <p:nvPr/>
        </p:nvSpPr>
        <p:spPr>
          <a:xfrm>
            <a:off x="8330184" y="4809744"/>
            <a:ext cx="713232" cy="713232"/>
          </a:xfrm>
          <a:prstGeom prst="ellipse">
            <a:avLst/>
          </a:prstGeom>
          <a:solidFill>
            <a:srgbClr val="1D2946"/>
          </a:solidFill>
          <a:ln w="17780">
            <a:solidFill>
              <a:srgbClr val="FB7185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13064" y="5001768"/>
            <a:ext cx="347472" cy="32918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8156448" y="5568696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720" dirty="0"/>
          </a:p>
        </p:txBody>
      </p:sp>
      <p:sp>
        <p:nvSpPr>
          <p:cNvPr id="33" name="Shape 24"/>
          <p:cNvSpPr/>
          <p:nvPr/>
        </p:nvSpPr>
        <p:spPr>
          <a:xfrm>
            <a:off x="9930384" y="4215384"/>
            <a:ext cx="713232" cy="713232"/>
          </a:xfrm>
          <a:prstGeom prst="ellipse">
            <a:avLst/>
          </a:prstGeom>
          <a:solidFill>
            <a:srgbClr val="1D2946"/>
          </a:solidFill>
          <a:ln w="17780">
            <a:solidFill>
              <a:srgbClr val="67E8F9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113264" y="4407408"/>
            <a:ext cx="347472" cy="32918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9756648" y="4974336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720" dirty="0"/>
          </a:p>
        </p:txBody>
      </p:sp>
      <p:sp>
        <p:nvSpPr>
          <p:cNvPr id="36" name="Text 26"/>
          <p:cNvSpPr/>
          <p:nvPr/>
        </p:nvSpPr>
        <p:spPr>
          <a:xfrm>
            <a:off x="640080" y="1298448"/>
            <a:ext cx="5257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Systems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4000" dirty="0"/>
          </a:p>
        </p:txBody>
      </p:sp>
      <p:sp>
        <p:nvSpPr>
          <p:cNvPr id="37" name="Shape 27"/>
          <p:cNvSpPr/>
          <p:nvPr/>
        </p:nvSpPr>
        <p:spPr>
          <a:xfrm>
            <a:off x="658368" y="2862072"/>
            <a:ext cx="2057400" cy="0"/>
          </a:xfrm>
          <a:prstGeom prst="line">
            <a:avLst/>
          </a:prstGeom>
          <a:solidFill>
            <a:srgbClr val="0B1020">
              <a:alpha val="0"/>
            </a:srgbClr>
          </a:solidFill>
          <a:ln w="38100">
            <a:solidFill>
              <a:srgbClr val="2DD4BF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658368" y="3127248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teaching map from </a:t>
            </a:r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pPr indent="0" marL="0">
              <a:buNone/>
            </a:pPr>
            <a:r>
              <a:rPr lang="en-US" sz="18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</a:t>
            </a:r>
            <a:pPr indent="0" marL="0">
              <a:buNone/>
            </a:pPr>
            <a:r>
              <a:rPr lang="en-US" sz="18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</a:t>
            </a:r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networks</a:t>
            </a:r>
            <a:pPr indent="0" marL="0">
              <a:buNone/>
            </a:pPr>
            <a:r>
              <a:rPr lang="en-US" sz="18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servers</a:t>
            </a:r>
            <a:pPr indent="0" marL="0">
              <a:buNone/>
            </a:pPr>
            <a:r>
              <a:rPr lang="en-US" sz="18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algorithms</a:t>
            </a:r>
            <a:pPr indent="0" marL="0">
              <a:buNone/>
            </a:pPr>
            <a:r>
              <a:rPr lang="en-US" sz="18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</a:t>
            </a:r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pPr indent="0" marL="0">
              <a:buNone/>
            </a:pPr>
            <a:r>
              <a:rPr lang="en-US" sz="18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39" name="Text 29"/>
          <p:cNvSpPr/>
          <p:nvPr/>
        </p:nvSpPr>
        <p:spPr>
          <a:xfrm>
            <a:off x="658368" y="625449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Concise concepts • visual architecture • relationship diagrams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IDEA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picture: information becomes action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55680" cy="0"/>
          </a:xfrm>
          <a:prstGeom prst="line">
            <a:avLst/>
          </a:prstGeom>
          <a:solidFill>
            <a:srgbClr val="0B1020">
              <a:alpha val="0"/>
            </a:srgbClr>
          </a:solidFill>
          <a:ln w="8890">
            <a:solidFill>
              <a:srgbClr val="415778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01984" y="31089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solidFill>
            <a:srgbClr val="0B1020">
              <a:alpha val="0"/>
            </a:srgbClr>
          </a:solidFill>
          <a:ln w="7620">
            <a:solidFill>
              <a:srgbClr val="415778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7453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Systems Architecture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61488" y="2372868"/>
            <a:ext cx="192024" cy="0"/>
          </a:xfrm>
          <a:prstGeom prst="line">
            <a:avLst/>
          </a:prstGeom>
          <a:solidFill>
            <a:srgbClr val="0B1020">
              <a:alpha val="0"/>
            </a:srgbClr>
          </a:solidFill>
          <a:ln w="19050">
            <a:solidFill>
              <a:srgbClr val="2DD4BF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01768" y="2372868"/>
            <a:ext cx="192024" cy="0"/>
          </a:xfrm>
          <a:prstGeom prst="line">
            <a:avLst/>
          </a:prstGeom>
          <a:solidFill>
            <a:srgbClr val="0B1020">
              <a:alpha val="0"/>
            </a:srgbClr>
          </a:solidFill>
          <a:ln w="19050">
            <a:solidFill>
              <a:srgbClr val="2DD4BF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242048" y="2372868"/>
            <a:ext cx="192024" cy="0"/>
          </a:xfrm>
          <a:prstGeom prst="line">
            <a:avLst/>
          </a:prstGeom>
          <a:solidFill>
            <a:srgbClr val="0B1020">
              <a:alpha val="0"/>
            </a:srgbClr>
          </a:solidFill>
          <a:ln w="19050">
            <a:solidFill>
              <a:srgbClr val="2DD4BF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482328" y="2372868"/>
            <a:ext cx="192024" cy="0"/>
          </a:xfrm>
          <a:prstGeom prst="line">
            <a:avLst/>
          </a:prstGeom>
          <a:solidFill>
            <a:srgbClr val="0B1020">
              <a:alpha val="0"/>
            </a:srgbClr>
          </a:solidFill>
          <a:ln w="19050">
            <a:solidFill>
              <a:srgbClr val="2DD4BF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0588752" y="3154680"/>
            <a:ext cx="0" cy="731520"/>
          </a:xfrm>
          <a:prstGeom prst="line">
            <a:avLst/>
          </a:prstGeom>
          <a:solidFill>
            <a:srgbClr val="0B1020">
              <a:alpha val="0"/>
            </a:srgbClr>
          </a:solidFill>
          <a:ln w="15240">
            <a:solidFill>
              <a:srgbClr val="FDBA74">
                <a:alpha val="8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88752" y="3886200"/>
            <a:ext cx="-8897112" cy="0"/>
          </a:xfrm>
          <a:prstGeom prst="line">
            <a:avLst/>
          </a:prstGeom>
          <a:solidFill>
            <a:srgbClr val="0B1020">
              <a:alpha val="0"/>
            </a:srgbClr>
          </a:solidFill>
          <a:ln w="15240">
            <a:solidFill>
              <a:srgbClr val="FDBA74">
                <a:alpha val="8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91640" y="3886200"/>
            <a:ext cx="0" cy="-841248"/>
          </a:xfrm>
          <a:prstGeom prst="line">
            <a:avLst/>
          </a:prstGeom>
          <a:solidFill>
            <a:srgbClr val="0B1020">
              <a:alpha val="0"/>
            </a:srgbClr>
          </a:solidFill>
          <a:ln w="15240">
            <a:solidFill>
              <a:srgbClr val="FDBA74">
                <a:alpha val="85000"/>
              </a:srgbClr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2960" y="1847088"/>
            <a:ext cx="1828800" cy="1051560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60A5FA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7552" y="2180844"/>
            <a:ext cx="384048" cy="38404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81328" y="197510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481328" y="224028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data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3063240" y="1847088"/>
            <a:ext cx="1828800" cy="1051560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C084FC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7832" y="2180844"/>
            <a:ext cx="384048" cy="38404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721608" y="197510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3721608" y="224028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logic</a:t>
            </a:r>
            <a:endParaRPr lang="en-US" sz="820" dirty="0"/>
          </a:p>
        </p:txBody>
      </p:sp>
      <p:sp>
        <p:nvSpPr>
          <p:cNvPr id="23" name="Shape 19"/>
          <p:cNvSpPr/>
          <p:nvPr/>
        </p:nvSpPr>
        <p:spPr>
          <a:xfrm>
            <a:off x="5303520" y="1847088"/>
            <a:ext cx="1828800" cy="1051560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FBBF24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68112" y="2180844"/>
            <a:ext cx="384048" cy="38404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961888" y="197510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5961888" y="224028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records</a:t>
            </a:r>
            <a:endParaRPr lang="en-US" sz="820" dirty="0"/>
          </a:p>
        </p:txBody>
      </p:sp>
      <p:sp>
        <p:nvSpPr>
          <p:cNvPr id="27" name="Shape 22"/>
          <p:cNvSpPr/>
          <p:nvPr/>
        </p:nvSpPr>
        <p:spPr>
          <a:xfrm>
            <a:off x="7543800" y="1847088"/>
            <a:ext cx="1828800" cy="1051560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A3E635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08392" y="2180844"/>
            <a:ext cx="384048" cy="38404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202168" y="197510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8202168" y="224028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results</a:t>
            </a:r>
            <a:endParaRPr lang="en-US" sz="820" dirty="0"/>
          </a:p>
        </p:txBody>
      </p:sp>
      <p:sp>
        <p:nvSpPr>
          <p:cNvPr id="31" name="Shape 25"/>
          <p:cNvSpPr/>
          <p:nvPr/>
        </p:nvSpPr>
        <p:spPr>
          <a:xfrm>
            <a:off x="9784080" y="1847088"/>
            <a:ext cx="1600200" cy="1051560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FDBA74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48672" y="2180844"/>
            <a:ext cx="384048" cy="38404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442448" y="197510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10442448" y="22402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work</a:t>
            </a:r>
            <a:endParaRPr lang="en-US" sz="820" dirty="0"/>
          </a:p>
        </p:txBody>
      </p:sp>
      <p:sp>
        <p:nvSpPr>
          <p:cNvPr id="35" name="Text 28"/>
          <p:cNvSpPr/>
          <p:nvPr/>
        </p:nvSpPr>
        <p:spPr>
          <a:xfrm>
            <a:off x="914400" y="43159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systems coordinate the whole loop.</a:t>
            </a:r>
            <a:endParaRPr lang="en-US" sz="1600" dirty="0"/>
          </a:p>
        </p:txBody>
      </p:sp>
      <p:sp>
        <p:nvSpPr>
          <p:cNvPr id="36" name="Text 29"/>
          <p:cNvSpPr/>
          <p:nvPr/>
        </p:nvSpPr>
        <p:spPr>
          <a:xfrm>
            <a:off x="932688" y="480060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20" dirty="0"/>
          </a:p>
        </p:txBody>
      </p:sp>
      <p:sp>
        <p:nvSpPr>
          <p:cNvPr id="37" name="Text 30"/>
          <p:cNvSpPr/>
          <p:nvPr/>
        </p:nvSpPr>
        <p:spPr>
          <a:xfrm>
            <a:off x="1161288" y="4791456"/>
            <a:ext cx="4983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</a:t>
            </a:r>
            <a:pPr indent="0" marL="0">
              <a:buNone/>
            </a:pPr>
            <a:r>
              <a:rPr lang="en-US" sz="132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the system to complete work.</a:t>
            </a:r>
            <a:endParaRPr lang="en-US" sz="1320" dirty="0"/>
          </a:p>
        </p:txBody>
      </p:sp>
      <p:sp>
        <p:nvSpPr>
          <p:cNvPr id="38" name="Text 31"/>
          <p:cNvSpPr/>
          <p:nvPr/>
        </p:nvSpPr>
        <p:spPr>
          <a:xfrm>
            <a:off x="932688" y="525780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20" dirty="0"/>
          </a:p>
        </p:txBody>
      </p:sp>
      <p:sp>
        <p:nvSpPr>
          <p:cNvPr id="39" name="Text 32"/>
          <p:cNvSpPr/>
          <p:nvPr/>
        </p:nvSpPr>
        <p:spPr>
          <a:xfrm>
            <a:off x="1161288" y="5248656"/>
            <a:ext cx="4983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Processes</a:t>
            </a:r>
            <a:pPr indent="0" marL="0">
              <a:buNone/>
            </a:pPr>
            <a:r>
              <a:rPr lang="en-US" sz="132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define what should happen.</a:t>
            </a:r>
            <a:endParaRPr lang="en-US" sz="1320" dirty="0"/>
          </a:p>
        </p:txBody>
      </p:sp>
      <p:sp>
        <p:nvSpPr>
          <p:cNvPr id="40" name="Text 33"/>
          <p:cNvSpPr/>
          <p:nvPr/>
        </p:nvSpPr>
        <p:spPr>
          <a:xfrm>
            <a:off x="932688" y="571500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20" dirty="0"/>
          </a:p>
        </p:txBody>
      </p:sp>
      <p:sp>
        <p:nvSpPr>
          <p:cNvPr id="41" name="Text 34"/>
          <p:cNvSpPr/>
          <p:nvPr/>
        </p:nvSpPr>
        <p:spPr>
          <a:xfrm>
            <a:off x="1161288" y="5705856"/>
            <a:ext cx="4983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pPr indent="0" marL="0">
              <a:buNone/>
            </a:pPr>
            <a:r>
              <a:rPr lang="en-US" sz="132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captures, moves, processes, and stores data.</a:t>
            </a:r>
            <a:endParaRPr lang="en-US" sz="1320" dirty="0"/>
          </a:p>
        </p:txBody>
      </p:sp>
      <p:sp>
        <p:nvSpPr>
          <p:cNvPr id="42" name="Text 35"/>
          <p:cNvSpPr/>
          <p:nvPr/>
        </p:nvSpPr>
        <p:spPr>
          <a:xfrm>
            <a:off x="6583680" y="480060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20" dirty="0"/>
          </a:p>
        </p:txBody>
      </p:sp>
      <p:sp>
        <p:nvSpPr>
          <p:cNvPr id="43" name="Text 36"/>
          <p:cNvSpPr/>
          <p:nvPr/>
        </p:nvSpPr>
        <p:spPr>
          <a:xfrm>
            <a:off x="6812280" y="4791456"/>
            <a:ext cx="4251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</a:t>
            </a:r>
            <a:pPr indent="0" marL="0">
              <a:buNone/>
            </a:pPr>
            <a:r>
              <a:rPr lang="en-US" sz="132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organized data with meaning.</a:t>
            </a:r>
            <a:endParaRPr lang="en-US" sz="1320" dirty="0"/>
          </a:p>
        </p:txBody>
      </p:sp>
      <p:sp>
        <p:nvSpPr>
          <p:cNvPr id="44" name="Text 37"/>
          <p:cNvSpPr/>
          <p:nvPr/>
        </p:nvSpPr>
        <p:spPr>
          <a:xfrm>
            <a:off x="6583680" y="525780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DB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20" dirty="0"/>
          </a:p>
        </p:txBody>
      </p:sp>
      <p:sp>
        <p:nvSpPr>
          <p:cNvPr id="45" name="Text 38"/>
          <p:cNvSpPr/>
          <p:nvPr/>
        </p:nvSpPr>
        <p:spPr>
          <a:xfrm>
            <a:off x="6812280" y="5248656"/>
            <a:ext cx="4251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pPr indent="0" marL="0">
              <a:buNone/>
            </a:pPr>
            <a:r>
              <a:rPr lang="en-US" sz="132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operational or decision result.</a:t>
            </a:r>
            <a:endParaRPr lang="en-US" sz="13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BUILDING BLOCKS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components of an information system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55680" cy="0"/>
          </a:xfrm>
          <a:prstGeom prst="line">
            <a:avLst/>
          </a:prstGeom>
          <a:solidFill>
            <a:srgbClr val="0B1020">
              <a:alpha val="0"/>
            </a:srgbClr>
          </a:solidFill>
          <a:ln w="8890">
            <a:solidFill>
              <a:srgbClr val="415778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01984" y="31089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solidFill>
            <a:srgbClr val="0B1020">
              <a:alpha val="0"/>
            </a:srgbClr>
          </a:solidFill>
          <a:ln w="7620">
            <a:solidFill>
              <a:srgbClr val="415778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7453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Systems Architecture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057400" y="1984248"/>
            <a:ext cx="4023360" cy="1627632"/>
          </a:xfrm>
          <a:prstGeom prst="line">
            <a:avLst/>
          </a:prstGeom>
          <a:solidFill>
            <a:srgbClr val="0B1020">
              <a:alpha val="0"/>
            </a:srgbClr>
          </a:solidFill>
          <a:ln w="12700">
            <a:solidFill>
              <a:srgbClr val="60A5FA">
                <a:alpha val="4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828800"/>
            <a:ext cx="1417320" cy="1783080"/>
          </a:xfrm>
          <a:prstGeom prst="line">
            <a:avLst/>
          </a:prstGeom>
          <a:solidFill>
            <a:srgbClr val="0B1020">
              <a:alpha val="0"/>
            </a:srgbClr>
          </a:solidFill>
          <a:ln w="12700">
            <a:solidFill>
              <a:srgbClr val="C084FC">
                <a:alpha val="4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60920" y="1828800"/>
            <a:ext cx="-1280160" cy="1783080"/>
          </a:xfrm>
          <a:prstGeom prst="line">
            <a:avLst/>
          </a:prstGeom>
          <a:solidFill>
            <a:srgbClr val="0B1020">
              <a:alpha val="0"/>
            </a:srgbClr>
          </a:solidFill>
          <a:ln w="12700">
            <a:solidFill>
              <a:srgbClr val="FBBF24">
                <a:alpha val="4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66960" y="1984248"/>
            <a:ext cx="-3886200" cy="1627632"/>
          </a:xfrm>
          <a:prstGeom prst="line">
            <a:avLst/>
          </a:prstGeom>
          <a:solidFill>
            <a:srgbClr val="0B1020">
              <a:alpha val="0"/>
            </a:srgbClr>
          </a:solidFill>
          <a:ln w="12700">
            <a:solidFill>
              <a:srgbClr val="2DD4BF">
                <a:alpha val="4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42032" y="5239512"/>
            <a:ext cx="3538728" cy="-1627632"/>
          </a:xfrm>
          <a:prstGeom prst="line">
            <a:avLst/>
          </a:prstGeom>
          <a:solidFill>
            <a:srgbClr val="0B1020">
              <a:alpha val="0"/>
            </a:srgbClr>
          </a:solidFill>
          <a:ln w="12700">
            <a:solidFill>
              <a:srgbClr val="A3E635">
                <a:alpha val="4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06440" y="5440680"/>
            <a:ext cx="274320" cy="-1828800"/>
          </a:xfrm>
          <a:prstGeom prst="line">
            <a:avLst/>
          </a:prstGeom>
          <a:solidFill>
            <a:srgbClr val="0B1020">
              <a:alpha val="0"/>
            </a:srgbClr>
          </a:solidFill>
          <a:ln w="12700">
            <a:solidFill>
              <a:srgbClr val="FDBA74">
                <a:alpha val="4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0" y="5239512"/>
            <a:ext cx="-3063240" cy="-1627632"/>
          </a:xfrm>
          <a:prstGeom prst="line">
            <a:avLst/>
          </a:prstGeom>
          <a:solidFill>
            <a:srgbClr val="0B1020">
              <a:alpha val="0"/>
            </a:srgbClr>
          </a:solidFill>
          <a:ln w="12700">
            <a:solidFill>
              <a:srgbClr val="FB7185">
                <a:alpha val="4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2560320"/>
            <a:ext cx="2103120" cy="2103120"/>
          </a:xfrm>
          <a:prstGeom prst="ellipse">
            <a:avLst/>
          </a:prstGeom>
          <a:solidFill>
            <a:srgbClr val="1D2946"/>
          </a:solidFill>
          <a:ln w="20320">
            <a:solidFill>
              <a:srgbClr val="2DD4BF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69864" y="3072384"/>
            <a:ext cx="621792" cy="53035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212080" y="36576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1143000" y="1572768"/>
            <a:ext cx="1874520" cy="822960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60A5FA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07592" y="1792224"/>
            <a:ext cx="384048" cy="38404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801368" y="170078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1801368" y="19659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devices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3749040" y="1417320"/>
            <a:ext cx="1874520" cy="822960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C084FC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13632" y="1636776"/>
            <a:ext cx="384048" cy="38404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407408" y="154533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4407408" y="1810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programs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6446520" y="1417320"/>
            <a:ext cx="1874520" cy="822960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FBBF24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1112" y="1636776"/>
            <a:ext cx="384048" cy="38404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104888" y="154533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7104888" y="1810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800" dirty="0"/>
          </a:p>
        </p:txBody>
      </p:sp>
      <p:sp>
        <p:nvSpPr>
          <p:cNvPr id="30" name="Shape 24"/>
          <p:cNvSpPr/>
          <p:nvPr/>
        </p:nvSpPr>
        <p:spPr>
          <a:xfrm>
            <a:off x="9052560" y="1572768"/>
            <a:ext cx="1874520" cy="822960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2DD4BF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17152" y="1792224"/>
            <a:ext cx="384048" cy="38404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710928" y="170078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9710928" y="19659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+ IT</a:t>
            </a:r>
            <a:endParaRPr lang="en-US" sz="800" dirty="0"/>
          </a:p>
        </p:txBody>
      </p:sp>
      <p:sp>
        <p:nvSpPr>
          <p:cNvPr id="34" name="Shape 27"/>
          <p:cNvSpPr/>
          <p:nvPr/>
        </p:nvSpPr>
        <p:spPr>
          <a:xfrm>
            <a:off x="1627632" y="4828032"/>
            <a:ext cx="1874520" cy="822960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A3E635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792224" y="5047488"/>
            <a:ext cx="384048" cy="38404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2286000" y="49560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Processes</a:t>
            </a:r>
            <a:endParaRPr lang="en-US" sz="1150" dirty="0"/>
          </a:p>
        </p:txBody>
      </p:sp>
      <p:sp>
        <p:nvSpPr>
          <p:cNvPr id="37" name="Text 29"/>
          <p:cNvSpPr/>
          <p:nvPr/>
        </p:nvSpPr>
        <p:spPr>
          <a:xfrm>
            <a:off x="2286000" y="52212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</a:t>
            </a:r>
            <a:endParaRPr lang="en-US" sz="800" dirty="0"/>
          </a:p>
        </p:txBody>
      </p:sp>
      <p:sp>
        <p:nvSpPr>
          <p:cNvPr id="38" name="Shape 30"/>
          <p:cNvSpPr/>
          <p:nvPr/>
        </p:nvSpPr>
        <p:spPr>
          <a:xfrm>
            <a:off x="4892040" y="5029200"/>
            <a:ext cx="1874520" cy="822960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FDBA74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56632" y="5248656"/>
            <a:ext cx="384048" cy="384048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550408" y="515721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Networks</a:t>
            </a:r>
            <a:endParaRPr lang="en-US" sz="1150" dirty="0"/>
          </a:p>
        </p:txBody>
      </p:sp>
      <p:sp>
        <p:nvSpPr>
          <p:cNvPr id="41" name="Text 32"/>
          <p:cNvSpPr/>
          <p:nvPr/>
        </p:nvSpPr>
        <p:spPr>
          <a:xfrm>
            <a:off x="5550408" y="54223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connections</a:t>
            </a:r>
            <a:endParaRPr lang="en-US" sz="800" dirty="0"/>
          </a:p>
        </p:txBody>
      </p:sp>
      <p:sp>
        <p:nvSpPr>
          <p:cNvPr id="42" name="Shape 33"/>
          <p:cNvSpPr/>
          <p:nvPr/>
        </p:nvSpPr>
        <p:spPr>
          <a:xfrm>
            <a:off x="8229600" y="4828032"/>
            <a:ext cx="1874520" cy="822960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FB7185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394192" y="5047488"/>
            <a:ext cx="384048" cy="384048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8887968" y="49560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150" dirty="0"/>
          </a:p>
        </p:txBody>
      </p:sp>
      <p:sp>
        <p:nvSpPr>
          <p:cNvPr id="45" name="Text 35"/>
          <p:cNvSpPr/>
          <p:nvPr/>
        </p:nvSpPr>
        <p:spPr>
          <a:xfrm>
            <a:off x="8887968" y="52212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</a:t>
            </a:r>
            <a:endParaRPr lang="en-US" sz="800" dirty="0"/>
          </a:p>
        </p:txBody>
      </p:sp>
      <p:sp>
        <p:nvSpPr>
          <p:cNvPr id="46" name="Text 36"/>
          <p:cNvSpPr/>
          <p:nvPr/>
        </p:nvSpPr>
        <p:spPr>
          <a:xfrm>
            <a:off x="2103120" y="618134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Together, these parts collect, process, store, and distribute information.</a:t>
            </a:r>
            <a:endParaRPr lang="en-US" sz="12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SYSTEMS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Client/server model: requests and responses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55680" cy="0"/>
          </a:xfrm>
          <a:prstGeom prst="line">
            <a:avLst/>
          </a:prstGeom>
          <a:solidFill>
            <a:srgbClr val="0B1020">
              <a:alpha val="0"/>
            </a:srgbClr>
          </a:solidFill>
          <a:ln w="8890">
            <a:solidFill>
              <a:srgbClr val="415778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01984" y="31089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solidFill>
            <a:srgbClr val="0B1020">
              <a:alpha val="0"/>
            </a:srgbClr>
          </a:solidFill>
          <a:ln w="7620">
            <a:solidFill>
              <a:srgbClr val="415778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7453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Systems Architecture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703320" y="2304288"/>
            <a:ext cx="1371600" cy="0"/>
          </a:xfrm>
          <a:prstGeom prst="line">
            <a:avLst/>
          </a:prstGeom>
          <a:solidFill>
            <a:srgbClr val="0B1020">
              <a:alpha val="0"/>
            </a:srgbClr>
          </a:solidFill>
          <a:ln w="17780">
            <a:solidFill>
              <a:srgbClr val="2DD4BF">
                <a:alpha val="92000"/>
              </a:srgbClr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629400" y="2304288"/>
            <a:ext cx="868680" cy="0"/>
          </a:xfrm>
          <a:prstGeom prst="line">
            <a:avLst/>
          </a:prstGeom>
          <a:solidFill>
            <a:srgbClr val="0B1020">
              <a:alpha val="0"/>
            </a:srgbClr>
          </a:solidFill>
          <a:ln w="17780">
            <a:solidFill>
              <a:srgbClr val="FDBA74">
                <a:alpha val="92000"/>
              </a:srgbClr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034272" y="2304288"/>
            <a:ext cx="914400" cy="0"/>
          </a:xfrm>
          <a:prstGeom prst="line">
            <a:avLst/>
          </a:prstGeom>
          <a:solidFill>
            <a:srgbClr val="0B1020">
              <a:alpha val="0"/>
            </a:srgbClr>
          </a:solidFill>
          <a:ln w="17780">
            <a:solidFill>
              <a:srgbClr val="FBBF24">
                <a:alpha val="88000"/>
              </a:srgbClr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498080" y="4078224"/>
            <a:ext cx="-868680" cy="0"/>
          </a:xfrm>
          <a:prstGeom prst="line">
            <a:avLst/>
          </a:prstGeom>
          <a:solidFill>
            <a:srgbClr val="0B1020">
              <a:alpha val="0"/>
            </a:srgbClr>
          </a:solidFill>
          <a:ln w="15240">
            <a:solidFill>
              <a:srgbClr val="A3E635">
                <a:alpha val="85000"/>
              </a:srgbClr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74920" y="4078224"/>
            <a:ext cx="-1371600" cy="0"/>
          </a:xfrm>
          <a:prstGeom prst="line">
            <a:avLst/>
          </a:prstGeom>
          <a:solidFill>
            <a:srgbClr val="0B1020">
              <a:alpha val="0"/>
            </a:srgbClr>
          </a:solidFill>
          <a:ln w="15240">
            <a:solidFill>
              <a:srgbClr val="A3E635">
                <a:alpha val="85000"/>
              </a:srgbClr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1520" y="1554480"/>
            <a:ext cx="2971800" cy="3364992"/>
          </a:xfrm>
          <a:prstGeom prst="roundRect">
            <a:avLst/>
          </a:prstGeom>
          <a:solidFill>
            <a:srgbClr val="162039">
              <a:alpha val="96000"/>
            </a:srgbClr>
          </a:solidFill>
          <a:ln w="13970">
            <a:solidFill>
              <a:srgbClr val="60A5F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1755648"/>
            <a:ext cx="26060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side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60120" y="2240280"/>
            <a:ext cx="658368" cy="658368"/>
          </a:xfrm>
          <a:prstGeom prst="ellipse">
            <a:avLst/>
          </a:prstGeom>
          <a:solidFill>
            <a:srgbClr val="10182D"/>
          </a:solidFill>
          <a:ln w="12700">
            <a:solidFill>
              <a:srgbClr val="A3E635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4712" y="2395728"/>
            <a:ext cx="329184" cy="31089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13816" y="2971800"/>
            <a:ext cx="95097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770" dirty="0"/>
          </a:p>
        </p:txBody>
      </p:sp>
      <p:sp>
        <p:nvSpPr>
          <p:cNvPr id="18" name="Shape 15"/>
          <p:cNvSpPr/>
          <p:nvPr/>
        </p:nvSpPr>
        <p:spPr>
          <a:xfrm>
            <a:off x="2148840" y="2240280"/>
            <a:ext cx="658368" cy="658368"/>
          </a:xfrm>
          <a:prstGeom prst="ellipse">
            <a:avLst/>
          </a:prstGeom>
          <a:solidFill>
            <a:srgbClr val="10182D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3432" y="2395728"/>
            <a:ext cx="329184" cy="31089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002536" y="2971800"/>
            <a:ext cx="95097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</a:t>
            </a:r>
            <a:endParaRPr lang="en-US" sz="770" dirty="0"/>
          </a:p>
        </p:txBody>
      </p:sp>
      <p:sp>
        <p:nvSpPr>
          <p:cNvPr id="21" name="Shape 17"/>
          <p:cNvSpPr/>
          <p:nvPr/>
        </p:nvSpPr>
        <p:spPr>
          <a:xfrm>
            <a:off x="960120" y="3273552"/>
            <a:ext cx="658368" cy="658368"/>
          </a:xfrm>
          <a:prstGeom prst="ellipse">
            <a:avLst/>
          </a:prstGeom>
          <a:solidFill>
            <a:srgbClr val="10182D"/>
          </a:solidFill>
          <a:ln w="12700">
            <a:solidFill>
              <a:srgbClr val="C084FC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4712" y="3429000"/>
            <a:ext cx="329184" cy="31089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13816" y="4005072"/>
            <a:ext cx="95097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app</a:t>
            </a:r>
            <a:endParaRPr lang="en-US" sz="770" dirty="0"/>
          </a:p>
        </p:txBody>
      </p:sp>
      <p:sp>
        <p:nvSpPr>
          <p:cNvPr id="24" name="Shape 19"/>
          <p:cNvSpPr/>
          <p:nvPr/>
        </p:nvSpPr>
        <p:spPr>
          <a:xfrm>
            <a:off x="2148840" y="3273552"/>
            <a:ext cx="658368" cy="658368"/>
          </a:xfrm>
          <a:prstGeom prst="ellipse">
            <a:avLst/>
          </a:prstGeom>
          <a:solidFill>
            <a:srgbClr val="10182D"/>
          </a:solidFill>
          <a:ln w="12700">
            <a:solidFill>
              <a:srgbClr val="FDBA74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13432" y="3429000"/>
            <a:ext cx="329184" cy="31089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002536" y="4005072"/>
            <a:ext cx="95097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</a:t>
            </a:r>
            <a:endParaRPr lang="en-US" sz="770" dirty="0"/>
          </a:p>
        </p:txBody>
      </p:sp>
      <p:sp>
        <p:nvSpPr>
          <p:cNvPr id="27" name="Shape 21"/>
          <p:cNvSpPr/>
          <p:nvPr/>
        </p:nvSpPr>
        <p:spPr>
          <a:xfrm>
            <a:off x="5074920" y="1847088"/>
            <a:ext cx="1554480" cy="896112"/>
          </a:xfrm>
          <a:prstGeom prst="roundRect">
            <a:avLst/>
          </a:prstGeom>
          <a:solidFill>
            <a:srgbClr val="10182D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59552" y="2002536"/>
            <a:ext cx="502920" cy="34747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248656" y="2386584"/>
            <a:ext cx="120700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/ HTTPS</a:t>
            </a:r>
            <a:endParaRPr lang="en-US" sz="840" dirty="0"/>
          </a:p>
        </p:txBody>
      </p:sp>
      <p:sp>
        <p:nvSpPr>
          <p:cNvPr id="30" name="Shape 23"/>
          <p:cNvSpPr/>
          <p:nvPr/>
        </p:nvSpPr>
        <p:spPr>
          <a:xfrm>
            <a:off x="5074920" y="3657600"/>
            <a:ext cx="1554480" cy="841248"/>
          </a:xfrm>
          <a:prstGeom prst="roundRect">
            <a:avLst/>
          </a:prstGeom>
          <a:solidFill>
            <a:srgbClr val="10182D"/>
          </a:solidFill>
          <a:ln w="12700">
            <a:solidFill>
              <a:srgbClr val="A3E635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05272" y="3776472"/>
            <a:ext cx="402336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321808" y="4151376"/>
            <a:ext cx="106070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850" dirty="0"/>
          </a:p>
        </p:txBody>
      </p:sp>
      <p:sp>
        <p:nvSpPr>
          <p:cNvPr id="33" name="Shape 25"/>
          <p:cNvSpPr/>
          <p:nvPr/>
        </p:nvSpPr>
        <p:spPr>
          <a:xfrm>
            <a:off x="7498080" y="1719072"/>
            <a:ext cx="1536192" cy="1188720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FDBA74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662672" y="2121408"/>
            <a:ext cx="384048" cy="38404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156448" y="1847088"/>
            <a:ext cx="758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1300" dirty="0"/>
          </a:p>
        </p:txBody>
      </p:sp>
      <p:sp>
        <p:nvSpPr>
          <p:cNvPr id="36" name="Text 27"/>
          <p:cNvSpPr/>
          <p:nvPr/>
        </p:nvSpPr>
        <p:spPr>
          <a:xfrm>
            <a:off x="8156448" y="2112264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 request</a:t>
            </a:r>
            <a:endParaRPr lang="en-US" sz="800" dirty="0"/>
          </a:p>
        </p:txBody>
      </p:sp>
      <p:sp>
        <p:nvSpPr>
          <p:cNvPr id="37" name="Shape 28"/>
          <p:cNvSpPr/>
          <p:nvPr/>
        </p:nvSpPr>
        <p:spPr>
          <a:xfrm>
            <a:off x="7498080" y="3547872"/>
            <a:ext cx="1536192" cy="1051560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C084FC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662672" y="3881628"/>
            <a:ext cx="384048" cy="384048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8156448" y="3675888"/>
            <a:ext cx="758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50" dirty="0"/>
          </a:p>
        </p:txBody>
      </p:sp>
      <p:sp>
        <p:nvSpPr>
          <p:cNvPr id="40" name="Text 30"/>
          <p:cNvSpPr/>
          <p:nvPr/>
        </p:nvSpPr>
        <p:spPr>
          <a:xfrm>
            <a:off x="8156448" y="3941064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logic</a:t>
            </a:r>
            <a:endParaRPr lang="en-US" sz="800" dirty="0"/>
          </a:p>
        </p:txBody>
      </p:sp>
      <p:sp>
        <p:nvSpPr>
          <p:cNvPr id="41" name="Shape 31"/>
          <p:cNvSpPr/>
          <p:nvPr/>
        </p:nvSpPr>
        <p:spPr>
          <a:xfrm>
            <a:off x="9948672" y="1719072"/>
            <a:ext cx="1600200" cy="1188720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FBBF24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113264" y="2121408"/>
            <a:ext cx="384048" cy="384048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10607040" y="184708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250" dirty="0"/>
          </a:p>
        </p:txBody>
      </p:sp>
      <p:sp>
        <p:nvSpPr>
          <p:cNvPr id="44" name="Text 33"/>
          <p:cNvSpPr/>
          <p:nvPr/>
        </p:nvSpPr>
        <p:spPr>
          <a:xfrm>
            <a:off x="10607040" y="21122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records</a:t>
            </a:r>
            <a:endParaRPr lang="en-US" sz="800" dirty="0"/>
          </a:p>
        </p:txBody>
      </p:sp>
      <p:sp>
        <p:nvSpPr>
          <p:cNvPr id="45" name="Text 34"/>
          <p:cNvSpPr/>
          <p:nvPr/>
        </p:nvSpPr>
        <p:spPr>
          <a:xfrm>
            <a:off x="868680" y="5367528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80" dirty="0"/>
          </a:p>
        </p:txBody>
      </p:sp>
      <p:sp>
        <p:nvSpPr>
          <p:cNvPr id="46" name="Text 35"/>
          <p:cNvSpPr/>
          <p:nvPr/>
        </p:nvSpPr>
        <p:spPr>
          <a:xfrm>
            <a:off x="1097280" y="535838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pPr indent="0" marL="0">
              <a:buNone/>
            </a:pPr>
            <a:r>
              <a:rPr lang="en-US" sz="118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sends requests and shows results.</a:t>
            </a:r>
            <a:endParaRPr lang="en-US" sz="1180" dirty="0"/>
          </a:p>
        </p:txBody>
      </p:sp>
      <p:sp>
        <p:nvSpPr>
          <p:cNvPr id="47" name="Text 36"/>
          <p:cNvSpPr/>
          <p:nvPr/>
        </p:nvSpPr>
        <p:spPr>
          <a:xfrm>
            <a:off x="4343400" y="5367528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FDB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80" dirty="0"/>
          </a:p>
        </p:txBody>
      </p:sp>
      <p:sp>
        <p:nvSpPr>
          <p:cNvPr id="48" name="Text 37"/>
          <p:cNvSpPr/>
          <p:nvPr/>
        </p:nvSpPr>
        <p:spPr>
          <a:xfrm>
            <a:off x="4572000" y="535838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pPr indent="0" marL="0">
              <a:buNone/>
            </a:pPr>
            <a:r>
              <a:rPr lang="en-US" sz="118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processes requests and enforces rules.</a:t>
            </a:r>
            <a:endParaRPr lang="en-US" sz="1180" dirty="0"/>
          </a:p>
        </p:txBody>
      </p:sp>
      <p:sp>
        <p:nvSpPr>
          <p:cNvPr id="49" name="Text 38"/>
          <p:cNvSpPr/>
          <p:nvPr/>
        </p:nvSpPr>
        <p:spPr>
          <a:xfrm>
            <a:off x="7818120" y="5367528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80" dirty="0"/>
          </a:p>
        </p:txBody>
      </p:sp>
      <p:sp>
        <p:nvSpPr>
          <p:cNvPr id="50" name="Text 39"/>
          <p:cNvSpPr/>
          <p:nvPr/>
        </p:nvSpPr>
        <p:spPr>
          <a:xfrm>
            <a:off x="8046720" y="535838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pPr indent="0" marL="0">
              <a:buNone/>
            </a:pPr>
            <a:r>
              <a:rPr lang="en-US" sz="118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returns data, a page, or confirmation.</a:t>
            </a:r>
            <a:endParaRPr lang="en-US" sz="11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DESIGN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architecture: frontend, network, backend, data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55680" cy="0"/>
          </a:xfrm>
          <a:prstGeom prst="line">
            <a:avLst/>
          </a:prstGeom>
          <a:solidFill>
            <a:srgbClr val="0B1020">
              <a:alpha val="0"/>
            </a:srgbClr>
          </a:solidFill>
          <a:ln w="8890">
            <a:solidFill>
              <a:srgbClr val="415778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01984" y="31089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solidFill>
            <a:srgbClr val="0B1020">
              <a:alpha val="0"/>
            </a:srgbClr>
          </a:solidFill>
          <a:ln w="7620">
            <a:solidFill>
              <a:srgbClr val="415778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7453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Systems Architecture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46120" y="2313432"/>
            <a:ext cx="0" cy="137160"/>
          </a:xfrm>
          <a:prstGeom prst="line">
            <a:avLst/>
          </a:prstGeom>
          <a:solidFill>
            <a:srgbClr val="0B1020">
              <a:alpha val="0"/>
            </a:srgbClr>
          </a:solidFill>
          <a:ln w="16510">
            <a:solidFill>
              <a:srgbClr val="2DD4BF">
                <a:alpha val="85000"/>
              </a:srgbClr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46120" y="3310128"/>
            <a:ext cx="0" cy="137160"/>
          </a:xfrm>
          <a:prstGeom prst="line">
            <a:avLst/>
          </a:prstGeom>
          <a:solidFill>
            <a:srgbClr val="0B1020">
              <a:alpha val="0"/>
            </a:srgbClr>
          </a:solidFill>
          <a:ln w="16510">
            <a:solidFill>
              <a:srgbClr val="FDBA74">
                <a:alpha val="85000"/>
              </a:srgbClr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46120" y="4306824"/>
            <a:ext cx="0" cy="137160"/>
          </a:xfrm>
          <a:prstGeom prst="line">
            <a:avLst/>
          </a:prstGeom>
          <a:solidFill>
            <a:srgbClr val="0B1020">
              <a:alpha val="0"/>
            </a:srgbClr>
          </a:solidFill>
          <a:ln w="16510">
            <a:solidFill>
              <a:srgbClr val="FBBF24">
                <a:alpha val="85000"/>
              </a:srgbClr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14400" y="1508760"/>
            <a:ext cx="4663440" cy="749808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60A5FA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8992" y="1691640"/>
            <a:ext cx="384048" cy="3840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72768" y="163677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/ Frontend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1572768" y="19019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• CLI • browser • apps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914400" y="2505456"/>
            <a:ext cx="4663440" cy="749808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2DD4BF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8992" y="2688336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572768" y="263347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Communication</a:t>
            </a:r>
            <a:endParaRPr lang="en-US" sz="1320" dirty="0"/>
          </a:p>
        </p:txBody>
      </p:sp>
      <p:sp>
        <p:nvSpPr>
          <p:cNvPr id="18" name="Text 14"/>
          <p:cNvSpPr/>
          <p:nvPr/>
        </p:nvSpPr>
        <p:spPr>
          <a:xfrm>
            <a:off x="1572768" y="289864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HTTP/HTTPS • TCP/IP • APIs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914400" y="3502152"/>
            <a:ext cx="4663440" cy="749808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FDBA74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8992" y="3685032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72768" y="363016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/ Backend</a:t>
            </a:r>
            <a:endParaRPr lang="en-US" sz="1320" dirty="0"/>
          </a:p>
        </p:txBody>
      </p:sp>
      <p:sp>
        <p:nvSpPr>
          <p:cNvPr id="22" name="Text 17"/>
          <p:cNvSpPr/>
          <p:nvPr/>
        </p:nvSpPr>
        <p:spPr>
          <a:xfrm>
            <a:off x="1572768" y="389534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programs • algorithms • business logic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914400" y="4498848"/>
            <a:ext cx="4663440" cy="749808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FBBF24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8992" y="4681728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72768" y="462686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320" dirty="0"/>
          </a:p>
        </p:txBody>
      </p:sp>
      <p:sp>
        <p:nvSpPr>
          <p:cNvPr id="26" name="Text 20"/>
          <p:cNvSpPr/>
          <p:nvPr/>
        </p:nvSpPr>
        <p:spPr>
          <a:xfrm>
            <a:off x="1572768" y="48920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• files • cloud storage • logs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6492240" y="1508760"/>
            <a:ext cx="4434840" cy="3749040"/>
          </a:xfrm>
          <a:prstGeom prst="roundRect">
            <a:avLst/>
          </a:prstGeom>
          <a:solidFill>
            <a:srgbClr val="162039">
              <a:alpha val="94000"/>
            </a:srgbClr>
          </a:solidFill>
          <a:ln w="10160">
            <a:solidFill>
              <a:srgbClr val="415778">
                <a:alpha val="70000"/>
              </a:srgbClr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812280" y="17922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layers matter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6812280" y="2368296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7040880" y="2359152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</a:t>
            </a:r>
            <a:pPr indent="0" marL="0">
              <a:buNone/>
            </a:pPr>
            <a:r>
              <a:rPr lang="en-US" sz="13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each layer has a clear job.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6812280" y="2898648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7040880" y="288950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pPr indent="0" marL="0">
              <a:buNone/>
            </a:pPr>
            <a:r>
              <a:rPr lang="en-US" sz="13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servers and databases can grow independently.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6812280" y="352044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7040880" y="3511296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Maintainability</a:t>
            </a:r>
            <a:pPr indent="0" marL="0">
              <a:buNone/>
            </a:pPr>
            <a:r>
              <a:rPr lang="en-US" sz="13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teams change one layer without rewriting everything.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6812280" y="4270248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7040880" y="4261104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pPr indent="0" marL="0">
              <a:buNone/>
            </a:pPr>
            <a:r>
              <a:rPr lang="en-US" sz="13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controls can be placed at each boundary.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WAYS USERS INTERACT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Interfaces: many doors into the same system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55680" cy="0"/>
          </a:xfrm>
          <a:prstGeom prst="line">
            <a:avLst/>
          </a:prstGeom>
          <a:solidFill>
            <a:srgbClr val="0B1020">
              <a:alpha val="0"/>
            </a:srgbClr>
          </a:solidFill>
          <a:ln w="8890">
            <a:solidFill>
              <a:srgbClr val="415778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01984" y="31089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solidFill>
            <a:srgbClr val="0B1020">
              <a:alpha val="0"/>
            </a:srgbClr>
          </a:solidFill>
          <a:ln w="7620">
            <a:solidFill>
              <a:srgbClr val="415778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7453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Systems Architecture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429000" y="2075688"/>
            <a:ext cx="1463040" cy="1170432"/>
          </a:xfrm>
          <a:prstGeom prst="line">
            <a:avLst/>
          </a:prstGeom>
          <a:solidFill>
            <a:srgbClr val="0B1020">
              <a:alpha val="0"/>
            </a:srgbClr>
          </a:solidFill>
          <a:ln w="12700">
            <a:solidFill>
              <a:srgbClr val="60A5FA">
                <a:alpha val="78000"/>
              </a:srgbClr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29000" y="3127248"/>
            <a:ext cx="1463040" cy="118872"/>
          </a:xfrm>
          <a:prstGeom prst="line">
            <a:avLst/>
          </a:prstGeom>
          <a:solidFill>
            <a:srgbClr val="0B1020">
              <a:alpha val="0"/>
            </a:srgbClr>
          </a:solidFill>
          <a:ln w="12700">
            <a:solidFill>
              <a:srgbClr val="FDBA74">
                <a:alpha val="78000"/>
              </a:srgbClr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29000" y="4178808"/>
            <a:ext cx="1463040" cy="-932688"/>
          </a:xfrm>
          <a:prstGeom prst="line">
            <a:avLst/>
          </a:prstGeom>
          <a:solidFill>
            <a:srgbClr val="0B1020">
              <a:alpha val="0"/>
            </a:srgbClr>
          </a:solidFill>
          <a:ln w="12700">
            <a:solidFill>
              <a:srgbClr val="A3E635">
                <a:alpha val="78000"/>
              </a:srgbClr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29000" y="5230368"/>
            <a:ext cx="1463040" cy="-1984248"/>
          </a:xfrm>
          <a:prstGeom prst="line">
            <a:avLst/>
          </a:prstGeom>
          <a:solidFill>
            <a:srgbClr val="0B1020">
              <a:alpha val="0"/>
            </a:srgbClr>
          </a:solidFill>
          <a:ln w="12700">
            <a:solidFill>
              <a:srgbClr val="C084FC">
                <a:alpha val="78000"/>
              </a:srgbClr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897880" y="3246120"/>
            <a:ext cx="1417320" cy="0"/>
          </a:xfrm>
          <a:prstGeom prst="line">
            <a:avLst/>
          </a:prstGeom>
          <a:solidFill>
            <a:srgbClr val="0B1020">
              <a:alpha val="0"/>
            </a:srgbClr>
          </a:solidFill>
          <a:ln w="17780">
            <a:solidFill>
              <a:srgbClr val="2DD4BF">
                <a:alpha val="92000"/>
              </a:srgbClr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961120" y="3246120"/>
            <a:ext cx="1325880" cy="0"/>
          </a:xfrm>
          <a:prstGeom prst="line">
            <a:avLst/>
          </a:prstGeom>
          <a:solidFill>
            <a:srgbClr val="0B1020">
              <a:alpha val="0"/>
            </a:srgbClr>
          </a:solidFill>
          <a:ln w="17780">
            <a:solidFill>
              <a:srgbClr val="FBBF24">
                <a:alpha val="88000"/>
              </a:srgbClr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22960" y="1691640"/>
            <a:ext cx="2423160" cy="768096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60A5FA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7552" y="1883664"/>
            <a:ext cx="384048" cy="38404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481328" y="181965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481328" y="20848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buttons + forms</a:t>
            </a:r>
            <a:endParaRPr lang="en-US" sz="840" dirty="0"/>
          </a:p>
        </p:txBody>
      </p:sp>
      <p:sp>
        <p:nvSpPr>
          <p:cNvPr id="18" name="Shape 15"/>
          <p:cNvSpPr/>
          <p:nvPr/>
        </p:nvSpPr>
        <p:spPr>
          <a:xfrm>
            <a:off x="822960" y="2743200"/>
            <a:ext cx="2423160" cy="768096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FDBA74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7552" y="2935224"/>
            <a:ext cx="384048" cy="38404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481328" y="287121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1481328" y="31363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commands</a:t>
            </a:r>
            <a:endParaRPr lang="en-US" sz="840" dirty="0"/>
          </a:p>
        </p:txBody>
      </p:sp>
      <p:sp>
        <p:nvSpPr>
          <p:cNvPr id="22" name="Shape 18"/>
          <p:cNvSpPr/>
          <p:nvPr/>
        </p:nvSpPr>
        <p:spPr>
          <a:xfrm>
            <a:off x="822960" y="3794760"/>
            <a:ext cx="2423160" cy="768096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A3E635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7552" y="3986784"/>
            <a:ext cx="384048" cy="38404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481328" y="392277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1481328" y="41879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client</a:t>
            </a:r>
            <a:endParaRPr lang="en-US" sz="840" dirty="0"/>
          </a:p>
        </p:txBody>
      </p:sp>
      <p:sp>
        <p:nvSpPr>
          <p:cNvPr id="26" name="Shape 21"/>
          <p:cNvSpPr/>
          <p:nvPr/>
        </p:nvSpPr>
        <p:spPr>
          <a:xfrm>
            <a:off x="822960" y="4846320"/>
            <a:ext cx="2423160" cy="768096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C084FC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7552" y="5038344"/>
            <a:ext cx="384048" cy="38404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481328" y="497433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1481328" y="52395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mobile/desktop</a:t>
            </a:r>
            <a:endParaRPr lang="en-US" sz="840" dirty="0"/>
          </a:p>
        </p:txBody>
      </p:sp>
      <p:sp>
        <p:nvSpPr>
          <p:cNvPr id="30" name="Shape 24"/>
          <p:cNvSpPr/>
          <p:nvPr/>
        </p:nvSpPr>
        <p:spPr>
          <a:xfrm>
            <a:off x="4709160" y="2450592"/>
            <a:ext cx="1188720" cy="1591056"/>
          </a:xfrm>
          <a:prstGeom prst="ellipse">
            <a:avLst/>
          </a:prstGeom>
          <a:solidFill>
            <a:srgbClr val="1D2946"/>
          </a:solidFill>
          <a:ln w="13970">
            <a:solidFill>
              <a:srgbClr val="2DD4BF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65776" y="2816352"/>
            <a:ext cx="475488" cy="43891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910328" y="3401568"/>
            <a:ext cx="786384" cy="1920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7315200" y="2633472"/>
            <a:ext cx="1645920" cy="1225296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2DD4BF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79792" y="3054096"/>
            <a:ext cx="384048" cy="38404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973568" y="276148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7973568" y="302666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services</a:t>
            </a:r>
            <a:endParaRPr lang="en-US" sz="820" dirty="0"/>
          </a:p>
        </p:txBody>
      </p:sp>
      <p:sp>
        <p:nvSpPr>
          <p:cNvPr id="37" name="Shape 29"/>
          <p:cNvSpPr/>
          <p:nvPr/>
        </p:nvSpPr>
        <p:spPr>
          <a:xfrm>
            <a:off x="10287000" y="2633472"/>
            <a:ext cx="1234440" cy="1225296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FBBF24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51592" y="3054096"/>
            <a:ext cx="384048" cy="38404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0945368" y="27614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300" dirty="0"/>
          </a:p>
        </p:txBody>
      </p:sp>
      <p:sp>
        <p:nvSpPr>
          <p:cNvPr id="40" name="Text 31"/>
          <p:cNvSpPr/>
          <p:nvPr/>
        </p:nvSpPr>
        <p:spPr>
          <a:xfrm>
            <a:off x="10945368" y="30266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</a:t>
            </a:r>
            <a:endParaRPr lang="en-US" sz="820" dirty="0"/>
          </a:p>
        </p:txBody>
      </p:sp>
      <p:sp>
        <p:nvSpPr>
          <p:cNvPr id="41" name="Text 32"/>
          <p:cNvSpPr/>
          <p:nvPr/>
        </p:nvSpPr>
        <p:spPr>
          <a:xfrm>
            <a:off x="4023360" y="507492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interfaces can trigger the same backend functions.</a:t>
            </a:r>
            <a:endParaRPr lang="en-US" sz="1500" dirty="0"/>
          </a:p>
        </p:txBody>
      </p:sp>
      <p:sp>
        <p:nvSpPr>
          <p:cNvPr id="42" name="Text 33"/>
          <p:cNvSpPr/>
          <p:nvPr/>
        </p:nvSpPr>
        <p:spPr>
          <a:xfrm>
            <a:off x="4160520" y="557784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40" dirty="0"/>
          </a:p>
        </p:txBody>
      </p:sp>
      <p:sp>
        <p:nvSpPr>
          <p:cNvPr id="43" name="Text 34"/>
          <p:cNvSpPr/>
          <p:nvPr/>
        </p:nvSpPr>
        <p:spPr>
          <a:xfrm>
            <a:off x="4389120" y="5568696"/>
            <a:ext cx="5806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pPr indent="0" marL="0">
              <a:buNone/>
            </a:pPr>
            <a:r>
              <a:rPr lang="en-US" sz="124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means the user-facing side of the system.</a:t>
            </a:r>
            <a:endParaRPr lang="en-US" sz="1240" dirty="0"/>
          </a:p>
        </p:txBody>
      </p:sp>
      <p:sp>
        <p:nvSpPr>
          <p:cNvPr id="44" name="Text 35"/>
          <p:cNvSpPr/>
          <p:nvPr/>
        </p:nvSpPr>
        <p:spPr>
          <a:xfrm>
            <a:off x="4160520" y="6016752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40" dirty="0"/>
          </a:p>
        </p:txBody>
      </p:sp>
      <p:sp>
        <p:nvSpPr>
          <p:cNvPr id="45" name="Text 36"/>
          <p:cNvSpPr/>
          <p:nvPr/>
        </p:nvSpPr>
        <p:spPr>
          <a:xfrm>
            <a:off x="4389120" y="6007608"/>
            <a:ext cx="5806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pPr indent="0" marL="0">
              <a:buNone/>
            </a:pPr>
            <a:r>
              <a:rPr lang="en-US" sz="124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device or program making the request.</a:t>
            </a:r>
            <a:endParaRPr lang="en-US" sz="12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PROTOCOLS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Communication: HTTP rides on TCP/IP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55680" cy="0"/>
          </a:xfrm>
          <a:prstGeom prst="line">
            <a:avLst/>
          </a:prstGeom>
          <a:solidFill>
            <a:srgbClr val="0B1020">
              <a:alpha val="0"/>
            </a:srgbClr>
          </a:solidFill>
          <a:ln w="8890">
            <a:solidFill>
              <a:srgbClr val="415778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01984" y="31089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solidFill>
            <a:srgbClr val="0B1020">
              <a:alpha val="0"/>
            </a:srgbClr>
          </a:solidFill>
          <a:ln w="7620">
            <a:solidFill>
              <a:srgbClr val="415778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7453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Systems Architecture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212848" y="4553712"/>
            <a:ext cx="2404872" cy="0"/>
          </a:xfrm>
          <a:prstGeom prst="line">
            <a:avLst/>
          </a:prstGeom>
          <a:solidFill>
            <a:srgbClr val="0B1020">
              <a:alpha val="0"/>
            </a:srgbClr>
          </a:solidFill>
          <a:ln w="15240">
            <a:solidFill>
              <a:srgbClr val="2DD4BF">
                <a:alpha val="92000"/>
              </a:srgbClr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635240" y="4553712"/>
            <a:ext cx="2377440" cy="0"/>
          </a:xfrm>
          <a:prstGeom prst="line">
            <a:avLst/>
          </a:prstGeom>
          <a:solidFill>
            <a:srgbClr val="0B1020">
              <a:alpha val="0"/>
            </a:srgbClr>
          </a:solidFill>
          <a:ln w="15240">
            <a:solidFill>
              <a:srgbClr val="2DD4BF">
                <a:alpha val="92000"/>
              </a:srgbClr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22960" y="1417320"/>
            <a:ext cx="4023360" cy="713232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A3E635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7552" y="1581912"/>
            <a:ext cx="384048" cy="3840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81328" y="154533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/ HTTPS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81328" y="181051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requests + responses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822960" y="2267712"/>
            <a:ext cx="4023360" cy="713232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2DD4BF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7552" y="2432304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481328" y="239572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481328" y="26609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transport</a:t>
            </a:r>
            <a:endParaRPr lang="en-US" sz="820" dirty="0"/>
          </a:p>
        </p:txBody>
      </p:sp>
      <p:sp>
        <p:nvSpPr>
          <p:cNvPr id="18" name="Shape 14"/>
          <p:cNvSpPr/>
          <p:nvPr/>
        </p:nvSpPr>
        <p:spPr>
          <a:xfrm>
            <a:off x="822960" y="3118104"/>
            <a:ext cx="4023360" cy="713232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FDBA74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7552" y="3282696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81328" y="324612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481328" y="351129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addressing + routing</a:t>
            </a:r>
            <a:endParaRPr lang="en-US" sz="820" dirty="0"/>
          </a:p>
        </p:txBody>
      </p:sp>
      <p:sp>
        <p:nvSpPr>
          <p:cNvPr id="22" name="Shape 17"/>
          <p:cNvSpPr/>
          <p:nvPr/>
        </p:nvSpPr>
        <p:spPr>
          <a:xfrm>
            <a:off x="2834640" y="2203704"/>
            <a:ext cx="0" cy="-9144"/>
          </a:xfrm>
          <a:prstGeom prst="line">
            <a:avLst/>
          </a:prstGeom>
          <a:solidFill>
            <a:srgbClr val="0B1020">
              <a:alpha val="0"/>
            </a:srgbClr>
          </a:solidFill>
          <a:ln w="12700">
            <a:solidFill>
              <a:srgbClr val="2DD4BF">
                <a:alpha val="82000"/>
              </a:srgbClr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2834640" y="3054096"/>
            <a:ext cx="0" cy="-9144"/>
          </a:xfrm>
          <a:prstGeom prst="line">
            <a:avLst/>
          </a:prstGeom>
          <a:solidFill>
            <a:srgbClr val="0B1020">
              <a:alpha val="0"/>
            </a:srgbClr>
          </a:solidFill>
          <a:ln w="12700">
            <a:solidFill>
              <a:srgbClr val="FDBA74">
                <a:alpha val="82000"/>
              </a:srgbClr>
            </a:solidFill>
            <a:prstDash val="solid"/>
            <a:tailEnd type="triangle"/>
          </a:ln>
        </p:spPr>
      </p:sp>
      <p:sp>
        <p:nvSpPr>
          <p:cNvPr id="24" name="Text 19"/>
          <p:cNvSpPr/>
          <p:nvPr/>
        </p:nvSpPr>
        <p:spPr>
          <a:xfrm>
            <a:off x="914400" y="11704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Conceptual stack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822960" y="4041648"/>
            <a:ext cx="1389888" cy="1024128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60A5FA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7552" y="4361688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481328" y="4169664"/>
            <a:ext cx="612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1481328" y="4434840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browser/app</a:t>
            </a:r>
            <a:endParaRPr lang="en-US" sz="720" dirty="0"/>
          </a:p>
        </p:txBody>
      </p:sp>
      <p:sp>
        <p:nvSpPr>
          <p:cNvPr id="29" name="Shape 23"/>
          <p:cNvSpPr/>
          <p:nvPr/>
        </p:nvSpPr>
        <p:spPr>
          <a:xfrm>
            <a:off x="4617720" y="4041648"/>
            <a:ext cx="3017520" cy="1024128"/>
          </a:xfrm>
          <a:prstGeom prst="roundRect">
            <a:avLst/>
          </a:prstGeom>
          <a:solidFill>
            <a:srgbClr val="1D2946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64608" y="4270248"/>
            <a:ext cx="475488" cy="38404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422392" y="4325112"/>
            <a:ext cx="17373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/ LAN / Wi‑Fi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10012680" y="4041648"/>
            <a:ext cx="1417320" cy="1024128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FDBA74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77272" y="4361688"/>
            <a:ext cx="384048" cy="38404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0671048" y="41696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10671048" y="44348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720" dirty="0"/>
          </a:p>
        </p:txBody>
      </p:sp>
      <p:sp>
        <p:nvSpPr>
          <p:cNvPr id="36" name="Shape 28"/>
          <p:cNvSpPr/>
          <p:nvPr/>
        </p:nvSpPr>
        <p:spPr>
          <a:xfrm>
            <a:off x="5852160" y="1508760"/>
            <a:ext cx="5303520" cy="2514600"/>
          </a:xfrm>
          <a:prstGeom prst="roundRect">
            <a:avLst/>
          </a:prstGeom>
          <a:solidFill>
            <a:srgbClr val="162039">
              <a:alpha val="94000"/>
            </a:srgbClr>
          </a:solidFill>
          <a:ln w="10160">
            <a:solidFill>
              <a:srgbClr val="415778">
                <a:alpha val="65000"/>
              </a:srgbClr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6199632" y="188366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30" dirty="0"/>
          </a:p>
        </p:txBody>
      </p:sp>
      <p:sp>
        <p:nvSpPr>
          <p:cNvPr id="38" name="Text 30"/>
          <p:cNvSpPr/>
          <p:nvPr/>
        </p:nvSpPr>
        <p:spPr>
          <a:xfrm>
            <a:off x="6428232" y="1874520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HTTP/HTTPS</a:t>
            </a:r>
            <a:pPr indent="0" marL="0">
              <a:buNone/>
            </a:pPr>
            <a:r>
              <a:rPr lang="en-US" sz="123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message format for web communication.</a:t>
            </a:r>
            <a:endParaRPr lang="en-US" sz="1230" dirty="0"/>
          </a:p>
        </p:txBody>
      </p:sp>
      <p:sp>
        <p:nvSpPr>
          <p:cNvPr id="39" name="Text 31"/>
          <p:cNvSpPr/>
          <p:nvPr/>
        </p:nvSpPr>
        <p:spPr>
          <a:xfrm>
            <a:off x="6199632" y="2441448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30" dirty="0"/>
          </a:p>
        </p:txBody>
      </p:sp>
      <p:sp>
        <p:nvSpPr>
          <p:cNvPr id="40" name="Text 32"/>
          <p:cNvSpPr/>
          <p:nvPr/>
        </p:nvSpPr>
        <p:spPr>
          <a:xfrm>
            <a:off x="6428232" y="2432304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</a:t>
            </a:r>
            <a:pPr indent="0" marL="0">
              <a:buNone/>
            </a:pPr>
            <a:r>
              <a:rPr lang="en-US" sz="123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breaks data into reliable streams.</a:t>
            </a:r>
            <a:endParaRPr lang="en-US" sz="1230" dirty="0"/>
          </a:p>
        </p:txBody>
      </p:sp>
      <p:sp>
        <p:nvSpPr>
          <p:cNvPr id="41" name="Text 33"/>
          <p:cNvSpPr/>
          <p:nvPr/>
        </p:nvSpPr>
        <p:spPr>
          <a:xfrm>
            <a:off x="6199632" y="2962656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FDB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30" dirty="0"/>
          </a:p>
        </p:txBody>
      </p:sp>
      <p:sp>
        <p:nvSpPr>
          <p:cNvPr id="42" name="Text 34"/>
          <p:cNvSpPr/>
          <p:nvPr/>
        </p:nvSpPr>
        <p:spPr>
          <a:xfrm>
            <a:off x="6428232" y="2953512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</a:t>
            </a:r>
            <a:pPr indent="0" marL="0">
              <a:buNone/>
            </a:pPr>
            <a:r>
              <a:rPr lang="en-US" sz="123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gets packets to the right address.</a:t>
            </a:r>
            <a:endParaRPr lang="en-US" sz="1230" dirty="0"/>
          </a:p>
        </p:txBody>
      </p:sp>
      <p:sp>
        <p:nvSpPr>
          <p:cNvPr id="43" name="Text 35"/>
          <p:cNvSpPr/>
          <p:nvPr/>
        </p:nvSpPr>
        <p:spPr>
          <a:xfrm>
            <a:off x="6199632" y="348386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30" dirty="0"/>
          </a:p>
        </p:txBody>
      </p:sp>
      <p:sp>
        <p:nvSpPr>
          <p:cNvPr id="44" name="Text 36"/>
          <p:cNvSpPr/>
          <p:nvPr/>
        </p:nvSpPr>
        <p:spPr>
          <a:xfrm>
            <a:off x="6428232" y="3474720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</a:t>
            </a:r>
            <a:pPr indent="0" marL="0">
              <a:buNone/>
            </a:pPr>
            <a:r>
              <a:rPr lang="en-US" sz="123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agreed endpoints and data formats.</a:t>
            </a:r>
            <a:endParaRPr lang="en-US" sz="12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PROCESSING HAPPENS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Programming, algorithms, and backend logic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55680" cy="0"/>
          </a:xfrm>
          <a:prstGeom prst="line">
            <a:avLst/>
          </a:prstGeom>
          <a:solidFill>
            <a:srgbClr val="0B1020">
              <a:alpha val="0"/>
            </a:srgbClr>
          </a:solidFill>
          <a:ln w="8890">
            <a:solidFill>
              <a:srgbClr val="415778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01984" y="31089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solidFill>
            <a:srgbClr val="0B1020">
              <a:alpha val="0"/>
            </a:srgbClr>
          </a:solidFill>
          <a:ln w="7620">
            <a:solidFill>
              <a:srgbClr val="415778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7453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Systems Architecture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947672" y="2898648"/>
            <a:ext cx="502920" cy="0"/>
          </a:xfrm>
          <a:prstGeom prst="line">
            <a:avLst/>
          </a:prstGeom>
          <a:solidFill>
            <a:srgbClr val="0B1020">
              <a:alpha val="0"/>
            </a:srgbClr>
          </a:solidFill>
          <a:ln w="13970">
            <a:solidFill>
              <a:srgbClr val="2DD4BF">
                <a:alpha val="82000"/>
              </a:srgbClr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749040" y="2898648"/>
            <a:ext cx="502920" cy="0"/>
          </a:xfrm>
          <a:prstGeom prst="line">
            <a:avLst/>
          </a:prstGeom>
          <a:solidFill>
            <a:srgbClr val="0B1020">
              <a:alpha val="0"/>
            </a:srgbClr>
          </a:solidFill>
          <a:ln w="13970">
            <a:solidFill>
              <a:srgbClr val="2DD4BF">
                <a:alpha val="82000"/>
              </a:srgbClr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550408" y="2898648"/>
            <a:ext cx="502920" cy="0"/>
          </a:xfrm>
          <a:prstGeom prst="line">
            <a:avLst/>
          </a:prstGeom>
          <a:solidFill>
            <a:srgbClr val="0B1020">
              <a:alpha val="0"/>
            </a:srgbClr>
          </a:solidFill>
          <a:ln w="13970">
            <a:solidFill>
              <a:srgbClr val="2DD4BF">
                <a:alpha val="82000"/>
              </a:srgbClr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351776" y="2898648"/>
            <a:ext cx="502920" cy="0"/>
          </a:xfrm>
          <a:prstGeom prst="line">
            <a:avLst/>
          </a:prstGeom>
          <a:solidFill>
            <a:srgbClr val="0B1020">
              <a:alpha val="0"/>
            </a:srgbClr>
          </a:solidFill>
          <a:ln w="13970">
            <a:solidFill>
              <a:srgbClr val="2DD4BF">
                <a:alpha val="82000"/>
              </a:srgbClr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153144" y="2898648"/>
            <a:ext cx="502920" cy="0"/>
          </a:xfrm>
          <a:prstGeom prst="line">
            <a:avLst/>
          </a:prstGeom>
          <a:solidFill>
            <a:srgbClr val="0B1020">
              <a:alpha val="0"/>
            </a:srgbClr>
          </a:solidFill>
          <a:ln w="13970">
            <a:solidFill>
              <a:srgbClr val="2DD4BF">
                <a:alpha val="82000"/>
              </a:srgbClr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13232" y="2240280"/>
            <a:ext cx="1298448" cy="1316736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60A5FA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4672" y="239572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97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8992" y="2770632"/>
            <a:ext cx="566928" cy="43891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22960" y="3264408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client</a:t>
            </a:r>
            <a:endParaRPr lang="en-US" sz="710" dirty="0"/>
          </a:p>
        </p:txBody>
      </p:sp>
      <p:sp>
        <p:nvSpPr>
          <p:cNvPr id="17" name="Shape 14"/>
          <p:cNvSpPr/>
          <p:nvPr/>
        </p:nvSpPr>
        <p:spPr>
          <a:xfrm>
            <a:off x="2514600" y="2240280"/>
            <a:ext cx="1298448" cy="1316736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A3E635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2606040" y="239572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97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80360" y="2770632"/>
            <a:ext cx="566928" cy="43891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624328" y="3264408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input</a:t>
            </a:r>
            <a:endParaRPr lang="en-US" sz="710" dirty="0"/>
          </a:p>
        </p:txBody>
      </p:sp>
      <p:sp>
        <p:nvSpPr>
          <p:cNvPr id="21" name="Shape 17"/>
          <p:cNvSpPr/>
          <p:nvPr/>
        </p:nvSpPr>
        <p:spPr>
          <a:xfrm>
            <a:off x="4315968" y="2240280"/>
            <a:ext cx="1298448" cy="1316736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FB7185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4407408" y="239572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</a:t>
            </a:r>
            <a:endParaRPr lang="en-US" sz="97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81728" y="2770632"/>
            <a:ext cx="566928" cy="43891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425696" y="3264408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access</a:t>
            </a:r>
            <a:endParaRPr lang="en-US" sz="710" dirty="0"/>
          </a:p>
        </p:txBody>
      </p:sp>
      <p:sp>
        <p:nvSpPr>
          <p:cNvPr id="25" name="Shape 20"/>
          <p:cNvSpPr/>
          <p:nvPr/>
        </p:nvSpPr>
        <p:spPr>
          <a:xfrm>
            <a:off x="6117336" y="2240280"/>
            <a:ext cx="1298448" cy="1316736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C084FC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6208776" y="239572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</a:t>
            </a:r>
            <a:endParaRPr lang="en-US" sz="97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83096" y="2770632"/>
            <a:ext cx="566928" cy="43891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227064" y="3264408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logic</a:t>
            </a:r>
            <a:endParaRPr lang="en-US" sz="710" dirty="0"/>
          </a:p>
        </p:txBody>
      </p:sp>
      <p:sp>
        <p:nvSpPr>
          <p:cNvPr id="29" name="Shape 23"/>
          <p:cNvSpPr/>
          <p:nvPr/>
        </p:nvSpPr>
        <p:spPr>
          <a:xfrm>
            <a:off x="7918704" y="2240280"/>
            <a:ext cx="1298448" cy="1316736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FBBF24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8010144" y="239572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I/O</a:t>
            </a:r>
            <a:endParaRPr lang="en-US" sz="97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84464" y="2770632"/>
            <a:ext cx="566928" cy="43891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028432" y="3264408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read/write</a:t>
            </a:r>
            <a:endParaRPr lang="en-US" sz="710" dirty="0"/>
          </a:p>
        </p:txBody>
      </p:sp>
      <p:sp>
        <p:nvSpPr>
          <p:cNvPr id="33" name="Shape 26"/>
          <p:cNvSpPr/>
          <p:nvPr/>
        </p:nvSpPr>
        <p:spPr>
          <a:xfrm>
            <a:off x="9720072" y="2240280"/>
            <a:ext cx="1298448" cy="1316736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2DD4BF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sp>
        <p:nvSpPr>
          <p:cNvPr id="34" name="Text 27"/>
          <p:cNvSpPr/>
          <p:nvPr/>
        </p:nvSpPr>
        <p:spPr>
          <a:xfrm>
            <a:off x="9811512" y="239572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97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085832" y="2770632"/>
            <a:ext cx="566928" cy="43891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829800" y="3264408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result</a:t>
            </a:r>
            <a:endParaRPr lang="en-US" sz="710" dirty="0"/>
          </a:p>
        </p:txBody>
      </p:sp>
      <p:sp>
        <p:nvSpPr>
          <p:cNvPr id="37" name="Shape 29"/>
          <p:cNvSpPr/>
          <p:nvPr/>
        </p:nvSpPr>
        <p:spPr>
          <a:xfrm>
            <a:off x="841248" y="4370832"/>
            <a:ext cx="4937760" cy="1508760"/>
          </a:xfrm>
          <a:prstGeom prst="roundRect">
            <a:avLst/>
          </a:prstGeom>
          <a:solidFill>
            <a:srgbClr val="1D2946"/>
          </a:solidFill>
          <a:ln w="10160">
            <a:solidFill>
              <a:srgbClr val="415778">
                <a:alpha val="70000"/>
              </a:srgbClr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1115568" y="46177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algorithm example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1115568" y="498348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receive credentials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compare securely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allow or reject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6263640" y="4370832"/>
            <a:ext cx="4983480" cy="1508760"/>
          </a:xfrm>
          <a:prstGeom prst="roundRect">
            <a:avLst/>
          </a:prstGeom>
          <a:solidFill>
            <a:srgbClr val="162039">
              <a:alpha val="94000"/>
            </a:srgbClr>
          </a:solidFill>
          <a:ln w="10160">
            <a:solidFill>
              <a:srgbClr val="415778">
                <a:alpha val="65000"/>
              </a:srgbClr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6537960" y="4654296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70" dirty="0"/>
          </a:p>
        </p:txBody>
      </p:sp>
      <p:sp>
        <p:nvSpPr>
          <p:cNvPr id="42" name="Text 34"/>
          <p:cNvSpPr/>
          <p:nvPr/>
        </p:nvSpPr>
        <p:spPr>
          <a:xfrm>
            <a:off x="6766560" y="4645152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Programming</a:t>
            </a:r>
            <a:pPr indent="0" marL="0">
              <a:buNone/>
            </a:pPr>
            <a:r>
              <a:rPr lang="en-US" sz="117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turns requirements into software behavior.</a:t>
            </a:r>
            <a:endParaRPr lang="en-US" sz="1170" dirty="0"/>
          </a:p>
        </p:txBody>
      </p:sp>
      <p:sp>
        <p:nvSpPr>
          <p:cNvPr id="43" name="Text 35"/>
          <p:cNvSpPr/>
          <p:nvPr/>
        </p:nvSpPr>
        <p:spPr>
          <a:xfrm>
            <a:off x="6537960" y="5093208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70" dirty="0"/>
          </a:p>
        </p:txBody>
      </p:sp>
      <p:sp>
        <p:nvSpPr>
          <p:cNvPr id="44" name="Text 36"/>
          <p:cNvSpPr/>
          <p:nvPr/>
        </p:nvSpPr>
        <p:spPr>
          <a:xfrm>
            <a:off x="6766560" y="5084064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</a:t>
            </a:r>
            <a:pPr indent="0" marL="0">
              <a:buNone/>
            </a:pPr>
            <a:r>
              <a:rPr lang="en-US" sz="117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step-by-step method.</a:t>
            </a:r>
            <a:endParaRPr lang="en-US" sz="1170" dirty="0"/>
          </a:p>
        </p:txBody>
      </p:sp>
      <p:sp>
        <p:nvSpPr>
          <p:cNvPr id="45" name="Text 37"/>
          <p:cNvSpPr/>
          <p:nvPr/>
        </p:nvSpPr>
        <p:spPr>
          <a:xfrm>
            <a:off x="6537960" y="553212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FDB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70" dirty="0"/>
          </a:p>
        </p:txBody>
      </p:sp>
      <p:sp>
        <p:nvSpPr>
          <p:cNvPr id="46" name="Text 38"/>
          <p:cNvSpPr/>
          <p:nvPr/>
        </p:nvSpPr>
        <p:spPr>
          <a:xfrm>
            <a:off x="6766560" y="552297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</a:t>
            </a:r>
            <a:pPr indent="0" marL="0">
              <a:buNone/>
            </a:pPr>
            <a:r>
              <a:rPr lang="en-US" sz="117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applies rules such as pricing or approval.</a:t>
            </a:r>
            <a:endParaRPr lang="en-US" sz="11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+ INFORMATION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 and outputs: where value appears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55680" cy="0"/>
          </a:xfrm>
          <a:prstGeom prst="line">
            <a:avLst/>
          </a:prstGeom>
          <a:solidFill>
            <a:srgbClr val="0B1020">
              <a:alpha val="0"/>
            </a:srgbClr>
          </a:solidFill>
          <a:ln w="8890">
            <a:solidFill>
              <a:srgbClr val="415778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01984" y="31089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solidFill>
            <a:srgbClr val="0B1020">
              <a:alpha val="0"/>
            </a:srgbClr>
          </a:solidFill>
          <a:ln w="7620">
            <a:solidFill>
              <a:srgbClr val="415778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7453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Systems Architecture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154680" y="1938528"/>
            <a:ext cx="1600200" cy="1673352"/>
          </a:xfrm>
          <a:prstGeom prst="line">
            <a:avLst/>
          </a:prstGeom>
          <a:solidFill>
            <a:srgbClr val="0B1020">
              <a:alpha val="0"/>
            </a:srgbClr>
          </a:solidFill>
          <a:ln w="12700">
            <a:solidFill>
              <a:srgbClr val="FBBF24">
                <a:alpha val="76000"/>
              </a:srgbClr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154680" y="2990088"/>
            <a:ext cx="1600200" cy="621792"/>
          </a:xfrm>
          <a:prstGeom prst="line">
            <a:avLst/>
          </a:prstGeom>
          <a:solidFill>
            <a:srgbClr val="0B1020">
              <a:alpha val="0"/>
            </a:srgbClr>
          </a:solidFill>
          <a:ln w="12700">
            <a:solidFill>
              <a:srgbClr val="60A5FA">
                <a:alpha val="76000"/>
              </a:srgbClr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154680" y="4041648"/>
            <a:ext cx="1600200" cy="-429768"/>
          </a:xfrm>
          <a:prstGeom prst="line">
            <a:avLst/>
          </a:prstGeom>
          <a:solidFill>
            <a:srgbClr val="0B1020">
              <a:alpha val="0"/>
            </a:srgbClr>
          </a:solidFill>
          <a:ln w="12700">
            <a:solidFill>
              <a:srgbClr val="2DD4BF">
                <a:alpha val="76000"/>
              </a:srgbClr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154680" y="5093208"/>
            <a:ext cx="1600200" cy="-1481328"/>
          </a:xfrm>
          <a:prstGeom prst="line">
            <a:avLst/>
          </a:prstGeom>
          <a:solidFill>
            <a:srgbClr val="0B1020">
              <a:alpha val="0"/>
            </a:srgbClr>
          </a:solidFill>
          <a:ln w="12700">
            <a:solidFill>
              <a:srgbClr val="FDBA74">
                <a:alpha val="76000"/>
              </a:srgbClr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989320" y="3611880"/>
            <a:ext cx="1371600" cy="-1399032"/>
          </a:xfrm>
          <a:prstGeom prst="line">
            <a:avLst/>
          </a:prstGeom>
          <a:solidFill>
            <a:srgbClr val="0B1020">
              <a:alpha val="0"/>
            </a:srgbClr>
          </a:solidFill>
          <a:ln w="15240">
            <a:solidFill>
              <a:srgbClr val="A3E635">
                <a:alpha val="88000"/>
              </a:srgbClr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989320" y="3611880"/>
            <a:ext cx="1371600" cy="-365760"/>
          </a:xfrm>
          <a:prstGeom prst="line">
            <a:avLst/>
          </a:prstGeom>
          <a:solidFill>
            <a:srgbClr val="0B1020">
              <a:alpha val="0"/>
            </a:srgbClr>
          </a:solidFill>
          <a:ln w="15240">
            <a:solidFill>
              <a:srgbClr val="2DD4BF">
                <a:alpha val="88000"/>
              </a:srgbClr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89320" y="3611880"/>
            <a:ext cx="1371600" cy="667512"/>
          </a:xfrm>
          <a:prstGeom prst="line">
            <a:avLst/>
          </a:prstGeom>
          <a:solidFill>
            <a:srgbClr val="0B1020">
              <a:alpha val="0"/>
            </a:srgbClr>
          </a:solidFill>
          <a:ln w="15240">
            <a:solidFill>
              <a:srgbClr val="FDBA74">
                <a:alpha val="88000"/>
              </a:srgbClr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77240" y="1554480"/>
            <a:ext cx="2377440" cy="749808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FBBF24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1832" y="1737360"/>
            <a:ext cx="384048" cy="38404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35608" y="168249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435608" y="19476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records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777240" y="2606040"/>
            <a:ext cx="2377440" cy="749808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60A5FA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1832" y="2788920"/>
            <a:ext cx="384048" cy="38404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435608" y="273405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1435608" y="29992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+ media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777240" y="3657600"/>
            <a:ext cx="2377440" cy="749808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2DD4BF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1832" y="3840480"/>
            <a:ext cx="384048" cy="38404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435608" y="378561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storage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1435608" y="40507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capacity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777240" y="4709160"/>
            <a:ext cx="2377440" cy="749808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FDBA74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1832" y="4892040"/>
            <a:ext cx="384048" cy="38404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435608" y="483717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1435608" y="510235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+ errors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4572000" y="2971800"/>
            <a:ext cx="1417320" cy="1280160"/>
          </a:xfrm>
          <a:prstGeom prst="ellipse">
            <a:avLst/>
          </a:prstGeom>
          <a:solidFill>
            <a:srgbClr val="1D2946"/>
          </a:solidFill>
          <a:ln w="13970">
            <a:solidFill>
              <a:srgbClr val="C084FC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10912" y="3227832"/>
            <a:ext cx="530352" cy="43891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700016" y="3739896"/>
            <a:ext cx="11430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7360920" y="1627632"/>
            <a:ext cx="3154680" cy="749808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A3E635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25512" y="1810512"/>
            <a:ext cx="384048" cy="38404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019288" y="17556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8019288" y="20208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periodic summaries</a:t>
            </a:r>
            <a:endParaRPr lang="en-US" sz="800" dirty="0"/>
          </a:p>
        </p:txBody>
      </p:sp>
      <p:sp>
        <p:nvSpPr>
          <p:cNvPr id="38" name="Shape 30"/>
          <p:cNvSpPr/>
          <p:nvPr/>
        </p:nvSpPr>
        <p:spPr>
          <a:xfrm>
            <a:off x="7360920" y="2670048"/>
            <a:ext cx="3154680" cy="749808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2DD4BF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525512" y="2852928"/>
            <a:ext cx="384048" cy="384048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8019288" y="27980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</a:t>
            </a:r>
            <a:endParaRPr lang="en-US" sz="1200" dirty="0"/>
          </a:p>
        </p:txBody>
      </p:sp>
      <p:sp>
        <p:nvSpPr>
          <p:cNvPr id="41" name="Text 32"/>
          <p:cNvSpPr/>
          <p:nvPr/>
        </p:nvSpPr>
        <p:spPr>
          <a:xfrm>
            <a:off x="8019288" y="3063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views</a:t>
            </a:r>
            <a:endParaRPr lang="en-US" sz="800" dirty="0"/>
          </a:p>
        </p:txBody>
      </p:sp>
      <p:sp>
        <p:nvSpPr>
          <p:cNvPr id="42" name="Shape 33"/>
          <p:cNvSpPr/>
          <p:nvPr/>
        </p:nvSpPr>
        <p:spPr>
          <a:xfrm>
            <a:off x="7360920" y="3712464"/>
            <a:ext cx="3154680" cy="749808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FDBA74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525512" y="3895344"/>
            <a:ext cx="384048" cy="384048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8019288" y="38404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45" name="Text 35"/>
          <p:cNvSpPr/>
          <p:nvPr/>
        </p:nvSpPr>
        <p:spPr>
          <a:xfrm>
            <a:off x="8019288" y="41056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+ messages</a:t>
            </a:r>
            <a:endParaRPr lang="en-US" sz="800" dirty="0"/>
          </a:p>
        </p:txBody>
      </p:sp>
      <p:sp>
        <p:nvSpPr>
          <p:cNvPr id="46" name="Shape 36"/>
          <p:cNvSpPr/>
          <p:nvPr/>
        </p:nvSpPr>
        <p:spPr>
          <a:xfrm>
            <a:off x="7360920" y="4754880"/>
            <a:ext cx="3154680" cy="749808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C084FC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525512" y="4937760"/>
            <a:ext cx="384048" cy="384048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8019288" y="48828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</a:t>
            </a:r>
            <a:endParaRPr lang="en-US" sz="1200" dirty="0"/>
          </a:p>
        </p:txBody>
      </p:sp>
      <p:sp>
        <p:nvSpPr>
          <p:cNvPr id="49" name="Text 38"/>
          <p:cNvSpPr/>
          <p:nvPr/>
        </p:nvSpPr>
        <p:spPr>
          <a:xfrm>
            <a:off x="8019288" y="51480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or automated</a:t>
            </a:r>
            <a:endParaRPr lang="en-US" sz="800" dirty="0"/>
          </a:p>
        </p:txBody>
      </p:sp>
      <p:sp>
        <p:nvSpPr>
          <p:cNvPr id="50" name="Text 39"/>
          <p:cNvSpPr/>
          <p:nvPr/>
        </p:nvSpPr>
        <p:spPr>
          <a:xfrm>
            <a:off x="1005840" y="608990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becomes useful when it is organized, interpreted, and delivered to the right person or process.</a:t>
            </a:r>
            <a:endParaRPr lang="en-US" sz="12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FLOW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an online order journey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55680" cy="0"/>
          </a:xfrm>
          <a:prstGeom prst="line">
            <a:avLst/>
          </a:prstGeom>
          <a:solidFill>
            <a:srgbClr val="0B1020">
              <a:alpha val="0"/>
            </a:srgbClr>
          </a:solidFill>
          <a:ln w="8890">
            <a:solidFill>
              <a:srgbClr val="415778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01984" y="31089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solidFill>
            <a:srgbClr val="0B1020">
              <a:alpha val="0"/>
            </a:srgbClr>
          </a:solidFill>
          <a:ln w="7620">
            <a:solidFill>
              <a:srgbClr val="415778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7453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Systems Architecture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267712" y="2578608"/>
            <a:ext cx="173736" cy="0"/>
          </a:xfrm>
          <a:prstGeom prst="line">
            <a:avLst/>
          </a:prstGeom>
          <a:solidFill>
            <a:srgbClr val="0B1020">
              <a:alpha val="0"/>
            </a:srgbClr>
          </a:solidFill>
          <a:ln w="15240">
            <a:solidFill>
              <a:srgbClr val="2DD4BF">
                <a:alpha val="86000"/>
              </a:srgbClr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233672" y="2578608"/>
            <a:ext cx="219456" cy="0"/>
          </a:xfrm>
          <a:prstGeom prst="line">
            <a:avLst/>
          </a:prstGeom>
          <a:solidFill>
            <a:srgbClr val="0B1020">
              <a:alpha val="0"/>
            </a:srgbClr>
          </a:solidFill>
          <a:ln w="15240">
            <a:solidFill>
              <a:srgbClr val="2DD4BF">
                <a:alpha val="86000"/>
              </a:srgbClr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245352" y="2578608"/>
            <a:ext cx="219456" cy="0"/>
          </a:xfrm>
          <a:prstGeom prst="line">
            <a:avLst/>
          </a:prstGeom>
          <a:solidFill>
            <a:srgbClr val="0B1020">
              <a:alpha val="0"/>
            </a:srgbClr>
          </a:solidFill>
          <a:ln w="15240">
            <a:solidFill>
              <a:srgbClr val="2DD4BF">
                <a:alpha val="86000"/>
              </a:srgbClr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257032" y="2578608"/>
            <a:ext cx="219456" cy="0"/>
          </a:xfrm>
          <a:prstGeom prst="line">
            <a:avLst/>
          </a:prstGeom>
          <a:solidFill>
            <a:srgbClr val="0B1020">
              <a:alpha val="0"/>
            </a:srgbClr>
          </a:solidFill>
          <a:ln w="15240">
            <a:solidFill>
              <a:srgbClr val="2DD4BF">
                <a:alpha val="86000"/>
              </a:srgbClr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0268712" y="2578608"/>
            <a:ext cx="36576" cy="0"/>
          </a:xfrm>
          <a:prstGeom prst="line">
            <a:avLst/>
          </a:prstGeom>
          <a:solidFill>
            <a:srgbClr val="0B1020">
              <a:alpha val="0"/>
            </a:srgbClr>
          </a:solidFill>
          <a:ln w="15240">
            <a:solidFill>
              <a:srgbClr val="2DD4BF">
                <a:alpha val="86000"/>
              </a:srgbClr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85800" y="1965960"/>
            <a:ext cx="1508760" cy="1225296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2DD4BF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0392" y="2386584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44168" y="209397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1344168" y="23591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clicks Buy</a:t>
            </a:r>
            <a:endParaRPr lang="en-US" sz="770" dirty="0"/>
          </a:p>
        </p:txBody>
      </p:sp>
      <p:sp>
        <p:nvSpPr>
          <p:cNvPr id="17" name="Shape 14"/>
          <p:cNvSpPr/>
          <p:nvPr/>
        </p:nvSpPr>
        <p:spPr>
          <a:xfrm>
            <a:off x="2514600" y="1965960"/>
            <a:ext cx="1645920" cy="1225296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60A5FA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79192" y="2386584"/>
            <a:ext cx="384048" cy="38404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172968" y="209397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080" dirty="0"/>
          </a:p>
        </p:txBody>
      </p:sp>
      <p:sp>
        <p:nvSpPr>
          <p:cNvPr id="20" name="Text 16"/>
          <p:cNvSpPr/>
          <p:nvPr/>
        </p:nvSpPr>
        <p:spPr>
          <a:xfrm>
            <a:off x="3172968" y="23591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browser/app UI</a:t>
            </a:r>
            <a:endParaRPr lang="en-US" sz="770" dirty="0"/>
          </a:p>
        </p:txBody>
      </p:sp>
      <p:sp>
        <p:nvSpPr>
          <p:cNvPr id="21" name="Shape 17"/>
          <p:cNvSpPr/>
          <p:nvPr/>
        </p:nvSpPr>
        <p:spPr>
          <a:xfrm>
            <a:off x="4526280" y="1965960"/>
            <a:ext cx="1645920" cy="1225296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A3E635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0872" y="2386584"/>
            <a:ext cx="384048" cy="38404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184648" y="209397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HTTPS/API</a:t>
            </a:r>
            <a:endParaRPr lang="en-US" sz="1080" dirty="0"/>
          </a:p>
        </p:txBody>
      </p:sp>
      <p:sp>
        <p:nvSpPr>
          <p:cNvPr id="24" name="Text 19"/>
          <p:cNvSpPr/>
          <p:nvPr/>
        </p:nvSpPr>
        <p:spPr>
          <a:xfrm>
            <a:off x="5184648" y="23591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travels</a:t>
            </a:r>
            <a:endParaRPr lang="en-US" sz="770" dirty="0"/>
          </a:p>
        </p:txBody>
      </p:sp>
      <p:sp>
        <p:nvSpPr>
          <p:cNvPr id="25" name="Shape 20"/>
          <p:cNvSpPr/>
          <p:nvPr/>
        </p:nvSpPr>
        <p:spPr>
          <a:xfrm>
            <a:off x="6537960" y="1965960"/>
            <a:ext cx="1645920" cy="1225296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FDBA74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02552" y="2386584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196328" y="209397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080" dirty="0"/>
          </a:p>
        </p:txBody>
      </p:sp>
      <p:sp>
        <p:nvSpPr>
          <p:cNvPr id="28" name="Text 22"/>
          <p:cNvSpPr/>
          <p:nvPr/>
        </p:nvSpPr>
        <p:spPr>
          <a:xfrm>
            <a:off x="7196328" y="23591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rules</a:t>
            </a:r>
            <a:endParaRPr lang="en-US" sz="770" dirty="0"/>
          </a:p>
        </p:txBody>
      </p:sp>
      <p:sp>
        <p:nvSpPr>
          <p:cNvPr id="29" name="Shape 23"/>
          <p:cNvSpPr/>
          <p:nvPr/>
        </p:nvSpPr>
        <p:spPr>
          <a:xfrm>
            <a:off x="8549640" y="1965960"/>
            <a:ext cx="1645920" cy="1225296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FBBF24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714232" y="2386584"/>
            <a:ext cx="384048" cy="38404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208008" y="209397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080" dirty="0"/>
          </a:p>
        </p:txBody>
      </p:sp>
      <p:sp>
        <p:nvSpPr>
          <p:cNvPr id="32" name="Text 25"/>
          <p:cNvSpPr/>
          <p:nvPr/>
        </p:nvSpPr>
        <p:spPr>
          <a:xfrm>
            <a:off x="9208008" y="23591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records</a:t>
            </a:r>
            <a:endParaRPr lang="en-US" sz="770" dirty="0"/>
          </a:p>
        </p:txBody>
      </p:sp>
      <p:sp>
        <p:nvSpPr>
          <p:cNvPr id="33" name="Shape 26"/>
          <p:cNvSpPr/>
          <p:nvPr/>
        </p:nvSpPr>
        <p:spPr>
          <a:xfrm>
            <a:off x="10378440" y="1965960"/>
            <a:ext cx="1508760" cy="1225296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C084FC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543032" y="2386584"/>
            <a:ext cx="384048" cy="38404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1036808" y="209397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080" dirty="0"/>
          </a:p>
        </p:txBody>
      </p:sp>
      <p:sp>
        <p:nvSpPr>
          <p:cNvPr id="36" name="Text 28"/>
          <p:cNvSpPr/>
          <p:nvPr/>
        </p:nvSpPr>
        <p:spPr>
          <a:xfrm>
            <a:off x="11036808" y="23591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receipt/report</a:t>
            </a:r>
            <a:endParaRPr lang="en-US" sz="770" dirty="0"/>
          </a:p>
        </p:txBody>
      </p:sp>
      <p:sp>
        <p:nvSpPr>
          <p:cNvPr id="37" name="Shape 29"/>
          <p:cNvSpPr/>
          <p:nvPr/>
        </p:nvSpPr>
        <p:spPr>
          <a:xfrm>
            <a:off x="1828800" y="3977640"/>
            <a:ext cx="8595360" cy="1481328"/>
          </a:xfrm>
          <a:prstGeom prst="roundRect">
            <a:avLst/>
          </a:prstGeom>
          <a:solidFill>
            <a:srgbClr val="162039">
              <a:alpha val="93000"/>
            </a:srgbClr>
          </a:solidFill>
          <a:ln w="10160">
            <a:solidFill>
              <a:srgbClr val="415778">
                <a:alpha val="70000"/>
              </a:srgbClr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2148840" y="427939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algorithms may: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2148840" y="471830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90" dirty="0"/>
          </a:p>
        </p:txBody>
      </p:sp>
      <p:sp>
        <p:nvSpPr>
          <p:cNvPr id="40" name="Text 32"/>
          <p:cNvSpPr/>
          <p:nvPr/>
        </p:nvSpPr>
        <p:spPr>
          <a:xfrm>
            <a:off x="2377440" y="470916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pPr indent="0" marL="0">
              <a:buNone/>
            </a:pPr>
            <a:r>
              <a:rPr lang="en-US" sz="109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product data</a:t>
            </a:r>
            <a:endParaRPr lang="en-US" sz="1090" dirty="0"/>
          </a:p>
        </p:txBody>
      </p:sp>
      <p:sp>
        <p:nvSpPr>
          <p:cNvPr id="41" name="Text 33"/>
          <p:cNvSpPr/>
          <p:nvPr/>
        </p:nvSpPr>
        <p:spPr>
          <a:xfrm>
            <a:off x="4251960" y="471830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90" dirty="0"/>
          </a:p>
        </p:txBody>
      </p:sp>
      <p:sp>
        <p:nvSpPr>
          <p:cNvPr id="42" name="Text 34"/>
          <p:cNvSpPr/>
          <p:nvPr/>
        </p:nvSpPr>
        <p:spPr>
          <a:xfrm>
            <a:off x="4480560" y="470916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</a:t>
            </a:r>
            <a:pPr indent="0" marL="0">
              <a:buNone/>
            </a:pPr>
            <a:r>
              <a:rPr lang="en-US" sz="109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price + tax</a:t>
            </a:r>
            <a:endParaRPr lang="en-US" sz="1090" dirty="0"/>
          </a:p>
        </p:txBody>
      </p:sp>
      <p:sp>
        <p:nvSpPr>
          <p:cNvPr id="43" name="Text 35"/>
          <p:cNvSpPr/>
          <p:nvPr/>
        </p:nvSpPr>
        <p:spPr>
          <a:xfrm>
            <a:off x="6355080" y="471830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FDB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90" dirty="0"/>
          </a:p>
        </p:txBody>
      </p:sp>
      <p:sp>
        <p:nvSpPr>
          <p:cNvPr id="44" name="Text 36"/>
          <p:cNvSpPr/>
          <p:nvPr/>
        </p:nvSpPr>
        <p:spPr>
          <a:xfrm>
            <a:off x="6583680" y="470916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pPr indent="0" marL="0">
              <a:buNone/>
            </a:pPr>
            <a:r>
              <a:rPr lang="en-US" sz="109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inventory</a:t>
            </a:r>
            <a:endParaRPr lang="en-US" sz="1090" dirty="0"/>
          </a:p>
        </p:txBody>
      </p:sp>
      <p:sp>
        <p:nvSpPr>
          <p:cNvPr id="45" name="Text 37"/>
          <p:cNvSpPr/>
          <p:nvPr/>
        </p:nvSpPr>
        <p:spPr>
          <a:xfrm>
            <a:off x="8275320" y="471830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90" dirty="0"/>
          </a:p>
        </p:txBody>
      </p:sp>
      <p:sp>
        <p:nvSpPr>
          <p:cNvPr id="46" name="Text 38"/>
          <p:cNvSpPr/>
          <p:nvPr/>
        </p:nvSpPr>
        <p:spPr>
          <a:xfrm>
            <a:off x="8503920" y="470916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pPr indent="0" marL="0">
              <a:buNone/>
            </a:pPr>
            <a:r>
              <a:rPr lang="en-US" sz="109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payment</a:t>
            </a:r>
            <a:endParaRPr lang="en-US" sz="1090" dirty="0"/>
          </a:p>
        </p:txBody>
      </p:sp>
      <p:sp>
        <p:nvSpPr>
          <p:cNvPr id="47" name="Text 39"/>
          <p:cNvSpPr/>
          <p:nvPr/>
        </p:nvSpPr>
        <p:spPr>
          <a:xfrm>
            <a:off x="1051560" y="605332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architecture supports other systems: banking, payroll, healthcare portals, logistics, and education platforms.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SUMMARY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all the terms connect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55680" cy="0"/>
          </a:xfrm>
          <a:prstGeom prst="line">
            <a:avLst/>
          </a:prstGeom>
          <a:solidFill>
            <a:srgbClr val="0B1020">
              <a:alpha val="0"/>
            </a:srgbClr>
          </a:solidFill>
          <a:ln w="8890">
            <a:solidFill>
              <a:srgbClr val="415778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01984" y="31089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solidFill>
            <a:srgbClr val="0B1020">
              <a:alpha val="0"/>
            </a:srgbClr>
          </a:solidFill>
          <a:ln w="7620">
            <a:solidFill>
              <a:srgbClr val="415778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7453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Systems Architecture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697480" y="1792224"/>
            <a:ext cx="1508760" cy="-137160"/>
          </a:xfrm>
          <a:prstGeom prst="line">
            <a:avLst/>
          </a:prstGeom>
          <a:solidFill>
            <a:srgbClr val="0B1020">
              <a:alpha val="0"/>
            </a:srgbClr>
          </a:solidFill>
          <a:ln w="12700">
            <a:solidFill>
              <a:srgbClr val="2DD4BF">
                <a:alpha val="72000"/>
              </a:srgbClr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97480" y="3209544"/>
            <a:ext cx="1508760" cy="-1554480"/>
          </a:xfrm>
          <a:prstGeom prst="line">
            <a:avLst/>
          </a:prstGeom>
          <a:solidFill>
            <a:srgbClr val="0B1020">
              <a:alpha val="0"/>
            </a:srgbClr>
          </a:solidFill>
          <a:ln w="12700">
            <a:solidFill>
              <a:srgbClr val="60A5FA">
                <a:alpha val="60000"/>
              </a:srgbClr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97480" y="4626864"/>
            <a:ext cx="1508760" cy="576072"/>
          </a:xfrm>
          <a:prstGeom prst="line">
            <a:avLst/>
          </a:prstGeom>
          <a:solidFill>
            <a:srgbClr val="0B1020">
              <a:alpha val="0"/>
            </a:srgbClr>
          </a:solidFill>
          <a:ln w="12700">
            <a:solidFill>
              <a:srgbClr val="A3E635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35040" y="1655064"/>
            <a:ext cx="1508760" cy="0"/>
          </a:xfrm>
          <a:prstGeom prst="line">
            <a:avLst/>
          </a:prstGeom>
          <a:solidFill>
            <a:srgbClr val="0B1020">
              <a:alpha val="0"/>
            </a:srgbClr>
          </a:solidFill>
          <a:ln w="13970">
            <a:solidFill>
              <a:srgbClr val="2DD4BF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372600" y="1655064"/>
            <a:ext cx="182880" cy="1234440"/>
          </a:xfrm>
          <a:prstGeom prst="line">
            <a:avLst/>
          </a:prstGeom>
          <a:solidFill>
            <a:srgbClr val="0B1020">
              <a:alpha val="0"/>
            </a:srgbClr>
          </a:solidFill>
          <a:ln w="12700">
            <a:solidFill>
              <a:srgbClr val="FDBA74">
                <a:alpha val="75000"/>
              </a:srgbClr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0469880" y="3264408"/>
            <a:ext cx="0" cy="530352"/>
          </a:xfrm>
          <a:prstGeom prst="line">
            <a:avLst/>
          </a:prstGeom>
          <a:solidFill>
            <a:srgbClr val="0B1020">
              <a:alpha val="0"/>
            </a:srgbClr>
          </a:solidFill>
          <a:ln w="12700">
            <a:solidFill>
              <a:srgbClr val="C084FC">
                <a:alpha val="85000"/>
              </a:srgbClr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555480" y="4169664"/>
            <a:ext cx="-182880" cy="1033272"/>
          </a:xfrm>
          <a:prstGeom prst="line">
            <a:avLst/>
          </a:prstGeom>
          <a:solidFill>
            <a:srgbClr val="0B1020">
              <a:alpha val="0"/>
            </a:srgbClr>
          </a:solidFill>
          <a:ln w="12700">
            <a:solidFill>
              <a:srgbClr val="C084FC">
                <a:alpha val="75000"/>
              </a:srgbClr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543800" y="5202936"/>
            <a:ext cx="-1508760" cy="0"/>
          </a:xfrm>
          <a:prstGeom prst="line">
            <a:avLst/>
          </a:prstGeom>
          <a:solidFill>
            <a:srgbClr val="0B1020">
              <a:alpha val="0"/>
            </a:srgbClr>
          </a:solidFill>
          <a:ln w="13970">
            <a:solidFill>
              <a:srgbClr val="FBBF24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206240" y="5202936"/>
            <a:ext cx="-1463040" cy="-576072"/>
          </a:xfrm>
          <a:prstGeom prst="line">
            <a:avLst/>
          </a:prstGeom>
          <a:solidFill>
            <a:srgbClr val="0B1020">
              <a:alpha val="0"/>
            </a:srgbClr>
          </a:solidFill>
          <a:ln w="12700">
            <a:solidFill>
              <a:srgbClr val="A3E635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56632" y="2468880"/>
            <a:ext cx="1865376" cy="1865376"/>
          </a:xfrm>
          <a:prstGeom prst="ellipse">
            <a:avLst/>
          </a:prstGeom>
          <a:solidFill>
            <a:srgbClr val="1D2946"/>
          </a:solidFill>
          <a:ln w="16510">
            <a:solidFill>
              <a:srgbClr val="2DD4BF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96712" y="2971800"/>
            <a:ext cx="585216" cy="4572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202936" y="3511296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822960" y="1417320"/>
            <a:ext cx="1874520" cy="749808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2DD4BF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7552" y="1600200"/>
            <a:ext cx="384048" cy="38404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481328" y="154533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120" dirty="0"/>
          </a:p>
        </p:txBody>
      </p:sp>
      <p:sp>
        <p:nvSpPr>
          <p:cNvPr id="23" name="Text 19"/>
          <p:cNvSpPr/>
          <p:nvPr/>
        </p:nvSpPr>
        <p:spPr>
          <a:xfrm>
            <a:off x="1481328" y="1810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</a:t>
            </a:r>
            <a:endParaRPr lang="en-US" sz="760" dirty="0"/>
          </a:p>
        </p:txBody>
      </p:sp>
      <p:sp>
        <p:nvSpPr>
          <p:cNvPr id="24" name="Shape 20"/>
          <p:cNvSpPr/>
          <p:nvPr/>
        </p:nvSpPr>
        <p:spPr>
          <a:xfrm>
            <a:off x="822960" y="2834640"/>
            <a:ext cx="1874520" cy="749808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60A5FA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7552" y="3017520"/>
            <a:ext cx="384048" cy="38404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481328" y="296265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</a:t>
            </a:r>
            <a:endParaRPr lang="en-US" sz="1120" dirty="0"/>
          </a:p>
        </p:txBody>
      </p:sp>
      <p:sp>
        <p:nvSpPr>
          <p:cNvPr id="27" name="Text 22"/>
          <p:cNvSpPr/>
          <p:nvPr/>
        </p:nvSpPr>
        <p:spPr>
          <a:xfrm>
            <a:off x="1481328" y="32278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• app • CLI</a:t>
            </a:r>
            <a:endParaRPr lang="en-US" sz="760" dirty="0"/>
          </a:p>
        </p:txBody>
      </p:sp>
      <p:sp>
        <p:nvSpPr>
          <p:cNvPr id="28" name="Shape 23"/>
          <p:cNvSpPr/>
          <p:nvPr/>
        </p:nvSpPr>
        <p:spPr>
          <a:xfrm>
            <a:off x="822960" y="4251960"/>
            <a:ext cx="1874520" cy="749808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A3E635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7552" y="4434840"/>
            <a:ext cx="384048" cy="38404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481328" y="437997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20" dirty="0"/>
          </a:p>
        </p:txBody>
      </p:sp>
      <p:sp>
        <p:nvSpPr>
          <p:cNvPr id="31" name="Text 25"/>
          <p:cNvSpPr/>
          <p:nvPr/>
        </p:nvSpPr>
        <p:spPr>
          <a:xfrm>
            <a:off x="1481328" y="46451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+ experience</a:t>
            </a:r>
            <a:endParaRPr lang="en-US" sz="760" dirty="0"/>
          </a:p>
        </p:txBody>
      </p:sp>
      <p:sp>
        <p:nvSpPr>
          <p:cNvPr id="32" name="Shape 26"/>
          <p:cNvSpPr/>
          <p:nvPr/>
        </p:nvSpPr>
        <p:spPr>
          <a:xfrm>
            <a:off x="4206240" y="1280160"/>
            <a:ext cx="1828800" cy="749808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2DD4BF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70832" y="1463040"/>
            <a:ext cx="384048" cy="38404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864608" y="140817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Protocols</a:t>
            </a:r>
            <a:endParaRPr lang="en-US" sz="1120" dirty="0"/>
          </a:p>
        </p:txBody>
      </p:sp>
      <p:sp>
        <p:nvSpPr>
          <p:cNvPr id="35" name="Text 28"/>
          <p:cNvSpPr/>
          <p:nvPr/>
        </p:nvSpPr>
        <p:spPr>
          <a:xfrm>
            <a:off x="4864608" y="16733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• TCP/IP</a:t>
            </a:r>
            <a:endParaRPr lang="en-US" sz="760" dirty="0"/>
          </a:p>
        </p:txBody>
      </p:sp>
      <p:sp>
        <p:nvSpPr>
          <p:cNvPr id="36" name="Shape 29"/>
          <p:cNvSpPr/>
          <p:nvPr/>
        </p:nvSpPr>
        <p:spPr>
          <a:xfrm>
            <a:off x="7543800" y="1280160"/>
            <a:ext cx="1828800" cy="749808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FDBA74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08392" y="1463040"/>
            <a:ext cx="384048" cy="38404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202168" y="140817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20" dirty="0"/>
          </a:p>
        </p:txBody>
      </p:sp>
      <p:sp>
        <p:nvSpPr>
          <p:cNvPr id="39" name="Text 31"/>
          <p:cNvSpPr/>
          <p:nvPr/>
        </p:nvSpPr>
        <p:spPr>
          <a:xfrm>
            <a:off x="8202168" y="16733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services</a:t>
            </a:r>
            <a:endParaRPr lang="en-US" sz="760" dirty="0"/>
          </a:p>
        </p:txBody>
      </p:sp>
      <p:sp>
        <p:nvSpPr>
          <p:cNvPr id="40" name="Shape 32"/>
          <p:cNvSpPr/>
          <p:nvPr/>
        </p:nvSpPr>
        <p:spPr>
          <a:xfrm>
            <a:off x="9555480" y="2514600"/>
            <a:ext cx="1828800" cy="749808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C084FC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720072" y="2697480"/>
            <a:ext cx="384048" cy="384048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10213848" y="264261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Programs</a:t>
            </a:r>
            <a:endParaRPr lang="en-US" sz="1120" dirty="0"/>
          </a:p>
        </p:txBody>
      </p:sp>
      <p:sp>
        <p:nvSpPr>
          <p:cNvPr id="43" name="Text 34"/>
          <p:cNvSpPr/>
          <p:nvPr/>
        </p:nvSpPr>
        <p:spPr>
          <a:xfrm>
            <a:off x="10213848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760" dirty="0"/>
          </a:p>
        </p:txBody>
      </p:sp>
      <p:sp>
        <p:nvSpPr>
          <p:cNvPr id="44" name="Shape 35"/>
          <p:cNvSpPr/>
          <p:nvPr/>
        </p:nvSpPr>
        <p:spPr>
          <a:xfrm>
            <a:off x="9555480" y="3794760"/>
            <a:ext cx="1828800" cy="749808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C084FC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720072" y="3977640"/>
            <a:ext cx="384048" cy="384048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10213848" y="392277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Algorithms</a:t>
            </a:r>
            <a:endParaRPr lang="en-US" sz="1120" dirty="0"/>
          </a:p>
        </p:txBody>
      </p:sp>
      <p:sp>
        <p:nvSpPr>
          <p:cNvPr id="47" name="Text 37"/>
          <p:cNvSpPr/>
          <p:nvPr/>
        </p:nvSpPr>
        <p:spPr>
          <a:xfrm>
            <a:off x="10213848" y="4187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logic</a:t>
            </a:r>
            <a:endParaRPr lang="en-US" sz="760" dirty="0"/>
          </a:p>
        </p:txBody>
      </p:sp>
      <p:sp>
        <p:nvSpPr>
          <p:cNvPr id="48" name="Shape 38"/>
          <p:cNvSpPr/>
          <p:nvPr/>
        </p:nvSpPr>
        <p:spPr>
          <a:xfrm>
            <a:off x="7543800" y="4828032"/>
            <a:ext cx="1828800" cy="749808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FBBF24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708392" y="5010912"/>
            <a:ext cx="384048" cy="384048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8202168" y="495604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120" dirty="0"/>
          </a:p>
        </p:txBody>
      </p:sp>
      <p:sp>
        <p:nvSpPr>
          <p:cNvPr id="51" name="Text 40"/>
          <p:cNvSpPr/>
          <p:nvPr/>
        </p:nvSpPr>
        <p:spPr>
          <a:xfrm>
            <a:off x="8202168" y="522122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databases + files</a:t>
            </a:r>
            <a:endParaRPr lang="en-US" sz="760" dirty="0"/>
          </a:p>
        </p:txBody>
      </p:sp>
      <p:sp>
        <p:nvSpPr>
          <p:cNvPr id="52" name="Shape 41"/>
          <p:cNvSpPr/>
          <p:nvPr/>
        </p:nvSpPr>
        <p:spPr>
          <a:xfrm>
            <a:off x="4206240" y="4828032"/>
            <a:ext cx="1828800" cy="749808"/>
          </a:xfrm>
          <a:prstGeom prst="roundRect">
            <a:avLst/>
          </a:prstGeom>
          <a:solidFill>
            <a:srgbClr val="162039"/>
          </a:solidFill>
          <a:ln w="13970">
            <a:solidFill>
              <a:srgbClr val="A3E635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8000"/>
              </a:srgbClr>
            </a:outerShdw>
          </a:effectLst>
        </p:spPr>
      </p:sp>
      <p:pic>
        <p:nvPicPr>
          <p:cNvPr id="5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370832" y="5010912"/>
            <a:ext cx="384048" cy="384048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4864608" y="495604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120" dirty="0"/>
          </a:p>
        </p:txBody>
      </p:sp>
      <p:sp>
        <p:nvSpPr>
          <p:cNvPr id="55" name="Text 43"/>
          <p:cNvSpPr/>
          <p:nvPr/>
        </p:nvSpPr>
        <p:spPr>
          <a:xfrm>
            <a:off x="4864608" y="522122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+ actions</a:t>
            </a:r>
            <a:endParaRPr lang="en-US" sz="760" dirty="0"/>
          </a:p>
        </p:txBody>
      </p:sp>
      <p:sp>
        <p:nvSpPr>
          <p:cNvPr id="56" name="Text 44"/>
          <p:cNvSpPr/>
          <p:nvPr/>
        </p:nvSpPr>
        <p:spPr>
          <a:xfrm>
            <a:off x="960120" y="606247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hook: </a:t>
            </a:r>
            <a:pPr algn="ctr" indent="0" marL="0">
              <a:buNone/>
            </a:pPr>
            <a:r>
              <a:rPr lang="en-US" sz="114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pPr algn="ctr" indent="0" marL="0">
              <a:buNone/>
            </a:pPr>
            <a:r>
              <a:rPr lang="en-US" sz="114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starts the request; </a:t>
            </a:r>
            <a:pPr algn="ctr" indent="0" marL="0">
              <a:buNone/>
            </a:pPr>
            <a:r>
              <a:rPr lang="en-US" sz="114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pPr algn="ctr" indent="0" marL="0">
              <a:buNone/>
            </a:pPr>
            <a:r>
              <a:rPr lang="en-US" sz="114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carries it; </a:t>
            </a:r>
            <a:pPr algn="ctr" indent="0" marL="0">
              <a:buNone/>
            </a:pPr>
            <a:r>
              <a:rPr lang="en-US" sz="1140" b="1" dirty="0">
                <a:solidFill>
                  <a:srgbClr val="FDB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pPr algn="ctr" indent="0" marL="0">
              <a:buNone/>
            </a:pPr>
            <a:r>
              <a:rPr lang="en-US" sz="114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runs the logic; </a:t>
            </a:r>
            <a:pPr algn="ctr" indent="0" marL="0">
              <a:buNone/>
            </a:pPr>
            <a:r>
              <a:rPr lang="en-US" sz="114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pPr algn="ctr" indent="0" marL="0">
              <a:buNone/>
            </a:pPr>
            <a:r>
              <a:rPr lang="en-US" sz="114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persists it; </a:t>
            </a:r>
            <a:pPr algn="ctr" indent="0" marL="0">
              <a:buNone/>
            </a:pPr>
            <a:r>
              <a:rPr lang="en-US" sz="114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pPr algn="ctr" indent="0" marL="0">
              <a:buNone/>
            </a:pPr>
            <a:r>
              <a:rPr lang="en-US" sz="114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create value.</a:t>
            </a:r>
            <a:endParaRPr lang="en-US" sz="1140" dirty="0"/>
          </a:p>
        </p:txBody>
      </p:sp>
      <p:sp>
        <p:nvSpPr>
          <p:cNvPr id="57" name="Text 45"/>
          <p:cNvSpPr/>
          <p:nvPr/>
        </p:nvSpPr>
        <p:spPr>
          <a:xfrm>
            <a:off x="10012680" y="657453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Icons: Font Awesome Free</a:t>
            </a:r>
            <a:endParaRPr lang="en-US" sz="6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Systems Architecture</dc:title>
  <dc:subject>Teaching slides: Information Systems architecture and web concepts</dc:subject>
  <dc:creator>OpenAI</dc:creator>
  <cp:lastModifiedBy>OpenAI</cp:lastModifiedBy>
  <cp:revision>1</cp:revision>
  <dcterms:created xsi:type="dcterms:W3CDTF">2026-07-06T07:31:15Z</dcterms:created>
  <dcterms:modified xsi:type="dcterms:W3CDTF">2026-07-06T07:31:15Z</dcterms:modified>
</cp:coreProperties>
</file>
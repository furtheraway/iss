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6247" autoAdjust="0"/>
  </p:normalViewPr>
  <p:slideViewPr>
    <p:cSldViewPr snapToGrid="0" snapToObjects="1">
      <p:cViewPr varScale="1">
        <p:scale>
          <a:sx n="106" d="100"/>
          <a:sy n="106" d="100"/>
        </p:scale>
        <p:origin x="8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21792"/>
            <a:ext cx="1874519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1">
                <a:solidFill>
                  <a:srgbClr val="2F80ED"/>
                </a:solidFill>
                <a:latin typeface="Calibri"/>
              </a:defRPr>
            </a:pPr>
            <a:r>
              <a:t>TEACHING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8978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83153"/>
                </a:solidFill>
                <a:latin typeface="Calibri"/>
              </a:rPr>
              <a:t>Information Systems</a:t>
            </a:r>
          </a:p>
          <a:p>
            <a:r>
              <a:rPr sz="3000" b="1">
                <a:solidFill>
                  <a:srgbClr val="2F80ED"/>
                </a:solidFill>
                <a:latin typeface="Calibri"/>
              </a:rPr>
              <a:t>Components &amp;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17520"/>
            <a:ext cx="5166360" cy="11430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Big picture: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how people, data, software, hardware, and networks work together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Modern architecture:</a:t>
            </a:r>
            <a:r>
              <a:rPr sz="1400" b="0">
                <a:solidFill>
                  <a:srgbClr val="263238"/>
                </a:solidFill>
                <a:latin typeface="Calibri"/>
              </a:rPr>
              <a:t> client, frontend, network, backend, server, and database</a:t>
            </a:r>
          </a:p>
          <a:p>
            <a:pPr algn="l">
              <a:spcAft>
                <a:spcPts val="100"/>
              </a:spcAft>
            </a:pPr>
            <a:r>
              <a:rPr sz="1400" b="1">
                <a:solidFill>
                  <a:srgbClr val="2F80ED"/>
                </a:solidFill>
                <a:latin typeface="Calibri"/>
              </a:rPr>
              <a:t>• </a:t>
            </a:r>
            <a:r>
              <a:rPr sz="1400" b="1">
                <a:solidFill>
                  <a:srgbClr val="263238"/>
                </a:solidFill>
                <a:latin typeface="Calibri"/>
              </a:rPr>
              <a:t>Practical lens:</a:t>
            </a:r>
            <a:r>
              <a:rPr sz="1400" b="0">
                <a:solidFill>
                  <a:srgbClr val="263238"/>
                </a:solidFill>
                <a:latin typeface="Calibri"/>
              </a:rPr>
              <a:t> browser, UI, CLI, apps, HTTP/TCP, programming, and algorithms</a:t>
            </a:r>
          </a:p>
        </p:txBody>
      </p:sp>
      <p:sp>
        <p:nvSpPr>
          <p:cNvPr id="9" name="Oval 8"/>
          <p:cNvSpPr/>
          <p:nvPr/>
        </p:nvSpPr>
        <p:spPr>
          <a:xfrm>
            <a:off x="8110727" y="2715768"/>
            <a:ext cx="1609344" cy="1609344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0" y="3200400"/>
            <a:ext cx="1188720" cy="6400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7616952" y="1581912"/>
            <a:ext cx="1298448" cy="193852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360920" y="132588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072" y="1399032"/>
            <a:ext cx="420624" cy="4206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191109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8915400" y="1490472"/>
            <a:ext cx="1261872" cy="20299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921240" y="12344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392" y="1307592"/>
            <a:ext cx="420624" cy="4206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92640" y="18196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3520440"/>
            <a:ext cx="1627632" cy="117043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0287000" y="44348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0152" y="4507992"/>
            <a:ext cx="420624" cy="4206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58400" y="5020055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7662671" y="3520440"/>
            <a:ext cx="1252729" cy="181051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406640" y="507492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792" y="5148072"/>
            <a:ext cx="420624" cy="4206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78040" y="566013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6976872" y="3319272"/>
            <a:ext cx="1938528" cy="201168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6720840" y="306324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136392"/>
            <a:ext cx="420624" cy="42062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92240" y="364845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Server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15400" y="3520440"/>
            <a:ext cx="713232" cy="2221992"/>
          </a:xfrm>
          <a:prstGeom prst="line">
            <a:avLst/>
          </a:prstGeom>
          <a:ln w="17780">
            <a:solidFill>
              <a:srgbClr val="B8C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372600" y="5486400"/>
            <a:ext cx="566928" cy="56692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secur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5559552"/>
            <a:ext cx="420624" cy="4206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144000" y="6071616"/>
            <a:ext cx="1024128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Major components of an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These pieces work together; none is useful in isolation.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1792" y="162763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8096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hard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851660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0744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0744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Physical devices: computers, servers, routers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8536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60" y="1627632"/>
            <a:ext cx="3063240" cy="1060704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398264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softw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988" y="1851660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10912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0912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Programs, operating systems, enterprise apps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18703" y="167335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882127" y="1627632"/>
            <a:ext cx="3063240" cy="1060704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28431" y="177393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6155" y="1851660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41080" y="178308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2066543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Raw facts organized into useful information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" y="3090672"/>
            <a:ext cx="3063240" cy="106070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68096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314700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80744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People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80744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Users, managers, analysts, IT specialists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8536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251960" y="3090672"/>
            <a:ext cx="3063240" cy="106070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98264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proc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988" y="3314700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10912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Processes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Rules, workflows, procedures, approvals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18703" y="3136391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882127" y="3090672"/>
            <a:ext cx="3063240" cy="106070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028431" y="323697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netwo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6155" y="3314700"/>
            <a:ext cx="347472" cy="34747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641080" y="324612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1080" y="352958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Internet, Wi-Fi, LAN, APIs, communication links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88536" y="4599432"/>
            <a:ext cx="3063240" cy="1060704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251960" y="4553712"/>
            <a:ext cx="3063240" cy="1060704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398264" y="4700016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7" name="Picture 46" descr="securit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988" y="4777740"/>
            <a:ext cx="347472" cy="347472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10912" y="4709160"/>
            <a:ext cx="219456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10912" y="4992624"/>
            <a:ext cx="2194560" cy="557783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40" b="0">
                <a:solidFill>
                  <a:srgbClr val="667085"/>
                </a:solidFill>
                <a:latin typeface="Calibri"/>
              </a:defRPr>
            </a:pPr>
            <a:r>
              <a:t>Access control, encryption, backups, audit logs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Useful information emerges when components are coordinated.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5860" y="6179665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rPr dirty="0"/>
              <a:t>A three-tier model plus network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" y="1645920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4709160" cy="86868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0" name="Picture 9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773936"/>
            <a:ext cx="475488" cy="4754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81912" y="1728372"/>
            <a:ext cx="2582245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 dirty="0"/>
              <a:t>Presentation Layer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/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02692"/>
            <a:ext cx="3484031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UI, CLI, browser, mobile app, desktop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31820" y="2496312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10800000">
            <a:off x="3058668" y="2569463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5" name="Rounded Rectangle 14"/>
          <p:cNvSpPr/>
          <p:nvPr/>
        </p:nvSpPr>
        <p:spPr>
          <a:xfrm>
            <a:off x="813816" y="2724911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6" name="Rounded Rectangle 15"/>
          <p:cNvSpPr/>
          <p:nvPr/>
        </p:nvSpPr>
        <p:spPr>
          <a:xfrm>
            <a:off x="777240" y="2679191"/>
            <a:ext cx="4709160" cy="86868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17" name="Picture 16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52927"/>
            <a:ext cx="475488" cy="4754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81912" y="2807363"/>
            <a:ext cx="1278107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/>
              <a:t>Network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81912" y="3081683"/>
            <a:ext cx="3828420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/>
              <a:t>HTTP/HTTPS, TCP/IP, APIs, internet/LAN/Wi-Fi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31820" y="3575303"/>
            <a:ext cx="0" cy="146304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3058668" y="3648455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2" name="Rounded Rectangle 21"/>
          <p:cNvSpPr/>
          <p:nvPr/>
        </p:nvSpPr>
        <p:spPr>
          <a:xfrm>
            <a:off x="813816" y="3803903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3" name="Rounded Rectangle 22"/>
          <p:cNvSpPr/>
          <p:nvPr/>
        </p:nvSpPr>
        <p:spPr>
          <a:xfrm>
            <a:off x="777240" y="3758183"/>
            <a:ext cx="4709160" cy="86868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24" name="Picture 23" descr="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31920"/>
            <a:ext cx="475488" cy="47548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81912" y="3886355"/>
            <a:ext cx="2410596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 dirty="0"/>
              <a:t>Application Layer </a:t>
            </a:r>
            <a:r>
              <a:rPr sz="1600" dirty="0">
                <a:solidFill>
                  <a:schemeClr val="accent6">
                    <a:lumMod val="75000"/>
                  </a:schemeClr>
                </a:solidFill>
              </a:rPr>
              <a:t>/ 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160676"/>
            <a:ext cx="3535712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Business logic, algorithms, authentication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131820" y="4654296"/>
            <a:ext cx="0" cy="146303"/>
          </a:xfrm>
          <a:prstGeom prst="line">
            <a:avLst/>
          </a:prstGeom>
          <a:ln w="22860">
            <a:solidFill>
              <a:srgbClr val="9EA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10800000">
            <a:off x="3058668" y="4727447"/>
            <a:ext cx="146304" cy="146304"/>
          </a:xfrm>
          <a:prstGeom prst="triangle">
            <a:avLst/>
          </a:prstGeom>
          <a:solidFill>
            <a:srgbClr val="9EA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9" name="Rounded Rectangle 28"/>
          <p:cNvSpPr/>
          <p:nvPr/>
        </p:nvSpPr>
        <p:spPr>
          <a:xfrm>
            <a:off x="813816" y="4882896"/>
            <a:ext cx="4709160" cy="868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0" name="Rounded Rectangle 29"/>
          <p:cNvSpPr/>
          <p:nvPr/>
        </p:nvSpPr>
        <p:spPr>
          <a:xfrm>
            <a:off x="777240" y="4837176"/>
            <a:ext cx="4709160" cy="86868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pic>
        <p:nvPicPr>
          <p:cNvPr id="31" name="Picture 30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10912"/>
            <a:ext cx="475488" cy="47548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81912" y="4965348"/>
            <a:ext cx="937501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1600"/>
              <a:t>Data Layer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5239668"/>
            <a:ext cx="2946128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50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Database, files, cloud storage, logs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1853298"/>
            <a:ext cx="4294551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collects input + shows 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96000" y="2860106"/>
            <a:ext cx="4122695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moves requests + responses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03621" y="3966531"/>
            <a:ext cx="3939540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 dirty="0"/>
              <a:t>applies rules + runs algorithms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03620" y="5045523"/>
            <a:ext cx="3033116" cy="40626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130" b="0">
                <a:solidFill>
                  <a:srgbClr val="263238"/>
                </a:solidFill>
                <a:latin typeface="Calibri"/>
              </a:defRPr>
            </a:pPr>
            <a:r>
              <a:rPr sz="2400"/>
              <a:t>stores facts +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CLIENT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Client side: where users interact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client is any tool that sends requests and displays responses.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13232" y="1664208"/>
            <a:ext cx="4709160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59" y="1888236"/>
            <a:ext cx="347472" cy="347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721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21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Visual interface: buttons, forms, menus,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099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99632" y="1664208"/>
            <a:ext cx="4709160" cy="141732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45936" y="18105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l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88236"/>
            <a:ext cx="347472" cy="3474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58584" y="18196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21031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Text interface: commands, scripts,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3232" y="3721608"/>
            <a:ext cx="4709160" cy="1417320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95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brows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59" y="3945636"/>
            <a:ext cx="347472" cy="3474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4721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721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Web client: Chrome, Edge, Safari, Firefox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3767328"/>
            <a:ext cx="470916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199632" y="3721608"/>
            <a:ext cx="4709160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345936" y="3867912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3945636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58584" y="3877056"/>
            <a:ext cx="38404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Apps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58584" y="4160520"/>
            <a:ext cx="3840480" cy="9144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00" b="0">
                <a:solidFill>
                  <a:srgbClr val="667085"/>
                </a:solidFill>
                <a:latin typeface="Calibri"/>
              </a:defRPr>
            </a:pPr>
            <a:r>
              <a:t>Mobile or desktop software installed by users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8256" y="5559552"/>
            <a:ext cx="8183879" cy="6858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2011680" y="5513832"/>
            <a:ext cx="8183879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31720" y="5669280"/>
            <a:ext cx="7543800" cy="27432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Different clients can use the same backend and data layer.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CLIENT/SERVER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Server/client model: request and response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The client asks; the server processes; the client receives the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" y="1874519"/>
            <a:ext cx="2468880" cy="26517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2468880" cy="26517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2121408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081528"/>
            <a:ext cx="2011680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520440"/>
            <a:ext cx="2011680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Runs UI/CLI:</a:t>
            </a:r>
            <a:r>
              <a:rPr sz="1080" b="0">
                <a:solidFill>
                  <a:srgbClr val="263238"/>
                </a:solidFill>
                <a:latin typeface="Calibri"/>
              </a:rPr>
              <a:t> captures user actions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Sends requests:</a:t>
            </a:r>
            <a:r>
              <a:rPr sz="1080" b="0">
                <a:solidFill>
                  <a:srgbClr val="263238"/>
                </a:solidFill>
                <a:latin typeface="Calibri"/>
              </a:rPr>
              <a:t> asks server for work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Displays responses:</a:t>
            </a:r>
            <a:r>
              <a:rPr sz="1080" b="0">
                <a:solidFill>
                  <a:srgbClr val="263238"/>
                </a:solidFill>
                <a:latin typeface="Calibri"/>
              </a:rPr>
              <a:t> shows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33088" y="2103120"/>
            <a:ext cx="3520440" cy="2194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96512" y="2057400"/>
            <a:ext cx="3520440" cy="2194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htt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3128" y="2395728"/>
            <a:ext cx="576072" cy="576072"/>
          </a:xfrm>
          <a:prstGeom prst="rect">
            <a:avLst/>
          </a:prstGeom>
        </p:spPr>
      </p:pic>
      <p:pic>
        <p:nvPicPr>
          <p:cNvPr id="16" name="Picture 15" descr="t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395728"/>
            <a:ext cx="576072" cy="5760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69080" y="3035808"/>
            <a:ext cx="1298448" cy="2377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2F80ED"/>
                </a:solidFill>
                <a:latin typeface="Calibri"/>
              </a:defRPr>
            </a:pPr>
            <a:r>
              <a:t>HTTP/HTTPS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035808"/>
            <a:ext cx="1051560" cy="23774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00A6A6"/>
                </a:solidFill>
                <a:latin typeface="Calibri"/>
              </a:defRPr>
            </a:pPr>
            <a:r>
              <a:t>TCP/IP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584448"/>
            <a:ext cx="27432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400" b="1">
                <a:solidFill>
                  <a:srgbClr val="183153"/>
                </a:solidFill>
                <a:latin typeface="Calibri"/>
              </a:defRPr>
            </a:pPr>
            <a:r>
              <a:t>Network communication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36976" y="2761488"/>
            <a:ext cx="804672" cy="0"/>
          </a:xfrm>
          <a:prstGeom prst="line">
            <a:avLst/>
          </a:prstGeom>
          <a:ln w="3048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3968496" y="2688336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3264408" y="3584448"/>
            <a:ext cx="4379975" cy="0"/>
          </a:xfrm>
          <a:prstGeom prst="line">
            <a:avLst/>
          </a:prstGeom>
          <a:ln w="21590">
            <a:solidFill>
              <a:srgbClr val="B6C2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3191256" y="3511296"/>
            <a:ext cx="146304" cy="146304"/>
          </a:xfrm>
          <a:prstGeom prst="triangle">
            <a:avLst/>
          </a:prstGeom>
          <a:solidFill>
            <a:srgbClr val="B6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46704" y="2432304"/>
            <a:ext cx="59436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2F80ED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675887"/>
            <a:ext cx="91440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50" b="1">
                <a:solidFill>
                  <a:srgbClr val="667085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94776" y="1874519"/>
            <a:ext cx="2697480" cy="26517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458200" y="1828800"/>
            <a:ext cx="2697480" cy="26517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21408"/>
            <a:ext cx="822960" cy="8229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741664" y="3081528"/>
            <a:ext cx="2130552" cy="30175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900" b="1">
                <a:solidFill>
                  <a:srgbClr val="183153"/>
                </a:solidFill>
                <a:latin typeface="Calibri"/>
              </a:defRPr>
            </a:pPr>
            <a:r>
              <a:t>Server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3520440"/>
            <a:ext cx="2084831" cy="68580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Receives requests:</a:t>
            </a:r>
            <a:r>
              <a:rPr sz="1080" b="0">
                <a:solidFill>
                  <a:srgbClr val="263238"/>
                </a:solidFill>
                <a:latin typeface="Calibri"/>
              </a:rPr>
              <a:t> from many clients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Runs backend:</a:t>
            </a:r>
            <a:r>
              <a:rPr sz="1080" b="0">
                <a:solidFill>
                  <a:srgbClr val="263238"/>
                </a:solidFill>
                <a:latin typeface="Calibri"/>
              </a:rPr>
              <a:t> logic + algorithms</a:t>
            </a:r>
          </a:p>
          <a:p>
            <a:pPr algn="l">
              <a:spcAft>
                <a:spcPts val="100"/>
              </a:spcAft>
            </a:pPr>
            <a:r>
              <a:rPr sz="1080" b="1">
                <a:solidFill>
                  <a:srgbClr val="2F80ED"/>
                </a:solidFill>
                <a:latin typeface="Calibri"/>
              </a:rPr>
              <a:t>• </a:t>
            </a:r>
            <a:r>
              <a:rPr sz="1080" b="1">
                <a:solidFill>
                  <a:srgbClr val="263238"/>
                </a:solidFill>
                <a:latin typeface="Calibri"/>
              </a:rPr>
              <a:t>Returns responses:</a:t>
            </a:r>
            <a:r>
              <a:rPr sz="1080" b="0">
                <a:solidFill>
                  <a:srgbClr val="263238"/>
                </a:solidFill>
                <a:latin typeface="Calibri"/>
              </a:rPr>
              <a:t> data, page, result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Communication: HTTP, TCP/IP, and APIs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Protocols define how systems exchange messages reliably and securely.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37360"/>
            <a:ext cx="475488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91640"/>
            <a:ext cx="475488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920240"/>
            <a:ext cx="420624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Protocol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514600"/>
            <a:ext cx="3977639" cy="694944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ht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92" y="2633472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55648" y="261518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HTTP / HTTPS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2432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User wants a page, data, login, or action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27248" y="322783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10800000">
            <a:off x="3054096" y="337413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143000" y="3474720"/>
            <a:ext cx="3977639" cy="694944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ap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592" y="3593591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755648" y="3575303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358444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Defined endpoints between apps and servers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7248" y="4187952"/>
            <a:ext cx="0" cy="219456"/>
          </a:xfrm>
          <a:prstGeom prst="line">
            <a:avLst/>
          </a:prstGeom>
          <a:ln w="1778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10800000">
            <a:off x="3054096" y="4334256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143000" y="4434840"/>
            <a:ext cx="3977639" cy="694944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c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553712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755648" y="4535424"/>
            <a:ext cx="109728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260" b="1">
                <a:solidFill>
                  <a:srgbClr val="183153"/>
                </a:solidFill>
                <a:latin typeface="Calibri"/>
              </a:defRPr>
            </a:pPr>
            <a:r>
              <a:t>TCP/IP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44568"/>
            <a:ext cx="21031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0" b="0">
                <a:solidFill>
                  <a:srgbClr val="667085"/>
                </a:solidFill>
                <a:latin typeface="Calibri"/>
              </a:defRPr>
            </a:pPr>
            <a:r>
              <a:t>Packets move across networks and arrive reliably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1737360"/>
            <a:ext cx="5257800" cy="429768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1691640"/>
            <a:ext cx="52578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1920240"/>
            <a:ext cx="4480560" cy="29260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600" b="1">
                <a:solidFill>
                  <a:srgbClr val="183153"/>
                </a:solidFill>
                <a:latin typeface="Calibri"/>
              </a:defRPr>
            </a:pPr>
            <a:r>
              <a:t>Example web exchange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20840" y="2514600"/>
            <a:ext cx="4343400" cy="71323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31152" y="271576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50" b="1">
                <a:solidFill>
                  <a:srgbClr val="183153"/>
                </a:solidFill>
                <a:latin typeface="Calibri"/>
              </a:defRPr>
            </a:pPr>
            <a:r>
              <a:t>Request: GET /products/42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15400" y="325526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0800000">
            <a:off x="8842248" y="3630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720840" y="3703320"/>
            <a:ext cx="4343400" cy="71323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31152" y="3904487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Backend: validate -&gt; compute -&gt; query data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15400" y="4443984"/>
            <a:ext cx="0" cy="448056"/>
          </a:xfrm>
          <a:prstGeom prst="line">
            <a:avLst/>
          </a:prstGeom>
          <a:ln w="2032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10800000">
            <a:off x="8842248" y="481888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720840" y="4892040"/>
            <a:ext cx="4343400" cy="71323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931152" y="5093208"/>
            <a:ext cx="3840480" cy="2011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00" b="1">
                <a:solidFill>
                  <a:srgbClr val="183153"/>
                </a:solidFill>
                <a:latin typeface="Calibri"/>
              </a:defRPr>
            </a:pPr>
            <a:r>
              <a:t>Response: product details + status 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724144"/>
            <a:ext cx="448056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070" b="0">
                <a:solidFill>
                  <a:srgbClr val="667085"/>
                </a:solidFill>
                <a:latin typeface="Calibri"/>
              </a:defRPr>
            </a:pPr>
            <a:r>
              <a:t>HTTPS adds encryption and identity protection around HTTP.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Backend: programming, algorithms, and business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Backend code turns requests into trusted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8952" y="1965960"/>
            <a:ext cx="1874519" cy="141732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19" y="2148840"/>
            <a:ext cx="530352" cy="5303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4183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Receive</a:t>
            </a:r>
            <a:br/>
            <a: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88336" y="2679191"/>
            <a:ext cx="310896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926079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2724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090672" y="1965960"/>
            <a:ext cx="1874519" cy="1417320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2148840"/>
            <a:ext cx="530352" cy="530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7355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Authenticate</a:t>
            </a:r>
            <a:br/>
            <a:r>
              <a:t>user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0055" y="2679191"/>
            <a:ext cx="310897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5257800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458968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22392" y="1965960"/>
            <a:ext cx="1874519" cy="1417320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59" y="2148840"/>
            <a:ext cx="530352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605272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Run</a:t>
            </a:r>
            <a:br/>
            <a:r>
              <a:t>algorithm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51775" y="2679191"/>
            <a:ext cx="310897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589520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9068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754111" y="1965960"/>
            <a:ext cx="1874519" cy="1417320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148840"/>
            <a:ext cx="530352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3699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Read/write</a:t>
            </a:r>
            <a:br/>
            <a:r>
              <a:t>data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83495" y="2679191"/>
            <a:ext cx="310896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921239" y="2606039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122407" y="2011679"/>
            <a:ext cx="1874519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85832" y="1965960"/>
            <a:ext cx="1874519" cy="141732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outp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0" y="2148840"/>
            <a:ext cx="530352" cy="5303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268711" y="2807208"/>
            <a:ext cx="1508760" cy="3931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183153"/>
                </a:solidFill>
                <a:latin typeface="Calibri"/>
              </a:defRPr>
            </a:pPr>
            <a:r>
              <a:t>Return</a:t>
            </a:r>
            <a:br/>
            <a:r>
              <a:t>response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1440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programm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617720"/>
            <a:ext cx="502920" cy="5029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78308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Programming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308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Writing instructions that tell the system what to do.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6285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52628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algorit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61772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39496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9496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Step-by-step method for solving a problem.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74736" y="4416552"/>
            <a:ext cx="3246120" cy="11430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8138160" y="4370832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backe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4617720"/>
            <a:ext cx="50292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6840" y="4553712"/>
            <a:ext cx="205740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Business logic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92040"/>
            <a:ext cx="2057400" cy="38404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00" b="0">
                <a:solidFill>
                  <a:srgbClr val="667085"/>
                </a:solidFill>
                <a:latin typeface="Calibri"/>
              </a:defRPr>
            </a:pPr>
            <a:r>
              <a:t>Rules for prices, approvals, inventory, and workflows.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Data layer: memory of the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Data stores keep facts, history, transactions, and evidence.</a:t>
            </a:r>
          </a:p>
        </p:txBody>
      </p:sp>
      <p:sp>
        <p:nvSpPr>
          <p:cNvPr id="8" name="Oval 7"/>
          <p:cNvSpPr/>
          <p:nvPr/>
        </p:nvSpPr>
        <p:spPr>
          <a:xfrm>
            <a:off x="5257800" y="2606040"/>
            <a:ext cx="1645920" cy="164592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2862072"/>
            <a:ext cx="594360" cy="5943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50408" y="3502152"/>
            <a:ext cx="1060704" cy="4572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Data</a:t>
            </a:r>
            <a:br/>
            <a:r>
              <a:t>Layer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971800" y="2377440"/>
            <a:ext cx="310896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823960" y="534743"/>
            <a:ext cx="2468880" cy="107899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82912" y="662915"/>
            <a:ext cx="1311000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lang="en-US" sz="1600" dirty="0"/>
              <a:t>Local </a:t>
            </a:r>
            <a:r>
              <a:rPr sz="1600" dirty="0"/>
              <a:t>Database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9582912" y="997003"/>
            <a:ext cx="1687706" cy="52937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rPr lang="en-US" sz="1600" dirty="0"/>
              <a:t>Relational Database</a:t>
            </a:r>
          </a:p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rPr lang="en-US" sz="1600" dirty="0"/>
              <a:t>Static files like JSON</a:t>
            </a:r>
            <a:endParaRPr sz="1600" dirty="0"/>
          </a:p>
        </p:txBody>
      </p:sp>
      <p:cxnSp>
        <p:nvCxnSpPr>
          <p:cNvPr id="18" name="Connector 17"/>
          <p:cNvCxnSpPr/>
          <p:nvPr/>
        </p:nvCxnSpPr>
        <p:spPr>
          <a:xfrm flipV="1">
            <a:off x="6080760" y="2377440"/>
            <a:ext cx="3886200" cy="105156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823960" y="1828800"/>
            <a:ext cx="2468880" cy="1078992"/>
          </a:xfrm>
          <a:prstGeom prst="roundRect">
            <a:avLst/>
          </a:prstGeom>
          <a:solidFill>
            <a:srgbClr val="E7F8FE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82912" y="1980749"/>
            <a:ext cx="1491499" cy="34471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2000" dirty="0"/>
              <a:t>Cloud storage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82912" y="2414171"/>
            <a:ext cx="1612942" cy="283154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rPr lang="en-US" sz="1600" dirty="0"/>
              <a:t>Documents / Blobs</a:t>
            </a:r>
            <a:endParaRPr sz="1600" dirty="0"/>
          </a:p>
        </p:txBody>
      </p:sp>
      <p:cxnSp>
        <p:nvCxnSpPr>
          <p:cNvPr id="25" name="Connector 24"/>
          <p:cNvCxnSpPr/>
          <p:nvPr/>
        </p:nvCxnSpPr>
        <p:spPr>
          <a:xfrm flipH="1">
            <a:off x="2971800" y="3429000"/>
            <a:ext cx="310896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65376" y="4617720"/>
            <a:ext cx="2468880" cy="107899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828800" y="4572000"/>
            <a:ext cx="2468880" cy="107899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975104" y="47183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re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4796028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587752" y="4727448"/>
            <a:ext cx="160020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warehouse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87752" y="5010912"/>
            <a:ext cx="1600200" cy="57607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t>analytics + history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3429000"/>
            <a:ext cx="3886200" cy="169164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823960" y="3150107"/>
            <a:ext cx="2468880" cy="1078992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638514" y="3260909"/>
            <a:ext cx="611290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rPr sz="2000" dirty="0"/>
              <a:t>Logs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8514" y="3627869"/>
            <a:ext cx="1551432" cy="5293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events </a:t>
            </a:r>
            <a:endParaRPr lang="en-US" sz="1600" dirty="0"/>
          </a:p>
          <a:p>
            <a:pPr algn="l">
              <a:defRPr sz="1019" b="0">
                <a:solidFill>
                  <a:srgbClr val="667085"/>
                </a:solidFill>
                <a:latin typeface="Calibri"/>
              </a:defRPr>
            </a:pPr>
            <a:r>
              <a:rPr sz="1600" dirty="0"/>
              <a:t>audit trails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950208" y="5486400"/>
            <a:ext cx="4343400" cy="56692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3913632" y="5440680"/>
            <a:ext cx="43434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114800" y="5586984"/>
            <a:ext cx="3931920" cy="18288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80" b="1">
                <a:solidFill>
                  <a:srgbClr val="183153"/>
                </a:solidFill>
                <a:latin typeface="Calibri"/>
              </a:defRPr>
            </a:pPr>
            <a:r>
              <a:t>Create - Read - Update - Delete  |  Backup - Restore - Audit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09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95310E3-F125-0C9A-03A5-96AFB9F83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1872" y="3351275"/>
            <a:ext cx="676656" cy="67665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FA60466-84BB-2DF9-EB3D-3F261F8FDE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4233" y="2070292"/>
            <a:ext cx="558427" cy="55842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E337323-6E00-8D89-DFDE-417C13AFA0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5157" y="753402"/>
            <a:ext cx="687755" cy="6877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25984" y="-438912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FRONTEND/BACKEND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Frontend and backend: what users see vs. what systems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A useful distinction for designing, troubleshooting, and explaining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49808" y="1664208"/>
            <a:ext cx="4983480" cy="4480560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83096" y="1709928"/>
            <a:ext cx="4983480" cy="448056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6520" y="1664208"/>
            <a:ext cx="4983480" cy="4480560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938528"/>
            <a:ext cx="658368" cy="658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83080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User-facing: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screens, forms, buttons, commands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in:</a:t>
            </a:r>
            <a:r>
              <a:rPr sz="1300" b="0">
                <a:solidFill>
                  <a:srgbClr val="263238"/>
                </a:solidFill>
                <a:latin typeface="Calibri"/>
              </a:rPr>
              <a:t> browser, mobile app, desktop app, terminal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collect input and present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80ED"/>
                </a:solidFill>
                <a:latin typeface="Calibri"/>
              </a:defRPr>
            </a:pPr>
            <a:r>
              <a:t>UI / CLI / Browser / Apps</a:t>
            </a:r>
          </a:p>
        </p:txBody>
      </p:sp>
      <p:pic>
        <p:nvPicPr>
          <p:cNvPr id="16" name="Picture 15" descr="back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272" y="1938528"/>
            <a:ext cx="658368" cy="65836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79792" y="1993392"/>
            <a:ext cx="3383280" cy="34747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2000" b="1">
                <a:solidFill>
                  <a:srgbClr val="183153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788920"/>
            <a:ext cx="4389120" cy="128016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System-facing: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servers, code, APIs, services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Runs on:</a:t>
            </a:r>
            <a:r>
              <a:rPr sz="1300" b="0">
                <a:solidFill>
                  <a:srgbClr val="263238"/>
                </a:solidFill>
                <a:latin typeface="Calibri"/>
              </a:rPr>
              <a:t> server infrastructure or cloud platform</a:t>
            </a:r>
          </a:p>
          <a:p>
            <a:pPr algn="l">
              <a:spcAft>
                <a:spcPts val="100"/>
              </a:spcAft>
            </a:pPr>
            <a:r>
              <a:rPr sz="1300" b="1">
                <a:solidFill>
                  <a:srgbClr val="2F80ED"/>
                </a:solidFill>
                <a:latin typeface="Calibri"/>
              </a:rPr>
              <a:t>• </a:t>
            </a:r>
            <a:r>
              <a:rPr sz="1300" b="1">
                <a:solidFill>
                  <a:srgbClr val="263238"/>
                </a:solidFill>
                <a:latin typeface="Calibri"/>
              </a:rPr>
              <a:t>Main job:</a:t>
            </a:r>
            <a:r>
              <a:rPr sz="1300" b="0">
                <a:solidFill>
                  <a:srgbClr val="263238"/>
                </a:solidFill>
                <a:latin typeface="Calibri"/>
              </a:rPr>
              <a:t> enforce rules and process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93992" y="5001768"/>
            <a:ext cx="4114800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7B61FF"/>
                </a:solidFill>
                <a:latin typeface="Calibri"/>
              </a:defRPr>
            </a:pPr>
            <a:r>
              <a:t>Server / APIs / Algorithms / Database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88152" y="3063240"/>
            <a:ext cx="566928" cy="0"/>
          </a:xfrm>
          <a:prstGeom prst="line">
            <a:avLst/>
          </a:prstGeom>
          <a:ln w="27940">
            <a:solidFill>
              <a:srgbClr val="2F8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281928" y="2990088"/>
            <a:ext cx="146304" cy="146304"/>
          </a:xfrm>
          <a:prstGeom prst="triangle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 flipH="1">
            <a:off x="5833872" y="3794760"/>
            <a:ext cx="566928" cy="0"/>
          </a:xfrm>
          <a:prstGeom prst="line">
            <a:avLst/>
          </a:prstGeom>
          <a:ln w="2286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6200000">
            <a:off x="5760720" y="372160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2779776"/>
            <a:ext cx="82296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2F80ED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41848" y="3913632"/>
            <a:ext cx="914400" cy="16459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880" b="1">
                <a:solidFill>
                  <a:srgbClr val="667085"/>
                </a:solidFill>
                <a:latin typeface="Calibri"/>
              </a:defRPr>
            </a:pPr>
            <a:r>
              <a:t>response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Example: online shopping information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Follow one customer action through the whole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02920" y="1901952"/>
            <a:ext cx="1673352" cy="1298448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peo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2066544"/>
            <a:ext cx="484632" cy="4846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Customer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chooses item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5415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285999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50591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14015" y="1901952"/>
            <a:ext cx="1673352" cy="1298448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c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9" y="2066544"/>
            <a:ext cx="484632" cy="4846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532887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App / 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clicks Buy Now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96511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4197096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61688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325112" y="1901952"/>
            <a:ext cx="1673352" cy="1298448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htt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2066544"/>
            <a:ext cx="484632" cy="4846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443983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HTTPS request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7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sent over TCP/IP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07607" y="2560320"/>
            <a:ext cx="173737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6108192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72783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36207" y="1901952"/>
            <a:ext cx="1673352" cy="1298448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2066544"/>
            <a:ext cx="484632" cy="4846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55079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Backend 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3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processes order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18703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5400000">
            <a:off x="8019287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183879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47304" y="1901952"/>
            <a:ext cx="1673352" cy="1298448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da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2066544"/>
            <a:ext cx="484632" cy="48463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66176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updates records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2560320"/>
            <a:ext cx="173736" cy="0"/>
          </a:xfrm>
          <a:prstGeom prst="line">
            <a:avLst/>
          </a:prstGeom>
          <a:ln w="1905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9930384" y="2487168"/>
            <a:ext cx="146304" cy="146304"/>
          </a:xfrm>
          <a:prstGeom prst="triangle">
            <a:avLst/>
          </a:prstGeom>
          <a:solidFill>
            <a:srgbClr val="A6B6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094976" y="1947672"/>
            <a:ext cx="1673352" cy="1298448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058400" y="1901952"/>
            <a:ext cx="1673352" cy="1298448"/>
          </a:xfrm>
          <a:prstGeom prst="roundRect">
            <a:avLst/>
          </a:prstGeom>
          <a:solidFill>
            <a:srgbClr val="FEEEEE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5" name="Picture 44" descr="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6184" y="2066544"/>
            <a:ext cx="484632" cy="484632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177272" y="2633472"/>
            <a:ext cx="1435608" cy="219456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140" b="1">
                <a:solidFill>
                  <a:srgbClr val="183153"/>
                </a:solidFill>
                <a:latin typeface="Calibri"/>
              </a:defRPr>
            </a:pPr>
            <a:r>
              <a:t>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86416" y="2862072"/>
            <a:ext cx="1417320" cy="21031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919" b="0">
                <a:solidFill>
                  <a:srgbClr val="667085"/>
                </a:solidFill>
                <a:latin typeface="Calibri"/>
              </a:defRPr>
            </a:pPr>
            <a:r>
              <a:t>receipt + report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6" y="4014215"/>
            <a:ext cx="10378440" cy="141732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914400" y="3968496"/>
            <a:ext cx="1037844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234440" y="4187952"/>
            <a:ext cx="978408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500" b="1">
                <a:solidFill>
                  <a:srgbClr val="183153"/>
                </a:solidFill>
                <a:latin typeface="Calibri"/>
              </a:defRPr>
            </a:pPr>
            <a:r>
              <a:t>Backend algorithm for Buy Now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3444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F80ED"/>
                </a:solidFill>
                <a:latin typeface="Calibri"/>
              </a:defRPr>
            </a:pPr>
            <a:r>
              <a:t>1. Validate cart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642616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5400000">
            <a:off x="2734056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862072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7B61FF"/>
                </a:solidFill>
                <a:latin typeface="Calibri"/>
              </a:defRPr>
            </a:pPr>
            <a:r>
              <a:t>2. Check inventory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270248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4361688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489704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2994A"/>
                </a:solidFill>
                <a:latin typeface="Calibri"/>
              </a:defRPr>
            </a:pPr>
            <a:r>
              <a:t>3. Calculate price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897880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Isosceles Triangle 58"/>
          <p:cNvSpPr/>
          <p:nvPr/>
        </p:nvSpPr>
        <p:spPr>
          <a:xfrm rot="5400000">
            <a:off x="5989320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117336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27AE60"/>
                </a:solidFill>
                <a:latin typeface="Calibri"/>
              </a:defRPr>
            </a:pPr>
            <a:r>
              <a:t>4. Process payment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525512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7616952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7744968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00A6A6"/>
                </a:solidFill>
                <a:latin typeface="Calibri"/>
              </a:defRPr>
            </a:pPr>
            <a:r>
              <a:t>5. Save order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153144" y="4791456"/>
            <a:ext cx="164592" cy="0"/>
          </a:xfrm>
          <a:prstGeom prst="line">
            <a:avLst/>
          </a:prstGeom>
          <a:ln w="13970">
            <a:solidFill>
              <a:srgbClr val="C3CE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Isosceles Triangle 64"/>
          <p:cNvSpPr/>
          <p:nvPr/>
        </p:nvSpPr>
        <p:spPr>
          <a:xfrm rot="5400000">
            <a:off x="9244584" y="4718304"/>
            <a:ext cx="146304" cy="146304"/>
          </a:xfrm>
          <a:prstGeom prst="triangle">
            <a:avLst/>
          </a:prstGeom>
          <a:solidFill>
            <a:srgbClr val="C3C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9372600" y="4645152"/>
            <a:ext cx="1389888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EB5757"/>
                </a:solidFill>
                <a:latin typeface="Calibri"/>
              </a:defRPr>
            </a:pPr>
            <a:r>
              <a:t>6. Send confirmation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43000" y="5724144"/>
            <a:ext cx="9875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220" b="0">
                <a:solidFill>
                  <a:srgbClr val="667085"/>
                </a:solidFill>
                <a:latin typeface="Calibri"/>
              </a:defRPr>
            </a:pPr>
            <a:r>
              <a:t>The same information system supports customer service, finance, inventory, and management reporting.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3108960" cy="3108960"/>
          </a:xfrm>
          <a:prstGeom prst="ellipse">
            <a:avLst/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F0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310896"/>
            <a:ext cx="1234440" cy="256032"/>
          </a:xfrm>
          <a:prstGeom prst="roundRect">
            <a:avLst/>
          </a:prstGeom>
          <a:solidFill>
            <a:srgbClr val="EAF3FF"/>
          </a:solidFill>
          <a:ln w="9525">
            <a:solidFill>
              <a:srgbClr val="B9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F80ED"/>
                </a:solidFill>
                <a:latin typeface="Calibri"/>
              </a:defRPr>
            </a:pPr>
            <a: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8046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  <a:latin typeface="Calibri"/>
              </a:defRPr>
            </a:pPr>
            <a:r>
              <a:t>Summary: connect the terms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60704"/>
            <a:ext cx="8961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7085"/>
                </a:solidFill>
                <a:latin typeface="Calibri"/>
              </a:defRPr>
            </a:pPr>
            <a:r>
              <a:t>Use the architecture map to place each concept.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2587752"/>
            <a:ext cx="1554480" cy="1554480"/>
          </a:xfrm>
          <a:prstGeom prst="ellipse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0" y="3035808"/>
            <a:ext cx="1188720" cy="658368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Information</a:t>
            </a:r>
            <a:br/>
            <a:r>
              <a:t>System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23160" y="2267712"/>
            <a:ext cx="3657600" cy="1097280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42416" y="1874519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005840" y="1828800"/>
            <a:ext cx="2880360" cy="896112"/>
          </a:xfrm>
          <a:prstGeom prst="roundRect">
            <a:avLst/>
          </a:prstGeom>
          <a:solidFill>
            <a:srgbClr val="EAF3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52144" y="197510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l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8" y="2052828"/>
            <a:ext cx="347472" cy="34747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64792" y="198424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Client /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267712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UI, CLI, browser, apps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5166359" y="1993391"/>
            <a:ext cx="914401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785615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749039" y="1554480"/>
            <a:ext cx="2880360" cy="896112"/>
          </a:xfrm>
          <a:prstGeom prst="roundRect">
            <a:avLst/>
          </a:prstGeom>
          <a:solidFill>
            <a:srgbClr val="E6FAFA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89534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068" y="1778507"/>
            <a:ext cx="347472" cy="34747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0799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HTTP/HTTPS, TCP/IP, APIs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6080760" y="1993391"/>
            <a:ext cx="3703320" cy="1371601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403336" y="160020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66760" y="1554480"/>
            <a:ext cx="2880360" cy="896112"/>
          </a:xfrm>
          <a:prstGeom prst="roundRect">
            <a:avLst/>
          </a:prstGeom>
          <a:solidFill>
            <a:srgbClr val="F0EC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13064" y="170078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0788" y="1778507"/>
            <a:ext cx="347472" cy="34747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125712" y="170992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Server / 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199339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programs, algorithms, business logic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423160" y="3364992"/>
            <a:ext cx="365760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4241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005840" y="4617720"/>
            <a:ext cx="2880360" cy="896112"/>
          </a:xfrm>
          <a:prstGeom prst="roundRect">
            <a:avLst/>
          </a:prstGeom>
          <a:solidFill>
            <a:srgbClr val="E9F8E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15214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9868" y="4841748"/>
            <a:ext cx="347472" cy="3474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76479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database, files, cloud, logs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80760" y="3364992"/>
            <a:ext cx="3703320" cy="1691639"/>
          </a:xfrm>
          <a:prstGeom prst="line">
            <a:avLst/>
          </a:prstGeom>
          <a:ln w="1651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403336" y="4663440"/>
            <a:ext cx="2880360" cy="896112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66760" y="4617720"/>
            <a:ext cx="2880360" cy="896112"/>
          </a:xfrm>
          <a:prstGeom prst="roundRect">
            <a:avLst/>
          </a:prstGeom>
          <a:solidFill>
            <a:srgbClr val="FFF4E8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513064" y="4764024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99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decis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788" y="4841748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125712" y="4773168"/>
            <a:ext cx="201168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Information 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25712" y="5056631"/>
            <a:ext cx="2011680" cy="39319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969" b="0">
                <a:solidFill>
                  <a:srgbClr val="667085"/>
                </a:solidFill>
                <a:latin typeface="Calibri"/>
              </a:defRPr>
            </a:pPr>
            <a:r>
              <a:t>people + process + technology + data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39896" y="5029200"/>
            <a:ext cx="4754880" cy="914400"/>
          </a:xfrm>
          <a:prstGeom prst="round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3703320" y="4983480"/>
            <a:ext cx="47548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977639" y="5138928"/>
            <a:ext cx="1188720" cy="228600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300" b="1">
                <a:solidFill>
                  <a:srgbClr val="183153"/>
                </a:solidFill>
                <a:latin typeface="Calibri"/>
              </a:defRPr>
            </a:pPr>
            <a:r>
              <a:t>Quick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77639" y="5413248"/>
            <a:ext cx="4160520" cy="256032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l">
              <a:defRPr sz="1150" b="0">
                <a:solidFill>
                  <a:srgbClr val="667085"/>
                </a:solidFill>
                <a:latin typeface="Calibri"/>
              </a:defRPr>
            </a:pPr>
            <a:r>
              <a:t>Can you trace a login, purchase, or report request from client to data and back?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65392"/>
            <a:ext cx="112014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109960" y="6601968"/>
            <a:ext cx="5943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67085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890</Words>
  <Application>Microsoft Office PowerPoint</Application>
  <PresentationFormat>Widescreen</PresentationFormat>
  <Paragraphs>182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Yao, John</cp:lastModifiedBy>
  <cp:revision>5</cp:revision>
  <dcterms:created xsi:type="dcterms:W3CDTF">2013-01-27T09:14:16Z</dcterms:created>
  <dcterms:modified xsi:type="dcterms:W3CDTF">2026-07-06T22:44:17Z</dcterms:modified>
  <cp:category/>
</cp:coreProperties>
</file>
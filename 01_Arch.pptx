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p>
          <a:p>
            <a:pPr lvl="0" indent="0" marL="0">
              <a:buNone/>
            </a:pPr>
            <a:r>
              <a:rPr/>
              <a:t>2026 BFSU International Summer Session</a:t>
            </a:r>
          </a:p>
          <a:p>
            <a:pPr lvl="0" indent="0" marL="0">
              <a:buNone/>
            </a:pPr>
            <a:r>
              <a:rPr/>
              <a:t>Course Code: SUM26001</a:t>
            </a:r>
          </a:p>
          <a:p>
            <a:pPr lvl="0" indent="0" marL="0">
              <a:buNone/>
            </a:pPr>
            <a:r>
              <a:rPr/>
              <a:t>Programming and Data Analysis for Journalism and Communication in the Age of AI</a:t>
            </a:r>
          </a:p>
          <a:p>
            <a:pPr lvl="0" indent="0" marL="0">
              <a:buNone/>
            </a:pPr>
            <a:r>
              <a:rPr/>
              <a:t>Instructor: Yuan (John) Yao</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Information System Architecture</a:t>
            </a:r>
          </a:p>
        </p:txBody>
      </p:sp>
      <p:sp>
        <p:nvSpPr>
          <p:cNvPr id="3" name="Content Placeholder 2"/>
          <p:cNvSpPr>
            <a:spLocks noGrp="1"/>
          </p:cNvSpPr>
          <p:nvPr>
            <p:ph idx="1"/>
          </p:nvPr>
        </p:nvSpPr>
        <p:spPr/>
        <p:txBody>
          <a:bodyPr/>
          <a:lstStyle/>
          <a:p>
            <a:pPr lvl="0" indent="0" marL="0">
              <a:buNone/>
            </a:pPr>
            <a:r>
              <a:rPr/>
              <a:t>Information System is the hardware and software that collects, processes, stores, and distributes information. It is a combination of technology, people, and processes that work together to manage and utilize data effectively. It serves as a foundational support for decision-making, communication, and journalism.</a:t>
            </a:r>
          </a:p>
          <a:p>
            <a:pPr lvl="0" indent="0" marL="0">
              <a:buNone/>
            </a:pPr>
            <a:r>
              <a:rPr/>
              <a:t>Build the vocabulary of Information System Architecture. This includes understanding the key components, their roles, and how they interact within an information system. The following sections provide a comprehensive overview of essential concepts in this domain.</a:t>
            </a:r>
          </a:p>
          <a:p>
            <a:pPr lvl="0" indent="0" marL="0">
              <a:spcBef>
                <a:spcPts val="3000"/>
              </a:spcBef>
              <a:buNone/>
            </a:pPr>
            <a:r>
              <a:rPr b="1"/>
              <a:t>Terminal &amp; Command Line</a:t>
            </a:r>
          </a:p>
          <a:p>
            <a:pPr lvl="0" indent="0" marL="0">
              <a:buNone/>
            </a:pPr>
            <a:r>
              <a:rPr/>
              <a:t>Terminal known as command line interface (CLI) is a text-based interface that allows users to interact with the operating system or software by typing commands. It is a powerful tool for developers and system administrators, providing direct access to the underlying system functionalities.</a:t>
            </a:r>
          </a:p>
          <a:p>
            <a:pPr lvl="0" indent="0" marL="0">
              <a:spcBef>
                <a:spcPts val="3000"/>
              </a:spcBef>
              <a:buNone/>
            </a:pPr>
            <a:r>
              <a:rPr b="1"/>
              <a:t>Server vs Client</a:t>
            </a:r>
          </a:p>
          <a:p>
            <a:pPr lvl="0" indent="0" marL="0">
              <a:buNone/>
            </a:pPr>
            <a:r>
              <a:rPr/>
              <a:t>In a client-server architecture, the server is a centralized system that provides resources or services to multiple clients. The server handles requests from clients and processes them, while clients are devices or applications that request services from the server. This architecture allows for efficient resource management and scalability.</a:t>
            </a:r>
          </a:p>
          <a:p>
            <a:pPr lvl="0" indent="0" marL="0">
              <a:buNone/>
            </a:pPr>
            <a:r>
              <a:rPr/>
              <a:t>Examples of Server: Web servers, database servers, file servers</a:t>
            </a:r>
          </a:p>
          <a:p>
            <a:pPr lvl="0" indent="0" marL="0">
              <a:buNone/>
            </a:pPr>
            <a:r>
              <a:rPr/>
              <a:t>Examples of Client: Web browsers, email clients, mobile applications</a:t>
            </a:r>
          </a:p>
          <a:p>
            <a:pPr lvl="0" indent="0" marL="0">
              <a:spcBef>
                <a:spcPts val="3000"/>
              </a:spcBef>
              <a:buNone/>
            </a:pPr>
            <a:r>
              <a:rPr b="1"/>
              <a:t>Database vs Data Warehouse</a:t>
            </a:r>
          </a:p>
          <a:p>
            <a:pPr lvl="0" indent="0" marL="0">
              <a:buNone/>
            </a:pPr>
            <a:r>
              <a:rPr/>
              <a:t>A database is a structured collection of data that is organized and managed to support efficient storage, retrieval, and manipulation of information. It is designed for transactional processing and is optimized for quick access to individual records.</a:t>
            </a:r>
          </a:p>
          <a:p>
            <a:pPr lvl="0" indent="0" marL="0">
              <a:buNone/>
            </a:pPr>
            <a:r>
              <a:rPr/>
              <a:t>Different types of databases include relational databases (e.g., MySQL, PostgreSQL), NoSQL databases (e.g., MongoDB, Cassandra), and in-memory databases (e.g., Redis).</a:t>
            </a:r>
          </a:p>
          <a:p>
            <a:pPr lvl="0" indent="0" marL="0">
              <a:buNone/>
            </a:pPr>
            <a:r>
              <a:rPr/>
              <a:t>What is a relational database? A relational database is a type of database that organizes data into tables with rows and columns, allowing for relationships between different tables. It uses Structured Query Language (SQL) for querying and managing data.</a:t>
            </a:r>
          </a:p>
          <a:p>
            <a:pPr lvl="0" indent="0" marL="0">
              <a:spcBef>
                <a:spcPts val="3000"/>
              </a:spcBef>
              <a:buNone/>
            </a:pPr>
            <a:r>
              <a:rPr b="1"/>
              <a:t>Types of Databases</a:t>
            </a:r>
          </a:p>
          <a:p>
            <a:pPr lvl="0" indent="0" marL="0">
              <a:buNone/>
            </a:pPr>
            <a:r>
              <a:rPr/>
              <a:t>Relational Databases: These databases store data in structured tables with predefined relationships between them. They use SQL for querying and managing data. Examples include MySQL, PostgreSQL, and Oracle Database.</a:t>
            </a:r>
          </a:p>
          <a:p>
            <a:pPr lvl="0" indent="0" marL="0">
              <a:buNone/>
            </a:pPr>
            <a:r>
              <a:rPr/>
              <a:t>Document-Oriented Databases: These databases store data in a flexible, semi-structured format, often using JSON or XML. They are suitable for handling unstructured or evolving data. Examples include MongoDB and CouchDB.</a:t>
            </a:r>
          </a:p>
          <a:p>
            <a:pPr lvl="0" indent="0" marL="0">
              <a:buNone/>
            </a:pPr>
            <a:r>
              <a:rPr/>
              <a:t>Other types of databases include key-value stores (e.g., Redis), graph databases (e.g., Neo4j), and time-series databases (e.g., InfluxDB). Each type of database has its own strengths and is suited for specific use cases, depending on the nature of the data and the requirements of the application.</a:t>
            </a:r>
          </a:p>
          <a:p>
            <a:pPr lvl="0" indent="0" marL="0">
              <a:spcBef>
                <a:spcPts val="3000"/>
              </a:spcBef>
              <a:buNone/>
            </a:pPr>
            <a:r>
              <a:rPr b="1"/>
              <a:t>What is a database migration in MVC?</a:t>
            </a:r>
          </a:p>
          <a:p>
            <a:pPr lvl="0" indent="0" marL="0">
              <a:buNone/>
            </a:pPr>
            <a:r>
              <a:rPr/>
              <a:t>In the context of the Model-View-Controller (MVC) architecture, a database migration refers to the process of managing changes to the database schema over time. It involves creating, modifying, or deleting database tables and columns to accommodate evolving application requirements. Migrations allow developers to version control their database schema and ensure that changes are applied consistently across different environments (e.g., development, testing, production).</a:t>
            </a:r>
          </a:p>
          <a:p>
            <a:pPr lvl="0" indent="0" marL="0">
              <a:spcBef>
                <a:spcPts val="3000"/>
              </a:spcBef>
              <a:buNone/>
            </a:pPr>
            <a:r>
              <a:rPr b="1"/>
              <a:t>Network Pieces</a:t>
            </a:r>
          </a:p>
          <a:p>
            <a:pPr lvl="0" indent="0" marL="0">
              <a:buNone/>
            </a:pPr>
            <a:r>
              <a:rPr/>
              <a:t>DNS (Domain Name System): DNS is a hierarchical system that translates human-readable domain names (like www.example.com) into IP addresses that computers use to identify each other on the network. It acts as a phonebook for the internet, allowing users to access websites using easy-to-remember names instead of numerical IP addresses.</a:t>
            </a:r>
          </a:p>
          <a:p>
            <a:pPr lvl="0" indent="0" marL="0">
              <a:buNone/>
            </a:pPr>
            <a:r>
              <a:rPr/>
              <a:t>Router: A router is a networking device that forwards data packets between computer networks. It connects multiple networks together and directs traffic based on IP addresses, ensuring that data reaches its intended destination. Routers are essential for enabling communication between devices on different networks, such as connecting a home network to the internet.</a:t>
            </a:r>
          </a:p>
          <a:p>
            <a:pPr lvl="0" indent="0" marL="0">
              <a:spcBef>
                <a:spcPts val="3000"/>
              </a:spcBef>
              <a:buNone/>
            </a:pPr>
            <a:r>
              <a:rPr b="1"/>
              <a:t>Where programming languages fit in</a:t>
            </a:r>
          </a:p>
          <a:p>
            <a:pPr lvl="0" indent="0" marL="0">
              <a:buNone/>
            </a:pPr>
            <a:r>
              <a:rPr/>
              <a:t>Any place you want computer to do something, you need a programming language. Programming languages are used to write instructions that computers can understand and execute. They serve as a bridge between human logic and machine operations, allowing developers to create software applications, automate tasks, and manipulate data.</a:t>
            </a:r>
          </a:p>
          <a:p>
            <a:pPr lvl="0" indent="0" marL="0">
              <a:buNone/>
            </a:pPr>
            <a:r>
              <a:rPr/>
              <a:t>For different purposes, different programming languages are used. For example, Python is often used for data analysis and machine learning, JavaScript is commonly used for web development, and C++ is used for system programming and game development. Each language has its own syntax, features, and strengths, making them suitable for specific tasks and applications.</a:t>
            </a:r>
          </a:p>
          <a:p>
            <a:pPr lvl="0" indent="0" marL="0">
              <a:spcBef>
                <a:spcPts val="3000"/>
              </a:spcBef>
              <a:buNone/>
            </a:pPr>
            <a:r>
              <a:rPr b="1"/>
              <a:t>Algorithms</a:t>
            </a:r>
          </a:p>
          <a:p>
            <a:pPr lvl="0" indent="0" marL="0">
              <a:buNone/>
            </a:pPr>
            <a:r>
              <a:rPr/>
              <a:t>How to put an elephant in a refrigerator?</a:t>
            </a:r>
          </a:p>
          <a:p>
            <a:pPr lvl="0" indent="0" marL="0">
              <a:buNone/>
            </a:pPr>
            <a:r>
              <a:rPr/>
              <a:t>Step 1: Open the refrigerator door. Step 2: Identify the appropriate shelf or compartment for the elephant. Step 3: Place the elephant on the shelf or in the compartment. Step 4: Close the refrigerator door securely.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2026-07-05T22:42:27Z</dcterms:created>
  <dcterms:modified xsi:type="dcterms:W3CDTF">2026-07-05T22:42:27Z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ngines">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toc-title">
    <vt:lpwstr>Table of contents</vt:lpwstr>
  </property>
</Properties>
</file>